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a81ec0e1f041f5" /><Relationship Type="http://schemas.openxmlformats.org/officeDocument/2006/relationships/extended-properties" Target="/docProps/app.xml" Id="R9e5de9cb54c446f4" /><Relationship Type="http://schemas.openxmlformats.org/officeDocument/2006/relationships/officeDocument" Target="/ppt/presentation.xml" Id="Ra4bb0cb7144e40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2e182b68f64080"/>
  </p:sldMasterIdLst>
  <p:notesMasterIdLst>
    <p:notesMasterId xmlns:r="http://schemas.openxmlformats.org/officeDocument/2006/relationships" r:id="R5e263b7723ca44b7"/>
  </p:notesMasterIdLst>
  <p:sldIdLst>
    <p:sldId xmlns:r="http://schemas.openxmlformats.org/officeDocument/2006/relationships" id="256" r:id="Rb3c8a51e59304f7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a64daa214b4814" /><Relationship Type="http://schemas.openxmlformats.org/officeDocument/2006/relationships/slideMaster" Target="/ppt/slideMasters/slideMaster1.xml" Id="Rd92e182b68f64080" /><Relationship Type="http://schemas.openxmlformats.org/officeDocument/2006/relationships/notesMaster" Target="/ppt/notesMasters/notesMaster1.xml" Id="R5e263b7723ca44b7" /><Relationship Type="http://schemas.openxmlformats.org/officeDocument/2006/relationships/presProps" Target="/ppt/presProps.xml" Id="Rdf51dca9db804cac" /><Relationship Type="http://schemas.openxmlformats.org/officeDocument/2006/relationships/tableStyles" Target="/ppt/tableStyles.xml" Id="Rb8bf2cc9a01e486c" /><Relationship Type="http://schemas.openxmlformats.org/officeDocument/2006/relationships/slide" Target="/ppt/slides/slide1.xml" Id="Rb3c8a51e5930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d328638b3b41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cf29ae39094163" /><Relationship Type="http://schemas.openxmlformats.org/officeDocument/2006/relationships/notesMaster" Target="/ppt/notesMasters/notesMaster1.xml" Id="R0d4c07e45f5f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多模态规模图修订：本版Q1来源与口径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本页Q1改为Google SynthID累计已加水印的图像与视频规模。原全平台AI账户图删除。下附历史备注中的Snowflake账户数据仅是此前研究备查，不再对应本页Q1。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已核实的两期公开披露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2026-05-28，Google官方I/O回顾第11节SynthID："Since then, we've integrated SynthID into our generative media models and products, watermarking over 100 billion images and videos and 60,000 years of audio assets"。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来源：https://blog.google/innovation-and-ai/technology/ai/io-2026-keynote-moment-videos/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2026-10-07，Google DeepMind Pushmeet Kohli官方文章："To date, we've watermarked over 180 billion images and videos, along with 240,000 years of audio content."。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来源：https://blog.google/innovation-and-ai/models-and-research/google-deepmind/synth-id-ai-content/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已保存并核对上述官方完整HTML及发布日期。100 billion换算为1,000亿，180 billion换算为1,800亿。图表嵌入数值1000和1800，单位亿，标签保留“+”表示官方披露下限。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可比性及使用边界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期均描述SynthID自2023年推出以来累计已加水印的图像和视频。横轴是官方披露日，不能称当月处理量或某个固定观察窗口的新增量。原文没有披露图像与视频的分别数量、文件大小、时长、去重方法及完整伙伴纳入时间。5月文章说明Google模型和产品集成，同时提及OpenAI、Kakao、ElevenLabs采用；10月文章说明Detector支持Google和部分伙伴。不能由此断定伙伴处理量全部纳入累计数，或把它解释为Google自身生成总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内容水印标记的多模态处理规模，不是输入理解/企业文档解析量、全球全部生成内容总量或SynthID检测请求量。两期统计范围可能因生态扩张变化，因此图表仅呈现厂商披露的累计规模增长信号，不推导固定模型群的增长率。由于两个数字均是下界，本页不计算精确80%的增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音频累计6万年和24万年只留备注；它们与图像/视频数量单位不同，不放同轴，也不将多模态内容数量换算成数据字节规模。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面向2027的分析判断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生成内容进入持续累积的多模态资产规模，来源标记与验证处理相应扩展。数据+AI平台需要把内容、派生片段/向量/实体、来源凭证和权限关联，支持跨模态检索与生命周期治理。这是基于公开证据的判断，不由SynthID处理数量单独推导企业数据平台客户采用率、需求增速或RO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Agent轨迹板块修订说明与依据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版右侧的多Agent图为企业报告生成的典型场景示意：协调Agent分派检索、分析与审核任务，分别调用文档/知识库、SQL/计算、规则/审批。场景用于解释多Agent调用、任务交接、重试和结果关联，不能视作某厂商或客户的真实部署架构，也不表明三类角色必须固定或全部并发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本页Q3量化证据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Databricks《2026 State of AI Agents》官方报告页："Enterprises are transitioning from single chatbots to multi-agent systems, which grew by 327% in less than four months." 官方解读发表于2026-01-27。+327%为平台多Agent工作流增长幅度，不是全球企业采用率。公开正文未披露精确起止日、子指标样本数及绝对基线，页面保留“不足4个月”，不虚构月度序列。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报告来源：https://www.databricks.com/resources/ebook/state-of-ai-agents</a:t>
            </a:r>
          </a:p>
          <a:p xmlns:a="http://schemas.openxmlformats.org/drawingml/2006/main">
            <a:r>
              <a:t>官方解读：https://www.databricks.com/blog/enterprise-ai-agent-trends-top-use-cases-governance-evaluations-and-more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本页已删除Neon数据库创建占比图。下附此前量化依据Q3中的Neon序列只作原始研究备查，本版不使用该序列作为页面主张。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数据模态与构成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构化事件包含span的操作类型、时间、父子关系、工具调用JSON、状态变化、token/延迟、评分。内容包括对话、文档片段、图像及音视频输入输出，可采用内容外置、span引用的方式；具体部署不必默认采集全部内容。任务、会话、调用ID与身份/权限属于关联上下文，反馈可晚于执行到达。平台需保留评价口径与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OTel GenAI model/agent spans、evaluation events支持上述范围，但整体仍为Development。OpenInference是与OTel兼容的另一套约定，厂商扩展并存。计划span只记录可观察的任务规划，不推断模型私有思维过程。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来源：https://github.com/open-telemetry/semantic-conventions-genai/blob/5293effb97f18ddb0602da884dadee6119d67679/docs/gen-ai/gen-ai-spans.md</a:t>
            </a:r>
          </a:p>
          <a:p xmlns:a="http://schemas.openxmlformats.org/drawingml/2006/main">
            <a:r>
              <a:t>来源：https://github.com/open-telemetry/semantic-conventions-genai/blob/5293effb97f18ddb0602da884dadee6119d67679/docs/gen-ai/gen-ai-agent-spans.md</a:t>
            </a:r>
          </a:p>
          <a:p xmlns:a="http://schemas.openxmlformats.org/drawingml/2006/main">
            <a:r>
              <a:t>来源：https://github.com/open-telemetry/semantic-conventions-genai/blob/5293effb97f18ddb0602da884dadee6119d67679/docs/gen-ai/gen-ai-events.md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协议及语义演进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MCP负责连接工具和数据；2026-07-28版加入traceparent/tracestate/baggage的上下文传播约定。A2A 1.x负责独立Agent间的任务、消息、产物及上下文协作。两者与OTel GenAI的观测数据语义分层互补，不能将MCP/A2A当作统一轨迹schema。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2026-08-22路线图提出未来6–12个月推进异步消息/长任务、流式事件，以及Agent身份、用户委托及子Agent权限收窄。官方明确这些方向是当前想法而非交付承诺。页面“2027重点”结合其公开路线图及轨迹语义仍在变化的状态，提出异步任务、委托授权与多语义版本适配的研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MCP版本来源：https://github.com/modelcontextprotocol/modelcontextprotocol/releases/tag/2026-07-28</a:t>
            </a:r>
          </a:p>
          <a:p xmlns:a="http://schemas.openxmlformats.org/drawingml/2006/main">
            <a:r>
              <a:t>A2A来源：https://github.com/a2aproject/A2A/blob/v1.0.1/docs/specification.md</a:t>
            </a:r>
          </a:p>
          <a:p xmlns:a="http://schemas.openxmlformats.org/drawingml/2006/main">
            <a:r>
              <a:t>路线图来源：https://github.com/modelcontextprotocol/modelcontextprotocol/blob/3778656b2e0ba6725035e816fe3085374cbaa736/docs/development/roadmap.mdx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图表增强版：量化证据与配图说明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截至2026-10-13，展望2026-10至2027-10及以后。两张原生图表使用厂商实际披露，Coinbase指标属于客户自报实际效果。三张配图仅用于解释内容或产品能力，图片中的示例运行值不属于量化证据。所有建设建议均为研判，并非厂商交付承诺或对客户的SLA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Q1：Snowflake全平台AI周使用账户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FY26 Q4，季末2026-01-31：over 9,100 accounts using Snowflake AI features。财报2026-02-25发布。</a:t>
            </a:r>
          </a:p>
          <a:p xmlns:a="http://schemas.openxmlformats.org/drawingml/2006/main">
            <a:r>
              <a:t>- FY27 Q1，季末2026-04-30：more than 13,600 accounts using Snowflake AI capabilities。财报2026-05-27发布。</a:t>
            </a:r>
          </a:p>
          <a:p xmlns:a="http://schemas.openxmlformats.org/drawingml/2006/main">
            <a:r>
              <a:t>- 两期共同脚注为各季度末4周的平均周使用账户数，按capacity和on-demand accounts、厂商内部分类计数。</a:t>
            </a:r>
          </a:p>
          <a:p xmlns:a="http://schemas.openxmlformats.org/drawingml/2006/main">
            <a:r>
              <a:t>- 图表值9100、13600代表公开披露下限，标签保留“+”。不计算精确环比增速或净增量。</a:t>
            </a:r>
          </a:p>
          <a:p xmlns:a="http://schemas.openxmlformats.org/drawingml/2006/main">
            <a:r>
              <a:t>- 账户不等于独立企业客户、席位数或生产规模化组织数。指标覆盖全AI功能，不是多模态功能的独立使用量。功能集合及内部分类可能扩展，因此不是固定功能、固定cohort实验。</a:t>
            </a:r>
          </a:p>
          <a:p xmlns:a="http://schemas.openxmlformats.org/drawingml/2006/main">
            <a:r>
              <a:t>- FY27 Q2未在相应财报中公开同一全AI总量，不能将单产品CoCo的9,100账户当成全AI新一期数据。本图使用可比的已披露两期，而非宣称代表2026-10实时状态。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https://investors.snowflake.com/news/news-details/2026/Snowflake-Reports-Financial-Results-for-the-Fourth-Quarter-and-Full-Year-of-Fiscal-2026/default.aspx</a:t>
            </a:r>
          </a:p>
          <a:p xmlns:a="http://schemas.openxmlformats.org/drawingml/2006/main">
            <a:r>
              <a:t>https://investors.snowflake.com/news/news-details/2026/Snowflake-Reports-Financial-Results-for-the-First-Quarter-of-Fiscal-2027/default.aspx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Q2：Coinbase实时风控及反欺诈客户案例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Databricks于2026-03-19发布的Spark Structured Streaming Real-Time Mode文章引用Coinbase工程师Daniel Zhou原话：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“By leveraging Real-Time Mode in Spark Structured Streaming, we’ve achieved an 80%+ reduction in end-to-end latencies, hitting sub-100ms P99s ... This performance allows us to compute over 250 ML features all powered by a unified Spark engine.”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三个数字均来自该引文：P99端到端延迟低于100ms、端到端延迟下降80%+、计算超过250项ML特征。数据为特定客户生产工作负载的自报结果，经供应商发布，未独立审计。原文未披露请求样本量、观察时长、基线绝对延迟及完整实验控制；不能外推为行业平均或通用SLA。因缺少绝对基线，本页没有构造前后毫秒对比柱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底层Spark RTM在2026-03-19已GA；Lakeflow declarative pipelines中的RTM在2026-05-27为Public Preview。两者范围不同。配图展示Zerobus接入架构，只说明持续数据进入湖仓的方式，并非Coinbase架构图或该客户性能结果的技术配置。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来源：https://www.databricks.com/blog/announcing-general-availability-real-time-mode-apache-spark-structured-streaming-databricks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Q3：Neon新建数据库中由AI创建的占比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来自Databricks《2026 State of AI Agents》及2026-01-27官方解读图：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2023年10月：0.1%；2024年10月：27%；2025年10月：80%。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母为Neon平台上对应时点的数据库创建量，不是全球数据库、存量数据库、生产数据库或Databricks客户组织数。原图只明确月份，未披露各期总创建数量和精确滚动/累计窗口，本页保留原图月份，不补造精确日期。本页只取“数据库”序列，未将“数据库分支”不同分母的序列相加。创建行为可能包含开发、测试及短生命周期资源，不应当作生产活跃库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原文：“On Neon ... AI agents now create 80% of all databases and 97% of database branches.”图题“Neon Components Created by AI Agents”。本页使用数据库序列0.1%、27%、80%，分支占比未上图。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来源：https://www.databricks.com/blog/enterprise-ai-agent-trends-top-use-cases-governance-evaluations-and-more</a:t>
            </a:r>
          </a:p>
          <a:p xmlns:a="http://schemas.openxmlformats.org/drawingml/2006/main">
            <a:r>
              <a:t>官方原图：https://www.databricks.com/sites/default/files/inline-images/image_63.png?v=1769476177</a:t>
            </a:r>
          </a:p>
          <a:p xmlns:a="http://schemas.openxmlformats.org/drawingml/2006/main">
            <a:r>
              <a:t>报告页：https://www.databricks.com/resources/ebook/state-of-ai-agents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解读边界：这一序列说明Agent正成为数据库资源创建者，带来创建事件、状态、权限、生命周期与执行过程数据需求。并不单独证明所有企业Agent均已大规模投入生产。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图片来源与属性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Snowflake官方多模态分析示例，汽车广告图片输入的局部裁剪。图片只展示多模态输入形态，不是真实客户记录或本报告自行完成的内容抽取实验。</a:t>
            </a:r>
          </a:p>
          <a:p xmlns:a="http://schemas.openxmlformats.org/drawingml/2006/main">
            <a:r>
              <a:t>来源页：https://docs.snowflake.com/en/user-guide/snowflake-cortex/ai-multimodal</a:t>
            </a:r>
          </a:p>
          <a:p xmlns:a="http://schemas.openxmlformats.org/drawingml/2006/main">
            <a:r>
              <a:t>原图：https://docs.snowflake.com/static/images/cortex-llm/two-ad-creatives.png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Databricks Zerobus官方架构图，裁剪右侧展示设备、点击流和应用数据进入湖仓。它是厂商产品架构示意，不是Coinbase的实际部署图；也不说明所有场景都应取消消息总线。</a:t>
            </a:r>
          </a:p>
          <a:p xmlns:a="http://schemas.openxmlformats.org/drawingml/2006/main">
            <a:r>
              <a:t>来源页：https://docs.databricks.com/aws/en/ingestion/zerobus-overview</a:t>
            </a:r>
          </a:p>
          <a:p xmlns:a="http://schemas.openxmlformats.org/drawingml/2006/main">
            <a:r>
              <a:t>原图：https://docs.databricks.com/aws/en/assets/images/zerobus-vs-message-bus-b3dcde8ebb71f5224786e71fd325f82d.png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MLflow官方演示轨迹局部，展示调用步骤和时间关系。演示画面中的3.87s、888ms等不属于性能基准，不与Coinbase案例或图表统计混用。</a:t>
            </a:r>
          </a:p>
          <a:p xmlns:a="http://schemas.openxmlformats.org/drawingml/2006/main">
            <a:r>
              <a:t>来源页：https://mlflow.org/docs/latest/genai/tracing/</a:t>
            </a:r>
          </a:p>
          <a:p xmlns:a="http://schemas.openxmlformats.org/drawingml/2006/main">
            <a:r>
              <a:t>原图：https://mlflow.org/docs/latest/assets/images/genai-trace-debug-405f9c8b61d5f89fb1d3891242fcd265.png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原始图片保留原作者归属，本报告仅作有来源的技术说明引用，不声称图片原创或自由许可。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机构与标准引用映射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R1对应下附研究中的[4]：Forrester 2026年公开上下文层、语义及可执行治理研究。R2对应[5]：Gartner 2026 Agentic AI Hype Cycle公开摘要中的治理、安全、FinOps。OTel、MCP及A2A对应[6]、[7]。机构观点与规范状态仅作定性依据，不用于推导图表中的统计数值。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2027及未来：数据＋AI平台业界洞察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信息截至2026年10月13日（Asia/Shanghai）。未来一年指2026年10月至2027年10月，长期方向延伸至其后。采用全球视角，主要场景为企业知识助手、分析和流程自动化。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核心判断与口径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企业数据的重要增量包括多模态内容及其派生数据、持续更新的业务事件与状态，以及Agent执行过程。文档、视频和事件并非到2027年才出现；变化在于更多内容进入可计算流程，持续产生新的片段、实体、向量、时间定位、质量标签和运行反馈。数据＋AI平台需要将其与业务定义、实时状态和访问权限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总判断、所需能力及差异化方向为基于下列公开证据的综合研判。竞品部分列举截至研究日已发布或已在官方文档中提供的能力，不能理解为厂商完整、确定的2027产品路线图。本研究未找到Databricks或Snowflake公开承诺的完整2027路线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三类数据与处理能力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多模态内容：文档中的表格、图表、签名与布局，视频的画面、音轨、字幕，以及抽取所得片段、实体、向量与置信度。平台需保留来源定位，支持内容解析、批量加工和跨模态检索，将派生数据与原始内容的权限及生命周期连接。</a:t>
            </a:r>
          </a:p>
          <a:p xmlns:a="http://schemas.openxmlformats.org/drawingml/2006/main">
            <a:r>
              <a:t>2. 实时业务变化：数据库CDC、交易和应用事件、在线状态与特征。平台需弹性接入、流批协同、增量更新，处理乱序和重复事件，并为分析新鲜度、操作响应、事务读写分别设置延迟和成本目标。不同竞品功能不代表同一端到端SLA。</a:t>
            </a:r>
          </a:p>
          <a:p xmlns:a="http://schemas.openxmlformats.org/drawingml/2006/main">
            <a:r>
              <a:t>3. Agent过程：模型和工具调用、可观察的执行步骤、检索依据、记忆操作、任务状态、人工反馈和评价。平台需将任务、调用、业务实体、质量及资源成本关联。不推断或声称采集模型私有思维过程，轨迹本身也不保证确定性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[1] Databricks：增量管道、在线状态与轨迹入湖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Lakeflow Connect官方文档覆盖数据库CDC、结构化/非结构化文件及消息流。连接器状态各异，不能将整个连接器集合统称GA。</a:t>
            </a:r>
          </a:p>
          <a:p xmlns:a="http://schemas.openxmlformats.org/drawingml/2006/main">
            <a:r>
              <a:t>来源：https://docs.databricks.com/aws/en/ingestion/overview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Lakebase官方文档描述托管Postgres、Unity Catalog表同步、在线特征及Agent state store，支持实时事务应用与湖仓数据并行使用。本研究不为其推断统一首次GA日期，也不将其等同单一引擎HTAP。</a:t>
            </a:r>
          </a:p>
          <a:p xmlns:a="http://schemas.openxmlformats.org/drawingml/2006/main">
            <a:r>
              <a:t>来源：https://docs.databricks.com/aws/en/oltp/projects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MLflow trace storage in Unity Catalog tables于2026-07-16正式可用。轨迹以OpenTelemetry格式保存在Delta表中，包含annotations、logs、metrics、spans，支持SQL查询、统一权限及与业务数据联结。页面的“联查业务数据与评测结果”指利用这些表能力开展关联分析。</a:t>
            </a:r>
          </a:p>
          <a:p xmlns:a="http://schemas.openxmlformats.org/drawingml/2006/main">
            <a:r>
              <a:t>来源：https://docs.databricks.com/aws/en/release-notes/product/2026/july</a:t>
            </a:r>
          </a:p>
          <a:p xmlns:a="http://schemas.openxmlformats.org/drawingml/2006/main">
            <a:r>
              <a:t>来源：https://docs.databricks.com/aws/en/mlflow3/genai/tracing/trace-unity-catalog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多模态及实时旁证：ai_parse_document于2026-04-16正式可用，2026-10-05新增图表数值JSON抽取。Lakeflow real-time mode于2026-05-27公开预览，截至本次核验仍保留该状态。Zerobus向streaming tables写入于2026-08-26正式可用。因此页面没有把所有实时子功能统称正式可用。</a:t>
            </a:r>
          </a:p>
          <a:p xmlns:a="http://schemas.openxmlformats.org/drawingml/2006/main">
            <a:r>
              <a:t>来源：https://docs.databricks.com/aws/en/release-notes/product/2026/april</a:t>
            </a:r>
          </a:p>
          <a:p xmlns:a="http://schemas.openxmlformats.org/drawingml/2006/main">
            <a:r>
              <a:t>来源：https://docs.databricks.com/aws/en/release-notes/product/2026/may</a:t>
            </a:r>
          </a:p>
          <a:p xmlns:a="http://schemas.openxmlformats.org/drawingml/2006/main">
            <a:r>
              <a:t>来源：https://docs.databricks.com/aws/en/release-notes/product/2026/august</a:t>
            </a:r>
          </a:p>
          <a:p xmlns:a="http://schemas.openxmlformats.org/drawingml/2006/main">
            <a:r>
              <a:t>来源：https://docs.databricks.com/aws/en/release-notes/product/2026/october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2027方向研判：Databricks正将内容加工、持续接入、低延迟应用状态及AI质量数据纳入统一平台，客户将更多按跨工作负载的联通程度评估产品。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[2] Snowflake：数据接入、视频检索、语义与Agent血缘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Openflow为基于Apache NiFi的数据集成服务，覆盖结构化和非结构化文本、图像、音频、视频及传感器数据，支持批与流。平台已GA，各连接器/配置能力需分别核验状态。Gen 2 deployments/runtimes于2026-09-08正式可用，Gen 2 connector configuration仍公开预览。</a:t>
            </a:r>
          </a:p>
          <a:p xmlns:a="http://schemas.openxmlformats.org/drawingml/2006/main">
            <a:r>
              <a:t>来源：https://docs.snowflake.com/en/user-guide/data-integration/openflow/about</a:t>
            </a:r>
          </a:p>
          <a:p xmlns:a="http://schemas.openxmlformats.org/drawingml/2006/main">
            <a:r>
              <a:t>来源：https://docs.snowflake.com/en/release-notes/2026/other/2026-09-08-openflow-gen2-deployment-runtime-ga.md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AI_MULTI_EMBED大视频多模态嵌入与语义检索于2026-08-10正式可用，组合视觉、音频和转写信号，可检索场景、引述、动作与品牌。</a:t>
            </a:r>
          </a:p>
          <a:p xmlns:a="http://schemas.openxmlformats.org/drawingml/2006/main">
            <a:r>
              <a:t>来源：https://docs.snowflake.com/en/release-notes/2026/other/2026-08-10-ai-multi-embed-large-video-files-ga.md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2026-09-02发布Cortex Agent lineage，支持追踪table、semantic view、agent之间的数据依赖。此处“血缘”指Agent specification所声明的依赖关系，并非每次运行实际访问数据的完整审计轨迹。</a:t>
            </a:r>
          </a:p>
          <a:p xmlns:a="http://schemas.openxmlformats.org/drawingml/2006/main">
            <a:r>
              <a:t>来源：https://docs.snowflake.com/en/release-notes/2026/other/2026-09-02-cortex-agent-lineage.md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明确产品方向信号：2026-08-28官方建议从独立Cortex Analyst API转向Cortex Agents，并说明新的自然语言分析能力将加入Cortex Agents，原API继续可用。Cortex Agents基础能力于2025-11-04正式可用，Agent evaluations于2026-03-13正式可用。</a:t>
            </a:r>
          </a:p>
          <a:p xmlns:a="http://schemas.openxmlformats.org/drawingml/2006/main">
            <a:r>
              <a:t>来源：https://docs.snowflake.com/en/release-notes/2026/other/2026-08-28-cortex-analyst-transition-cortex-agents.md</a:t>
            </a:r>
          </a:p>
          <a:p xmlns:a="http://schemas.openxmlformats.org/drawingml/2006/main">
            <a:r>
              <a:t>来源：https://docs.snowflake.com/en/release-notes/2026/other/2026-03-13-cortex-agent-evaluations.md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实时旁证：Snowpipe Streaming Elastic Channels于2026-09-15正式可用，支持多生产者弹性写入。2026-09-24新增对分区Snowflake-managed Iceberg表的流式写入支持。Elastic Channels是at-least-once，不能将其等同exactly-once。</a:t>
            </a:r>
          </a:p>
          <a:p xmlns:a="http://schemas.openxmlformats.org/drawingml/2006/main">
            <a:r>
              <a:t>来源：https://docs.snowflake.com/en/release-notes/2026/other/2026-09-15-snowpipe-streaming-elastic-channels-ga.md</a:t>
            </a:r>
          </a:p>
          <a:p xmlns:a="http://schemas.openxmlformats.org/drawingml/2006/main">
            <a:r>
              <a:t>来源：https://docs.snowflake.com/en/release-notes/2026/other/2026-09-24-snowpipe-streaming-partitioned-iceberg-ga.md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2027方向研判：Snowflake将多模态与流接入、语义分析、Agent执行和统一治理进一步组合，产品边界继续超出传统仓库分析。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[3] 大云厂商补充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 Fabric Real-Time Intelligence官方文档覆盖事件接入、转换、存储、时序分析及动作触发；Eventstreams、Eventhouse、Activator连接持续变化的数据与业务动作。部分子能力如Digital twin builder仍为预览，页面没有统一宣称全部GA。</a:t>
            </a:r>
          </a:p>
          <a:p xmlns:a="http://schemas.openxmlformats.org/drawingml/2006/main">
            <a:r>
              <a:t>来源：https://learn.microsoft.com/en-us/fabric/real-time-intelligence/overview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AWS Bedrock AgentCore提供运行配套能力、短期/长期Memory及Observability，后者将OpenTelemetry兼容的traces、metrics、logs交给CloudWatch，支持查看执行路径、时延、Token和错误。这里描述能力，不推断统一首次GA日期。</a:t>
            </a:r>
          </a:p>
          <a:p xmlns:a="http://schemas.openxmlformats.org/drawingml/2006/main">
            <a:r>
              <a:t>来源：https://docs.aws.amazon.com/bedrock-agentcore/latest/devguide/observability.html</a:t>
            </a:r>
          </a:p>
          <a:p xmlns:a="http://schemas.openxmlformats.org/drawingml/2006/main">
            <a:r>
              <a:t>来源：https://docs.aws.amazon.com/bedrock-agentcore/latest/devguide/memory.html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[4] Forrester：AI-ready data、语义与运行上下文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Forrester《Microsoft FabCon 2026: Enterprise AI Needs A Governed Context Layer, Not Just Data》，2026-10-06。公开分析强调semantic models、ontologies、knowledge graphs、documents、real-time signals、retrieval与policy controls。例子指出回答收入问题的Agent需要知道适用指标、客户交易关系以及被允许使用的信息。</a:t>
            </a:r>
          </a:p>
          <a:p xmlns:a="http://schemas.openxmlformats.org/drawingml/2006/main">
            <a:r>
              <a:t>来源：https://www.forrester.com/blogs/microsoft-fabcon-2026-enterprise-ai-needs-a-governed-context-layer-not-just-data/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Forrester《The Next Evolution Of AI Will Rely On Context Layers》，2026-08-20。定义持续吸纳events、decisions、actions、outcomes的runtime context，结合业务含义、政策和流程。文中公开计划在2026年Q4末发布Semantic Layer Landscape，之后开展Wave评估；此为计划，本报告不将这些未发布报告当作已读材料。</a:t>
            </a:r>
          </a:p>
          <a:p xmlns:a="http://schemas.openxmlformats.org/drawingml/2006/main">
            <a:r>
              <a:t>来源：https://www.forrester.com/blogs/the-next-evolution-of-ai-will-rely-on-context-layers/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Forrester《Can Security Enforce What Data Governance Defines?》，2026-10-07。明确指出数据治理决策与政策必须转为可执行控制，并关联《From Silos To Synergy: AI Demands Aligning Data Governance And Data Security》研究。引用依据为公开文章，未读取该付费报告全文。</a:t>
            </a:r>
          </a:p>
          <a:p xmlns:a="http://schemas.openxmlformats.org/drawingml/2006/main">
            <a:r>
              <a:t>来源：https://www.forrester.com/blogs/can-security-enforce-what-data-governance-defines/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[5] Gartner：运营、治理、安全与成本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Gartner《What the 2026 Hype Cycle for Agentic AI Reveals》，官方正文日期2026-04-15。公开摘要将agentic AI governance、agentic AI security、FinOps for agentic AI纳入研究范围，同时讨论Agent开发生命周期、上下文图谱、管理、编排及通信。页面的“进入评估重点”是对研究覆盖的概括，不代表所有技术已经成熟。</a:t>
            </a:r>
          </a:p>
          <a:p xmlns:a="http://schemas.openxmlformats.org/drawingml/2006/main">
            <a:r>
              <a:t>来源：https://www.gartner.com/en/articles/hype-cycle-for-agentic-ai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本报告使用Gartner官方公开页面摘要（通过Reader读取官方页面文本），未引用或推测付费Hype Cycle报告未公开的详细结论。FinOps在本页指AI资源与使用成本的管理、归因和优化。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[6] OpenTelemetry GenAI：语义范围扩大，成熟度仍为Development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采用截至2026-10-13之前的官方固定commit 5293effb97f18ddb0602da884dadee6119d67679（2026-10-12）。该规范覆盖模型、Agent、工具、计划、记忆操作和评价事件，整体仍标Development。OTel基础追踪成熟不等于GenAI字段已稳定。</a:t>
            </a:r>
          </a:p>
          <a:p xmlns:a="http://schemas.openxmlformats.org/drawingml/2006/main">
            <a:r>
              <a:t>总览：https://github.com/open-telemetry/semantic-conventions-genai/blob/5293effb97f18ddb0602da884dadee6119d67679/docs/gen-ai/README.md</a:t>
            </a:r>
          </a:p>
          <a:p xmlns:a="http://schemas.openxmlformats.org/drawingml/2006/main">
            <a:r>
              <a:t>计划与工具：https://github.com/open-telemetry/semantic-conventions-genai/blob/5293effb97f18ddb0602da884dadee6119d67679/docs/gen-ai/gen-ai-agent-spans.md</a:t>
            </a:r>
          </a:p>
          <a:p xmlns:a="http://schemas.openxmlformats.org/drawingml/2006/main">
            <a:r>
              <a:t>记忆：https://github.com/open-telemetry/semantic-conventions-genai/blob/5293effb97f18ddb0602da884dadee6119d67679/docs/gen-ai/gen-ai-spans.md</a:t>
            </a:r>
          </a:p>
          <a:p xmlns:a="http://schemas.openxmlformats.org/drawingml/2006/main">
            <a:r>
              <a:t>评价：https://github.com/open-telemetry/semantic-conventions-genai/blob/5293effb97f18ddb0602da884dadee6119d67679/docs/gen-ai/gen-ai-events.md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 span仅适用于可被区分的规划/任务分解，不能把一般推理当作规划事件。gen_ai.evaluation.result关联被评价的operation，评价分数须保留名称与含义。OpenInference是另一套兼容OTel的开放约定，传输兼容不意味着语义完全相同。</a:t>
            </a:r>
          </a:p>
          <a:p xmlns:a="http://schemas.openxmlformats.org/drawingml/2006/main">
            <a:r>
              <a:t>OpenInference：https://github.com/Arize-ai/openinference/blob/1198ec9584961640cb8fd78439e643bdb072e01d/spec/semantic_conventions.md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规范还建议生产环境将内容外置、span保存引用，敏感输入输出默认不采集。平台应将运行元数据、内容、访问权限与保留策略分层管理。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[7] MCP与A2A：运行互通及下一步路线图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2026-07-28负责连接外部数据和工具，已加入traceparent、tracestate、baggage上下文传播约定；它不定义统一的Agent轨迹存储格式。</a:t>
            </a:r>
          </a:p>
          <a:p xmlns:a="http://schemas.openxmlformats.org/drawingml/2006/main">
            <a:r>
              <a:t>来源：https://github.com/modelcontextprotocol/modelcontextprotocol/releases/tag/2026-07-28</a:t>
            </a:r>
          </a:p>
          <a:p xmlns:a="http://schemas.openxmlformats.org/drawingml/2006/main">
            <a:r>
              <a:t>来源：https://github.com/modelcontextprotocol/modelcontextprotocol/blob/2026-07-28/docs/specification/2026-07-28/changelog.mdx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A2A仓库发布v1.0.1（2026-05-28），规范属于1.x，提供独立Agent间的任务、消息、产物与上下文协作，并允许参与方不暴露内部状态、记忆或工具。因此“互通”不能推断为完整内部轨迹可迁移。</a:t>
            </a:r>
          </a:p>
          <a:p xmlns:a="http://schemas.openxmlformats.org/drawingml/2006/main">
            <a:r>
              <a:t>来源：https://github.com/a2aproject/A2A/blob/v1.0.1/docs/specification.md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MCP官方路线图（2026-08-22更新，固定到截止日之前commit 3778656b2e0ba6725035e816fe3085374cbaa736）描述未来6–12月方向：异步消息、长任务、推送事件，以及Agent身份、用户委托和子Agent权限收窄。官方明确这是current thinking而非firm commitments，页面将其标为“MCP规划”。</a:t>
            </a:r>
          </a:p>
          <a:p xmlns:a="http://schemas.openxmlformats.org/drawingml/2006/main">
            <a:r>
              <a:t>来源：https://github.com/modelcontextprotocol/modelcontextprotocol/blob/3778656b2e0ba6725035e816fe3085374cbaa736/docs/development/roadmap.mdx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差异化能力建议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统一多模态与实时数据生命周期：让原始内容、派生实体/向量和持续业务变化共享对象标识、来源、质量与删除/保留规则，避免多套独立加工流程。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语义、状态与权限联合服务：同一业务定义同时服务BI和AI，将实时状态和身份约束纳入上下文生成，使模型在调用时获得新鲜、相关且被授权的数据。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跨框架轨迹与业务结果联评：保留原始字段及规范版本，适配OTel/OpenInference/厂商扩展，关联任务、调用与晚到反馈，同时评价成本、过程质量和实际业务结果。它是建议建设方向，不是本报告已经证明竞品不具备的独占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面向2027优先形成可用的接入、语义和关联基础；更长期沉淀可跨平台迁移的上下文数据与评测口径。具体投入次序需按客户工作负载验证，本文不虚构任何自家平台现状或性能承诺。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db86a5d9634c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fdf45078049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cf9f779254b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5791ead0b44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083b9b79247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fb470af7b4a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62B115-9A72-448B-B40F-26AFA4AB0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47C3A6-090D-4F94-B093-6BD710F16D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3E42F1-5675-43AC-9254-5D99B76B46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4354C9-AF75-4BBF-A835-A4A3D081A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954E70-776E-4ECE-AA60-58532C3F6C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AEDA56-A20A-463F-9E73-6E10903FF0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DB7426-28D3-4D6D-A6D2-2618EEBA79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08E831-E828-4060-B119-0F2F661EDC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C1530E-B655-4EDA-9E58-64DEFCCC7D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FC3274-4362-4A2B-B1A1-34042A4CC8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c6e0220c35482a" /><Relationship Type="http://schemas.openxmlformats.org/officeDocument/2006/relationships/slideLayout" Target="/ppt/slideLayouts/slideLayout1.xml" Id="R817a26b08be54ff2" /><Relationship Type="http://schemas.openxmlformats.org/officeDocument/2006/relationships/slideLayout" Target="/ppt/slideLayouts/slideLayout2.xml" Id="Rfa172b921f9a46f1" /><Relationship Type="http://schemas.openxmlformats.org/officeDocument/2006/relationships/slideLayout" Target="/ppt/slideLayouts/slideLayout3.xml" Id="R41fbc5cb78c84be1" /><Relationship Type="http://schemas.openxmlformats.org/officeDocument/2006/relationships/slideLayout" Target="/ppt/slideLayouts/slideLayout4.xml" Id="R34898f39c07b4f3f" /><Relationship Type="http://schemas.openxmlformats.org/officeDocument/2006/relationships/slideLayout" Target="/ppt/slideLayouts/slideLayout5.xml" Id="Raf29292bcc9345cc" /><Relationship Type="http://schemas.openxmlformats.org/officeDocument/2006/relationships/slideLayout" Target="/ppt/slideLayouts/slideLayout6.xml" Id="Rfe97f3a8b60f4b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7a26b08be54ff2"/>
    <p:sldLayoutId xmlns:r="http://schemas.openxmlformats.org/officeDocument/2006/relationships" id="2147483650" r:id="Rfa172b921f9a46f1"/>
    <p:sldLayoutId xmlns:r="http://schemas.openxmlformats.org/officeDocument/2006/relationships" id="2147483651" r:id="R41fbc5cb78c84be1"/>
    <p:sldLayoutId xmlns:r="http://schemas.openxmlformats.org/officeDocument/2006/relationships" id="2147483652" r:id="R34898f39c07b4f3f"/>
    <p:sldLayoutId xmlns:r="http://schemas.openxmlformats.org/officeDocument/2006/relationships" id="2147483653" r:id="Raf29292bcc9345cc"/>
    <p:sldLayoutId xmlns:r="http://schemas.openxmlformats.org/officeDocument/2006/relationships" id="2147483654" r:id="Rfe97f3a8b60f4b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a311b0c0245b4" /><Relationship Type="http://schemas.openxmlformats.org/officeDocument/2006/relationships/chart" Target="/ppt/slides/charts/chart1.xml" Id="R931f5f1af6c24104" /><Relationship Type="http://schemas.openxmlformats.org/officeDocument/2006/relationships/image" Target="/ppt/media/image.png" Id="R08feef1e5dc54807" /><Relationship Type="http://schemas.openxmlformats.org/officeDocument/2006/relationships/image" Target="/ppt/media/image2.png" Id="R5aeedbb77f4a44de" /><Relationship Type="http://schemas.openxmlformats.org/officeDocument/2006/relationships/notesSlide" Target="/ppt/notesSlides/notesSlide1.xml" Id="R2bfbed3f6ef343c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Google SynthID图像／视频标记规模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32E45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累计标记量（亿，披露下限）</c:v>
          </c:tx>
          <c:spPr>
            <a:solidFill xmlns:a="http://schemas.openxmlformats.org/drawingml/2006/main">
              <a:srgbClr val="087F8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BDC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32E45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1,000亿+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32E45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Val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32E45"/>
                        </a:solidFill>
                        <a:latin typeface="Microsoft YaHei"/>
                        <a:ea typeface="Microsoft YaHei"/>
                        <a:cs typeface="Microsoft YaHei"/>
                      </a:rPr>
                      <a:t>1,800亿+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32E45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outEnd"/>
              <c:showVal val="0"/>
            </c:dLbl>
          </c:dLbls>
          <c:cat>
            <c:strRef>
              <c:f>'Chart Data'!$A$2:$A$3</c:f>
              <c:strCache>
                <c:ptCount val="2"/>
                <c:pt idx="0">
                  <c:v>2026.05.28</c:v>
                </c:pt>
                <c:pt idx="1">
                  <c:v>2026.10.07</c:v>
                </c:pt>
              </c:strCache>
            </c:strRef>
          </c:cat>
          <c:val>
            <c:numRef>
              <c:f>'Chart Data'!$B$2:$B$3</c:f>
              <c:numCache>
                <c:formatCode>#,##0"亿"</c:formatCode>
                <c:ptCount val="2"/>
                <c:pt idx="0">
                  <c:v>1000</c:v>
                </c:pt>
                <c:pt idx="1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32E4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0DD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9ED"/>
              </a:solidFill>
            </a:ln>
          </c:spPr>
        </c:majorGridlines>
        <c:numFmt formatCode="#,##0&quot;亿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itle">
            <a:extLst xmlns:a="http://schemas.openxmlformats.org/drawingml/2006/main">
              <a:ext uri="{FF2B5EF4-FFF2-40B4-BE49-F238E27FC236}">
                <a16:creationId xmlns:a16="http://schemas.microsoft.com/office/drawing/2014/main" id="{97BBA635-323A-45FF-AF69-3B05414D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1419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2027及未来：数据＋AI平台竞争洞察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14997F-5928-49D3-8609-27EFE98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09625"/>
            <a:ext cx="1414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全球视角，面向企业知识助手、分析与流程自动化    信息截至2026年10月13日</a:t>
            </a:r>
          </a:p>
        </p:txBody>
      </p:sp>
      <p:sp>
        <p:nvSpPr>
          <p:cNvPr id="3" name="summary">
            <a:extLst xmlns:a="http://schemas.openxmlformats.org/drawingml/2006/main">
              <a:ext uri="{FF2B5EF4-FFF2-40B4-BE49-F238E27FC236}">
                <a16:creationId xmlns:a16="http://schemas.microsoft.com/office/drawing/2014/main" id="{BF5B74E5-0F75-4580-A01C-B779D27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141922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E45"/>
          </a:solidFill>
          <a:ln xmlns:a="http://schemas.openxmlformats.org/drawingml/2006/main" w="0">
            <a:noFill/>
          </a:ln>
        </p:spPr>
      </p:sp>
      <p:sp>
        <p:nvSpPr>
          <p:cNvPr id="4" name="summary-main">
            <a:extLst xmlns:a="http://schemas.openxmlformats.org/drawingml/2006/main">
              <a:ext uri="{FF2B5EF4-FFF2-40B4-BE49-F238E27FC236}">
                <a16:creationId xmlns:a16="http://schemas.microsoft.com/office/drawing/2014/main" id="{927F1EF0-689C-4966-8452-97E86380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95400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竞品使用规模扩大，平台能力正延伸至内容理解、实时决策与Agent执行</a:t>
            </a:r>
          </a:p>
        </p:txBody>
      </p:sp>
      <p:sp>
        <p:nvSpPr>
          <p:cNvPr id="5" name="summary-sub">
            <a:extLst xmlns:a="http://schemas.openxmlformats.org/drawingml/2006/main">
              <a:ext uri="{FF2B5EF4-FFF2-40B4-BE49-F238E27FC236}">
                <a16:creationId xmlns:a16="http://schemas.microsoft.com/office/drawing/2014/main" id="{3B0DD64E-049C-4EBA-B8DD-ED157FC1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381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9DB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DB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DBE4"/>
                </a:solidFill>
                <a:latin typeface="Microsoft YaHei"/>
                <a:ea typeface="Microsoft YaHei"/>
                <a:cs typeface="Microsoft YaHei"/>
              </a:rPr>
              <a:t>2027研判：多模态内容、连续业务事件与执行过程，需共享业务语义、实时状态和访问权限</a:t>
            </a:r>
          </a:p>
        </p:txBody>
      </p:sp>
      <p:sp>
        <p:nvSpPr>
          <p:cNvPr id="6" name="h1">
            <a:extLst xmlns:a="http://schemas.openxmlformats.org/drawingml/2006/main">
              <a:ext uri="{FF2B5EF4-FFF2-40B4-BE49-F238E27FC236}">
                <a16:creationId xmlns:a16="http://schemas.microsoft.com/office/drawing/2014/main" id="{087CF403-05AF-4DFD-AD77-D090B30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4591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01  多模态内容进入AI处理</a:t>
            </a:r>
          </a:p>
        </p:txBody>
      </p:sp>
      <p:sp>
        <p:nvSpPr>
          <p:cNvPr id="7" name="h2">
            <a:extLst xmlns:a="http://schemas.openxmlformats.org/drawingml/2006/main">
              <a:ext uri="{FF2B5EF4-FFF2-40B4-BE49-F238E27FC236}">
                <a16:creationId xmlns:a16="http://schemas.microsoft.com/office/drawing/2014/main" id="{EF0E74AD-AC9D-4168-9DF6-8EFF106C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33600"/>
            <a:ext cx="4591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02  实时决策进入业务链路</a:t>
            </a:r>
          </a:p>
        </p:txBody>
      </p:sp>
      <p:sp>
        <p:nvSpPr>
          <p:cNvPr id="8" name="h3">
            <a:extLst xmlns:a="http://schemas.openxmlformats.org/drawingml/2006/main">
              <a:ext uri="{FF2B5EF4-FFF2-40B4-BE49-F238E27FC236}">
                <a16:creationId xmlns:a16="http://schemas.microsoft.com/office/drawing/2014/main" id="{F2A12026-4ACB-4A0A-BB04-4CA324D2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33600"/>
            <a:ext cx="4495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C"/>
                </a:solidFill>
                <a:latin typeface="Microsoft YaHei"/>
                <a:ea typeface="Microsoft YaHei"/>
                <a:cs typeface="Microsoft YaHei"/>
              </a:rPr>
              <a:t>03  Agent轨迹：场景、成分与协议</a:t>
            </a:r>
          </a:p>
        </p:txBody>
      </p:sp>
      <p:sp>
        <p:nvSpPr>
          <p:cNvPr id="9" name="divider1">
            <a:extLst xmlns:a="http://schemas.openxmlformats.org/drawingml/2006/main">
              <a:ext uri="{FF2B5EF4-FFF2-40B4-BE49-F238E27FC236}">
                <a16:creationId xmlns:a16="http://schemas.microsoft.com/office/drawing/2014/main" id="{398B9230-31EB-4BA1-83D5-084CF8C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12383" cy="505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DE3"/>
          </a:solidFill>
          <a:ln xmlns:a="http://schemas.openxmlformats.org/drawingml/2006/main" w="0">
            <a:noFill/>
          </a:ln>
        </p:spPr>
      </p:sp>
      <p:sp>
        <p:nvSpPr>
          <p:cNvPr id="10" name="divider2">
            <a:extLst xmlns:a="http://schemas.openxmlformats.org/drawingml/2006/main">
              <a:ext uri="{FF2B5EF4-FFF2-40B4-BE49-F238E27FC236}">
                <a16:creationId xmlns:a16="http://schemas.microsoft.com/office/drawing/2014/main" id="{8E2C9070-7E59-4D34-8A36-99F4A87E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33600"/>
            <a:ext cx="12383" cy="505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DE3"/>
          </a:solidFill>
          <a:ln xmlns:a="http://schemas.openxmlformats.org/drawingml/2006/main" w="0">
            <a:noFill/>
          </a:ln>
        </p:spPr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9F968104-12DC-49C7-9FF8-84C39BDE803C}"/>
              </a:ext>
            </a:extLst>
          </p:cNvPr>
          <p:cNvGraphicFramePr/>
          <p:nvPr/>
        </p:nvGraphicFramePr>
        <p:xfrm>
          <a:off xmlns:a="http://schemas.openxmlformats.org/drawingml/2006/main" x="514350" y="2581275"/>
          <a:ext xmlns:a="http://schemas.openxmlformats.org/drawingml/2006/main" cx="4638675" cy="1990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1f5f1af6c24104"/>
          </a:graphicData>
        </a:graphic>
      </p:graphicFrame>
      <p:sp>
        <p:nvSpPr>
          <p:cNvPr id="12" name="multimodal-scope">
            <a:extLst xmlns:a="http://schemas.openxmlformats.org/drawingml/2006/main">
              <a:ext uri="{FF2B5EF4-FFF2-40B4-BE49-F238E27FC236}">
                <a16:creationId xmlns:a16="http://schemas.microsoft.com/office/drawing/2014/main" id="{37343960-BF44-462E-9F65-CF3F0843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52950"/>
            <a:ext cx="4562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[Q1] 累计水印标记量，横轴为官方披露日</a:t>
            </a:r>
          </a:p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伙伴覆盖及去重未披露，“+”为披露下限</a:t>
            </a:r>
          </a:p>
        </p:txBody>
      </p:sp>
      <p:sp>
        <p:nvSpPr>
          <p:cNvPr id="13" name="coinbase">
            <a:extLst xmlns:a="http://schemas.openxmlformats.org/drawingml/2006/main">
              <a:ext uri="{FF2B5EF4-FFF2-40B4-BE49-F238E27FC236}">
                <a16:creationId xmlns:a16="http://schemas.microsoft.com/office/drawing/2014/main" id="{CAC5D1D4-6C92-4456-A538-B64EC2F1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57475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Coinbase实时风控与反欺诈 [Q2]</a:t>
            </a:r>
          </a:p>
        </p:txBody>
      </p:sp>
      <p:sp>
        <p:nvSpPr>
          <p:cNvPr id="14" name="latency-number">
            <a:extLst xmlns:a="http://schemas.openxmlformats.org/drawingml/2006/main">
              <a:ext uri="{FF2B5EF4-FFF2-40B4-BE49-F238E27FC236}">
                <a16:creationId xmlns:a16="http://schemas.microsoft.com/office/drawing/2014/main" id="{714E5FE2-CF45-4361-A3AE-4EC5F2A1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23717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rPr>
              <a:t>&lt;100ms</a:t>
            </a:r>
          </a:p>
        </p:txBody>
      </p:sp>
      <p:sp>
        <p:nvSpPr>
          <p:cNvPr id="15" name="latency-label">
            <a:extLst xmlns:a="http://schemas.openxmlformats.org/drawingml/2006/main">
              <a:ext uri="{FF2B5EF4-FFF2-40B4-BE49-F238E27FC236}">
                <a16:creationId xmlns:a16="http://schemas.microsoft.com/office/drawing/2014/main" id="{B9B61F8A-B2D8-49EE-A25D-0F62C37E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004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P99端到端延迟</a:t>
            </a:r>
          </a:p>
        </p:txBody>
      </p:sp>
      <p:sp>
        <p:nvSpPr>
          <p:cNvPr id="16" name="reduction-number">
            <a:extLst xmlns:a="http://schemas.openxmlformats.org/drawingml/2006/main">
              <a:ext uri="{FF2B5EF4-FFF2-40B4-BE49-F238E27FC236}">
                <a16:creationId xmlns:a16="http://schemas.microsoft.com/office/drawing/2014/main" id="{192227A0-D1BF-4967-924E-D801C038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05150"/>
            <a:ext cx="2000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rPr>
              <a:t>80%+</a:t>
            </a:r>
          </a:p>
        </p:txBody>
      </p:sp>
      <p:sp>
        <p:nvSpPr>
          <p:cNvPr id="17" name="reduction-label">
            <a:extLst xmlns:a="http://schemas.openxmlformats.org/drawingml/2006/main">
              <a:ext uri="{FF2B5EF4-FFF2-40B4-BE49-F238E27FC236}">
                <a16:creationId xmlns:a16="http://schemas.microsoft.com/office/drawing/2014/main" id="{932B9B03-6602-4B49-A105-C50B7C1F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0047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端到端延迟下降</a:t>
            </a:r>
          </a:p>
        </p:txBody>
      </p:sp>
      <p:sp>
        <p:nvSpPr>
          <p:cNvPr id="18" name="features">
            <a:extLst xmlns:a="http://schemas.openxmlformats.org/drawingml/2006/main">
              <a:ext uri="{FF2B5EF4-FFF2-40B4-BE49-F238E27FC236}">
                <a16:creationId xmlns:a16="http://schemas.microsoft.com/office/drawing/2014/main" id="{93F653C3-C75F-4E62-97F6-A22E4777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71950"/>
            <a:ext cx="4352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计算250+项实时ML特征</a:t>
            </a:r>
          </a:p>
        </p:txBody>
      </p:sp>
      <p:sp>
        <p:nvSpPr>
          <p:cNvPr id="19" name="coinbase-scope">
            <a:extLst xmlns:a="http://schemas.openxmlformats.org/drawingml/2006/main">
              <a:ext uri="{FF2B5EF4-FFF2-40B4-BE49-F238E27FC236}">
                <a16:creationId xmlns:a16="http://schemas.microsoft.com/office/drawing/2014/main" id="{FEAC29BF-8F29-459B-86CF-8B9CDA58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5529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[Q2] 客户自报生产效果，2026.03发布</a:t>
            </a:r>
          </a:p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单一工作负载，非通用SLA</a:t>
            </a:r>
          </a:p>
        </p:txBody>
      </p:sp>
      <p:sp>
        <p:nvSpPr>
          <p:cNvPr id="20" name="agent-scenario-title">
            <a:extLst xmlns:a="http://schemas.openxmlformats.org/drawingml/2006/main">
              <a:ext uri="{FF2B5EF4-FFF2-40B4-BE49-F238E27FC236}">
                <a16:creationId xmlns:a16="http://schemas.microsoft.com/office/drawing/2014/main" id="{9733B68A-2F37-41A8-B808-B530D809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647950"/>
            <a:ext cx="4438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典型场景：多Agent协作生成企业报告</a:t>
            </a:r>
          </a:p>
        </p:txBody>
      </p:sp>
      <p:sp>
        <p:nvSpPr>
          <p:cNvPr id="21" name="supervisor-box">
            <a:extLst xmlns:a="http://schemas.openxmlformats.org/drawingml/2006/main">
              <a:ext uri="{FF2B5EF4-FFF2-40B4-BE49-F238E27FC236}">
                <a16:creationId xmlns:a16="http://schemas.microsoft.com/office/drawing/2014/main" id="{54EEFE5A-83D6-41BD-8910-70DC6B64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048000"/>
            <a:ext cx="27146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0">
            <a:noFill/>
          </a:ln>
        </p:spPr>
      </p:sp>
      <p:sp>
        <p:nvSpPr>
          <p:cNvPr id="22" name="supervisor">
            <a:extLst xmlns:a="http://schemas.openxmlformats.org/drawingml/2006/main">
              <a:ext uri="{FF2B5EF4-FFF2-40B4-BE49-F238E27FC236}">
                <a16:creationId xmlns:a16="http://schemas.microsoft.com/office/drawing/2014/main" id="{39E17712-76EC-470C-861D-E65185E5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24200"/>
            <a:ext cx="2562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协调Agent：分派与汇总</a:t>
            </a:r>
          </a:p>
        </p:txBody>
      </p:sp>
      <p:sp>
        <p:nvSpPr>
          <p:cNvPr id="23" name="supervisor-down">
            <a:extLst xmlns:a="http://schemas.openxmlformats.org/drawingml/2006/main">
              <a:ext uri="{FF2B5EF4-FFF2-40B4-BE49-F238E27FC236}">
                <a16:creationId xmlns:a16="http://schemas.microsoft.com/office/drawing/2014/main" id="{C3D2D85B-29B6-4B44-9DC8-9DDB6F2E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438525"/>
            <a:ext cx="14288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4" name="agent-bus">
            <a:extLst xmlns:a="http://schemas.openxmlformats.org/drawingml/2006/main">
              <a:ext uri="{FF2B5EF4-FFF2-40B4-BE49-F238E27FC236}">
                <a16:creationId xmlns:a16="http://schemas.microsoft.com/office/drawing/2014/main" id="{A4C86847-26E0-4C81-B303-19668AF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9975"/>
            <a:ext cx="295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5" name="branch-1150">
            <a:extLst xmlns:a="http://schemas.openxmlformats.org/drawingml/2006/main">
              <a:ext uri="{FF2B5EF4-FFF2-40B4-BE49-F238E27FC236}">
                <a16:creationId xmlns:a16="http://schemas.microsoft.com/office/drawing/2014/main" id="{23CA3993-33C5-4697-9DFB-466B7E35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9975"/>
            <a:ext cx="142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6" name="branch-1305">
            <a:extLst xmlns:a="http://schemas.openxmlformats.org/drawingml/2006/main">
              <a:ext uri="{FF2B5EF4-FFF2-40B4-BE49-F238E27FC236}">
                <a16:creationId xmlns:a16="http://schemas.microsoft.com/office/drawing/2014/main" id="{CD1B7712-1380-4683-9F43-4951DEAB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609975"/>
            <a:ext cx="142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7" name="branch-1460">
            <a:extLst xmlns:a="http://schemas.openxmlformats.org/drawingml/2006/main">
              <a:ext uri="{FF2B5EF4-FFF2-40B4-BE49-F238E27FC236}">
                <a16:creationId xmlns:a16="http://schemas.microsoft.com/office/drawing/2014/main" id="{16130296-64CD-4FEE-AC42-66928C6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609975"/>
            <a:ext cx="142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8" name="retrieval-agent-box">
            <a:extLst xmlns:a="http://schemas.openxmlformats.org/drawingml/2006/main">
              <a:ext uri="{FF2B5EF4-FFF2-40B4-BE49-F238E27FC236}">
                <a16:creationId xmlns:a16="http://schemas.microsoft.com/office/drawing/2014/main" id="{99682E6C-6EB0-404E-BFF3-2B300FC7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762375"/>
            <a:ext cx="13906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0">
            <a:noFill/>
          </a:ln>
        </p:spPr>
      </p:sp>
      <p:sp>
        <p:nvSpPr>
          <p:cNvPr id="29" name="retrieval-agent">
            <a:extLst xmlns:a="http://schemas.openxmlformats.org/drawingml/2006/main">
              <a:ext uri="{FF2B5EF4-FFF2-40B4-BE49-F238E27FC236}">
                <a16:creationId xmlns:a16="http://schemas.microsoft.com/office/drawing/2014/main" id="{15966B96-815B-4D26-9945-0E0C2126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8385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检索Agent</a:t>
            </a:r>
          </a:p>
        </p:txBody>
      </p:sp>
      <p:sp>
        <p:nvSpPr>
          <p:cNvPr id="30" name="analytics-agent-box">
            <a:extLst xmlns:a="http://schemas.openxmlformats.org/drawingml/2006/main">
              <a:ext uri="{FF2B5EF4-FFF2-40B4-BE49-F238E27FC236}">
                <a16:creationId xmlns:a16="http://schemas.microsoft.com/office/drawing/2014/main" id="{98873823-D620-45C2-9CC6-461DF740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762375"/>
            <a:ext cx="13906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0">
            <a:noFill/>
          </a:ln>
        </p:spPr>
      </p:sp>
      <p:sp>
        <p:nvSpPr>
          <p:cNvPr id="31" name="analytics-agent">
            <a:extLst xmlns:a="http://schemas.openxmlformats.org/drawingml/2006/main">
              <a:ext uri="{FF2B5EF4-FFF2-40B4-BE49-F238E27FC236}">
                <a16:creationId xmlns:a16="http://schemas.microsoft.com/office/drawing/2014/main" id="{8A8EA766-838C-4564-A572-963002B2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8385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分析Agent</a:t>
            </a:r>
          </a:p>
        </p:txBody>
      </p:sp>
      <p:sp>
        <p:nvSpPr>
          <p:cNvPr id="32" name="review-agent-box">
            <a:extLst xmlns:a="http://schemas.openxmlformats.org/drawingml/2006/main">
              <a:ext uri="{FF2B5EF4-FFF2-40B4-BE49-F238E27FC236}">
                <a16:creationId xmlns:a16="http://schemas.microsoft.com/office/drawing/2014/main" id="{A49CF5B4-C4F5-436B-80A9-C6BD0F4A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3762375"/>
            <a:ext cx="1485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0">
            <a:noFill/>
          </a:ln>
        </p:spPr>
      </p:sp>
      <p:sp>
        <p:nvSpPr>
          <p:cNvPr id="33" name="review-agent">
            <a:extLst xmlns:a="http://schemas.openxmlformats.org/drawingml/2006/main">
              <a:ext uri="{FF2B5EF4-FFF2-40B4-BE49-F238E27FC236}">
                <a16:creationId xmlns:a16="http://schemas.microsoft.com/office/drawing/2014/main" id="{B83C12BB-D54B-421B-80FD-A07AF2A0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3838575"/>
            <a:ext cx="133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审核Agent</a:t>
            </a:r>
          </a:p>
        </p:txBody>
      </p:sp>
      <p:sp>
        <p:nvSpPr>
          <p:cNvPr id="34" name="scenario-tools">
            <a:extLst xmlns:a="http://schemas.openxmlformats.org/drawingml/2006/main">
              <a:ext uri="{FF2B5EF4-FFF2-40B4-BE49-F238E27FC236}">
                <a16:creationId xmlns:a16="http://schemas.microsoft.com/office/drawing/2014/main" id="{27F7F7E3-8BE8-4265-B67F-8244989B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38625"/>
            <a:ext cx="442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知识库／文档          SQL／计算          规则／审批</a:t>
            </a:r>
          </a:p>
        </p:txBody>
      </p:sp>
      <p:sp>
        <p:nvSpPr>
          <p:cNvPr id="35" name="scenario-events">
            <a:extLst xmlns:a="http://schemas.openxmlformats.org/drawingml/2006/main">
              <a:ext uri="{FF2B5EF4-FFF2-40B4-BE49-F238E27FC236}">
                <a16:creationId xmlns:a16="http://schemas.microsoft.com/office/drawing/2014/main" id="{CFDB7CA4-2E55-4083-A6EA-18A6A43C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533900"/>
            <a:ext cx="443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轨迹记录分支调用、任务交接、重试与结果</a:t>
            </a:r>
          </a:p>
        </p:txBody>
      </p:sp>
      <p:sp>
        <p:nvSpPr>
          <p:cNvPr id="36" name="agent-growth">
            <a:extLst xmlns:a="http://schemas.openxmlformats.org/drawingml/2006/main">
              <a:ext uri="{FF2B5EF4-FFF2-40B4-BE49-F238E27FC236}">
                <a16:creationId xmlns:a16="http://schemas.microsoft.com/office/drawing/2014/main" id="{BD5CDAEE-71EB-4BE2-99FF-28171C76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577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E543A"/>
                </a:solidFill>
                <a:latin typeface="Microsoft YaHei"/>
                <a:ea typeface="Microsoft YaHei"/>
                <a:cs typeface="Microsoft YaHei"/>
              </a:rPr>
              <a:t>+327%</a:t>
            </a:r>
          </a:p>
        </p:txBody>
      </p:sp>
      <p:sp>
        <p:nvSpPr>
          <p:cNvPr id="37" name="agent-growth-scope">
            <a:extLst xmlns:a="http://schemas.openxmlformats.org/drawingml/2006/main">
              <a:ext uri="{FF2B5EF4-FFF2-40B4-BE49-F238E27FC236}">
                <a16:creationId xmlns:a16="http://schemas.microsoft.com/office/drawing/2014/main" id="{AE9EE422-7589-445B-BC16-AB702DB4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95850"/>
            <a:ext cx="2895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3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3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多Agent工作流，不足4个月</a:t>
            </a:r>
          </a:p>
          <a:p xmlns:a="http://schemas.openxmlformats.org/drawingml/2006/main">
            <a:pPr>
              <a:defRPr sz="123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Databricks 2026报告，平台口径 [Q3]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C17568-EE63-46B3-9C78-9C40A40CF8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eef1e5dc54807"/>
          <a:stretch xmlns:a="http://schemas.openxmlformats.org/drawingml/2006/main"/>
        </p:blipFill>
        <p:spPr>
          <a:xfrm xmlns:a="http://schemas.openxmlformats.org/drawingml/2006/main">
            <a:off x="738188" y="504825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39" name="multimodal-data">
            <a:extLst xmlns:a="http://schemas.openxmlformats.org/drawingml/2006/main">
              <a:ext uri="{FF2B5EF4-FFF2-40B4-BE49-F238E27FC236}">
                <a16:creationId xmlns:a16="http://schemas.microsoft.com/office/drawing/2014/main" id="{B4B20103-B9E1-410A-94A6-93BD8F7F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14925"/>
            <a:ext cx="295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文档、图像与音视频</a:t>
            </a:r>
          </a:p>
          <a:p xmlns:a="http://schemas.openxmlformats.org/drawingml/2006/main">
            <a:pPr>
              <a:def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产生片段、向量与实体</a:t>
            </a:r>
          </a:p>
          <a:p xmlns:a="http://schemas.openxmlformats.org/drawingml/2006/main">
            <a:pPr>
              <a:def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需关联来源和业务含义</a:t>
            </a:r>
          </a:p>
        </p:txBody>
      </p:sp>
      <p:sp>
        <p:nvSpPr>
          <p:cNvPr id="40" name="multimodal-attribution">
            <a:extLst xmlns:a="http://schemas.openxmlformats.org/drawingml/2006/main">
              <a:ext uri="{FF2B5EF4-FFF2-40B4-BE49-F238E27FC236}">
                <a16:creationId xmlns:a16="http://schemas.microsoft.com/office/drawing/2014/main" id="{B7D8E51F-0B7E-436A-9E43-2E488D27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531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Snowflake官方示例，非客户数据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86FCBE-488B-4FDE-A022-52A52931A3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edbb77f4a44de"/>
          <a:stretch xmlns:a="http://schemas.openxmlformats.org/drawingml/2006/main"/>
        </p:blipFill>
        <p:spPr>
          <a:xfrm xmlns:a="http://schemas.openxmlformats.org/drawingml/2006/main">
            <a:off x="5472261" y="5048250"/>
            <a:ext cx="2085679" cy="1076325"/>
          </a:xfrm>
          <a:prstGeom xmlns:a="http://schemas.openxmlformats.org/drawingml/2006/main" prst="rect">
            <a:avLst/>
          </a:prstGeom>
        </p:spPr>
      </p:pic>
      <p:sp>
        <p:nvSpPr>
          <p:cNvPr id="42" name="realtime-data">
            <a:extLst xmlns:a="http://schemas.openxmlformats.org/drawingml/2006/main">
              <a:ext uri="{FF2B5EF4-FFF2-40B4-BE49-F238E27FC236}">
                <a16:creationId xmlns:a16="http://schemas.microsoft.com/office/drawing/2014/main" id="{F82406B3-4F2F-4292-8024-787B91AE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14925"/>
            <a:ext cx="22574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业务事件、CDC与特征</a:t>
            </a:r>
          </a:p>
          <a:p xmlns:a="http://schemas.openxmlformats.org/drawingml/2006/main">
            <a: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持续更新在线状态</a:t>
            </a:r>
          </a:p>
          <a:p xmlns:a="http://schemas.openxmlformats.org/drawingml/2006/main">
            <a:pPr>
              <a:def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支持实时业务响应</a:t>
            </a:r>
          </a:p>
        </p:txBody>
      </p:sp>
      <p:sp>
        <p:nvSpPr>
          <p:cNvPr id="43" name="zerobus-attribution">
            <a:extLst xmlns:a="http://schemas.openxmlformats.org/drawingml/2006/main">
              <a:ext uri="{FF2B5EF4-FFF2-40B4-BE49-F238E27FC236}">
                <a16:creationId xmlns:a16="http://schemas.microsoft.com/office/drawing/2014/main" id="{89DB111F-A1AF-4796-9648-4A6593D6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153150"/>
            <a:ext cx="455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Databricks Zerobus官方架构示意（局部）</a:t>
            </a:r>
          </a:p>
        </p:txBody>
      </p:sp>
      <p:sp>
        <p:nvSpPr>
          <p:cNvPr id="44" name="trace-components-title">
            <a:extLst xmlns:a="http://schemas.openxmlformats.org/drawingml/2006/main">
              <a:ext uri="{FF2B5EF4-FFF2-40B4-BE49-F238E27FC236}">
                <a16:creationId xmlns:a16="http://schemas.microsoft.com/office/drawing/2014/main" id="{C3E35969-23AC-499A-B617-6CAC3D2A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5334000"/>
            <a:ext cx="443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数据成分：事件、内容与反馈关联</a:t>
            </a:r>
          </a:p>
        </p:txBody>
      </p:sp>
      <p:sp>
        <p:nvSpPr>
          <p:cNvPr id="45" name="trace-components">
            <a:extLst xmlns:a="http://schemas.openxmlformats.org/drawingml/2006/main">
              <a:ext uri="{FF2B5EF4-FFF2-40B4-BE49-F238E27FC236}">
                <a16:creationId xmlns:a16="http://schemas.microsoft.com/office/drawing/2014/main" id="{2A8306F4-60BA-414B-9277-B67F405E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5648325"/>
            <a:ext cx="4438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38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38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结构化：Span事件、工具JSON、状态与评分</a:t>
            </a:r>
          </a:p>
          <a:p xmlns:a="http://schemas.openxmlformats.org/drawingml/2006/main">
            <a:pPr>
              <a:defRPr sz="1538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内容：对话文本、文档、图像及音视频引用</a:t>
            </a:r>
          </a:p>
          <a:p xmlns:a="http://schemas.openxmlformats.org/drawingml/2006/main">
            <a:pPr>
              <a:defRPr sz="1538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关联：任务／会话／调用ID，身份与权限</a:t>
            </a:r>
          </a:p>
        </p:txBody>
      </p:sp>
      <p:sp>
        <p:nvSpPr>
          <p:cNvPr id="46" name="multi-capabilities">
            <a:extLst xmlns:a="http://schemas.openxmlformats.org/drawingml/2006/main">
              <a:ext uri="{FF2B5EF4-FFF2-40B4-BE49-F238E27FC236}">
                <a16:creationId xmlns:a16="http://schemas.microsoft.com/office/drawing/2014/main" id="{976265AC-8FB7-4D75-8F80-61986831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67475"/>
            <a:ext cx="4572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竞品：AI Functions／Cortex多模态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能力：内容解析与跨模态检索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来源标记、权限与派生数据关联</a:t>
            </a:r>
          </a:p>
        </p:txBody>
      </p:sp>
      <p:sp>
        <p:nvSpPr>
          <p:cNvPr id="47" name="real-capabilities">
            <a:extLst xmlns:a="http://schemas.openxmlformats.org/drawingml/2006/main">
              <a:ext uri="{FF2B5EF4-FFF2-40B4-BE49-F238E27FC236}">
                <a16:creationId xmlns:a16="http://schemas.microsoft.com/office/drawing/2014/main" id="{D6D858F6-35DE-4BE2-9121-E6DA9DDA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467475"/>
            <a:ext cx="4581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竞品：RTM／Lakebase／Snowpipe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能力：流批协同、在线状态</a:t>
            </a:r>
          </a:p>
          <a:p xmlns:a="http://schemas.openxmlformats.org/drawingml/2006/main">
            <a:pPr>
              <a:def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8" b="0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兼顾新鲜度、响应延迟与成本</a:t>
            </a:r>
          </a:p>
        </p:txBody>
      </p:sp>
      <p:sp>
        <p:nvSpPr>
          <p:cNvPr id="48" name="agent-protocol-title">
            <a:extLst xmlns:a="http://schemas.openxmlformats.org/drawingml/2006/main">
              <a:ext uri="{FF2B5EF4-FFF2-40B4-BE49-F238E27FC236}">
                <a16:creationId xmlns:a16="http://schemas.microsoft.com/office/drawing/2014/main" id="{A6A00028-DD4C-436F-9EF7-BF6F3F4D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334125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2E45"/>
                </a:solidFill>
                <a:latin typeface="Microsoft YaHei"/>
                <a:ea typeface="Microsoft YaHei"/>
                <a:cs typeface="Microsoft YaHei"/>
              </a:rPr>
              <a:t>协议演进：互通与观测语义协同</a:t>
            </a:r>
          </a:p>
        </p:txBody>
      </p:sp>
      <p:sp>
        <p:nvSpPr>
          <p:cNvPr id="49" name="agent-protocol-body">
            <a:extLst xmlns:a="http://schemas.openxmlformats.org/drawingml/2006/main">
              <a:ext uri="{FF2B5EF4-FFF2-40B4-BE49-F238E27FC236}">
                <a16:creationId xmlns:a16="http://schemas.microsoft.com/office/drawing/2014/main" id="{76D16BFA-DDF9-4B17-92C0-253F113E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66484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63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63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MCP连接工具，A2A支持跨Agent任务协作</a:t>
            </a:r>
          </a:p>
          <a:p xmlns:a="http://schemas.openxmlformats.org/drawingml/2006/main">
            <a:pPr>
              <a:defRPr sz="1463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OTel GenAI扩至记忆与评测，仍在开发</a:t>
            </a:r>
          </a:p>
          <a:p xmlns:a="http://schemas.openxmlformats.org/drawingml/2006/main">
            <a:pPr>
              <a:defRPr sz="1463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63" b="0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2027重点：异步任务、委托授权、语义适配</a:t>
            </a:r>
          </a:p>
        </p:txBody>
      </p:sp>
      <p:sp>
        <p:nvSpPr>
          <p:cNvPr id="50" name="institution-band">
            <a:extLst xmlns:a="http://schemas.openxmlformats.org/drawingml/2006/main">
              <a:ext uri="{FF2B5EF4-FFF2-40B4-BE49-F238E27FC236}">
                <a16:creationId xmlns:a16="http://schemas.microsoft.com/office/drawing/2014/main" id="{02BD7402-FA28-466C-A781-6F4D4862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381875"/>
            <a:ext cx="1419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0">
            <a:noFill/>
          </a:ln>
        </p:spPr>
      </p:sp>
      <p:sp>
        <p:nvSpPr>
          <p:cNvPr id="51" name="forrester">
            <a:extLst xmlns:a="http://schemas.openxmlformats.org/drawingml/2006/main">
              <a:ext uri="{FF2B5EF4-FFF2-40B4-BE49-F238E27FC236}">
                <a16:creationId xmlns:a16="http://schemas.microsoft.com/office/drawing/2014/main" id="{F3702E70-E5DD-4DAE-AE9C-BBCCF55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439025"/>
            <a:ext cx="7324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Forrester：业务语义、实时上下文与治理 [R1]</a:t>
            </a:r>
          </a:p>
        </p:txBody>
      </p:sp>
      <p:sp>
        <p:nvSpPr>
          <p:cNvPr id="52" name="gartner">
            <a:extLst xmlns:a="http://schemas.openxmlformats.org/drawingml/2006/main">
              <a:ext uri="{FF2B5EF4-FFF2-40B4-BE49-F238E27FC236}">
                <a16:creationId xmlns:a16="http://schemas.microsoft.com/office/drawing/2014/main" id="{614C8705-4DC8-4148-9A15-022E08C5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39025"/>
            <a:ext cx="633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94351"/>
                </a:solidFill>
                <a:latin typeface="Microsoft YaHei"/>
                <a:ea typeface="Microsoft YaHei"/>
                <a:cs typeface="Microsoft YaHei"/>
              </a:rPr>
              <a:t>Gartner：Agent治理、安全与FinOps [R2]</a:t>
            </a:r>
          </a:p>
        </p:txBody>
      </p:sp>
      <p:sp>
        <p:nvSpPr>
          <p:cNvPr id="53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298BDF95-3FB6-45D1-8EF0-C555644B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58125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E45"/>
          </a:solidFill>
          <a:ln xmlns:a="http://schemas.openxmlformats.org/drawingml/2006/main" w="0">
            <a:noFill/>
          </a:ln>
        </p:spPr>
      </p:sp>
      <p:sp>
        <p:nvSpPr>
          <p:cNvPr id="54" name="recommendation-text">
            <a:extLst xmlns:a="http://schemas.openxmlformats.org/drawingml/2006/main">
              <a:ext uri="{FF2B5EF4-FFF2-40B4-BE49-F238E27FC236}">
                <a16:creationId xmlns:a16="http://schemas.microsoft.com/office/drawing/2014/main" id="{B1BE60A3-6D8B-4917-9CE7-1CCD9126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53375"/>
            <a:ext cx="1388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2027建设方向（研判）：多模态与实时统一处理　　业务语义与权限上下文　　跨框架轨迹与业务结果联评</a:t>
            </a:r>
          </a:p>
        </p:txBody>
      </p:sp>
      <p:sp>
        <p:nvSpPr>
          <p:cNvPr id="55" name="footnote">
            <a:extLst xmlns:a="http://schemas.openxmlformats.org/drawingml/2006/main">
              <a:ext uri="{FF2B5EF4-FFF2-40B4-BE49-F238E27FC236}">
                <a16:creationId xmlns:a16="http://schemas.microsoft.com/office/drawing/2014/main" id="{91F7BF59-7F9D-41C5-AB46-E31F3DC0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334375"/>
            <a:ext cx="14173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627986"/>
                </a:solidFill>
                <a:latin typeface="Microsoft YaHei"/>
                <a:ea typeface="Microsoft YaHei"/>
                <a:cs typeface="Microsoft YaHei"/>
              </a:rPr>
              <a:t>Q1：Google官方披露　Q2：Coinbase／Databricks案例　Q3：Databricks 2026报告。多Agent图为场景示意，统计口径与来源见备注。</a:t>
            </a:r>
          </a:p>
        </p:txBody>
      </p:sp>
    </p:spTree>
    <p:extLst>
      <p:ext uri="{BB962C8B-B14F-4D97-AF65-F5344CB8AC3E}">
        <p14:creationId xmlns:p14="http://schemas.microsoft.com/office/powerpoint/2010/main" val="2047284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2026-10-13T13:34:20.5020000Z</dcterms:created>
  <dcterms:modified xsi:type="dcterms:W3CDTF">2026-10-13T13:34:20.5030000Z</dcterms:modified>
</coreProperties>
</file>