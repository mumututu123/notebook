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3814cc3654cd5" /><Relationship Type="http://schemas.openxmlformats.org/officeDocument/2006/relationships/extended-properties" Target="/docProps/app.xml" Id="R916ebcd8293e40cc" /><Relationship Type="http://schemas.openxmlformats.org/officeDocument/2006/relationships/officeDocument" Target="/ppt/presentation.xml" Id="R897ac16248a0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739d39c0e54579"/>
  </p:sldMasterIdLst>
  <p:notesMasterIdLst>
    <p:notesMasterId xmlns:r="http://schemas.openxmlformats.org/officeDocument/2006/relationships" r:id="R01749001c5324566"/>
  </p:notesMasterIdLst>
  <p:sldIdLst>
    <p:sldId xmlns:r="http://schemas.openxmlformats.org/officeDocument/2006/relationships" id="256" r:id="Ree7a336805bc4ecc"/>
    <p:sldId xmlns:r="http://schemas.openxmlformats.org/officeDocument/2006/relationships" id="257" r:id="R7014082ec50240c9"/>
    <p:sldId xmlns:r="http://schemas.openxmlformats.org/officeDocument/2006/relationships" id="258" r:id="R1673094ecb124859"/>
    <p:sldId xmlns:r="http://schemas.openxmlformats.org/officeDocument/2006/relationships" id="259" r:id="R30d0d6177c3c4296"/>
    <p:sldId xmlns:r="http://schemas.openxmlformats.org/officeDocument/2006/relationships" id="260" r:id="R3d3dac55ac814b55"/>
    <p:sldId xmlns:r="http://schemas.openxmlformats.org/officeDocument/2006/relationships" id="261" r:id="R054db299e0174800"/>
    <p:sldId xmlns:r="http://schemas.openxmlformats.org/officeDocument/2006/relationships" id="262" r:id="Rd9266851016941c1"/>
    <p:sldId xmlns:r="http://schemas.openxmlformats.org/officeDocument/2006/relationships" id="263" r:id="R4c6b7c7faa314414"/>
    <p:sldId xmlns:r="http://schemas.openxmlformats.org/officeDocument/2006/relationships" id="264" r:id="R84fe25432ae546f7"/>
    <p:sldId xmlns:r="http://schemas.openxmlformats.org/officeDocument/2006/relationships" id="265" r:id="Rf437bdcf6d1d4e54"/>
    <p:sldId xmlns:r="http://schemas.openxmlformats.org/officeDocument/2006/relationships" id="266" r:id="R098c019341764826"/>
    <p:sldId xmlns:r="http://schemas.openxmlformats.org/officeDocument/2006/relationships" id="267" r:id="R56dd2723425f4ca8"/>
    <p:sldId xmlns:r="http://schemas.openxmlformats.org/officeDocument/2006/relationships" id="268" r:id="R0be7326d564c4592"/>
    <p:sldId xmlns:r="http://schemas.openxmlformats.org/officeDocument/2006/relationships" id="269" r:id="Rc01492fcbe4642c8"/>
    <p:sldId xmlns:r="http://schemas.openxmlformats.org/officeDocument/2006/relationships" id="270" r:id="Rd3431a98e8824cbc"/>
    <p:sldId xmlns:r="http://schemas.openxmlformats.org/officeDocument/2006/relationships" id="271" r:id="R8725e11e64ae4149"/>
    <p:sldId xmlns:r="http://schemas.openxmlformats.org/officeDocument/2006/relationships" id="272" r:id="R585a33b178f84436"/>
    <p:sldId xmlns:r="http://schemas.openxmlformats.org/officeDocument/2006/relationships" id="273" r:id="Rcac783a3409948c8"/>
    <p:sldId xmlns:r="http://schemas.openxmlformats.org/officeDocument/2006/relationships" id="274" r:id="Rc91f4df4a2ac48e4"/>
    <p:sldId xmlns:r="http://schemas.openxmlformats.org/officeDocument/2006/relationships" id="275" r:id="R9aa689bb52c2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f9aeaa263d4035" /><Relationship Type="http://schemas.openxmlformats.org/officeDocument/2006/relationships/slideMaster" Target="/ppt/slideMasters/slideMaster1.xml" Id="Re0739d39c0e54579" /><Relationship Type="http://schemas.openxmlformats.org/officeDocument/2006/relationships/notesMaster" Target="/ppt/notesMasters/notesMaster1.xml" Id="R01749001c5324566" /><Relationship Type="http://schemas.openxmlformats.org/officeDocument/2006/relationships/presProps" Target="/ppt/presProps.xml" Id="R045de0ab94614872" /><Relationship Type="http://schemas.openxmlformats.org/officeDocument/2006/relationships/tableStyles" Target="/ppt/tableStyles.xml" Id="Rb73ef0c642664cde" /><Relationship Type="http://schemas.openxmlformats.org/officeDocument/2006/relationships/slide" Target="/ppt/slides/slide1.xml" Id="Ree7a336805bc4ecc" /><Relationship Type="http://schemas.openxmlformats.org/officeDocument/2006/relationships/slide" Target="/ppt/slides/slide2.xml" Id="R7014082ec50240c9" /><Relationship Type="http://schemas.openxmlformats.org/officeDocument/2006/relationships/slide" Target="/ppt/slides/slide3.xml" Id="R1673094ecb124859" /><Relationship Type="http://schemas.openxmlformats.org/officeDocument/2006/relationships/slide" Target="/ppt/slides/slide4.xml" Id="R30d0d6177c3c4296" /><Relationship Type="http://schemas.openxmlformats.org/officeDocument/2006/relationships/slide" Target="/ppt/slides/slide5.xml" Id="R3d3dac55ac814b55" /><Relationship Type="http://schemas.openxmlformats.org/officeDocument/2006/relationships/slide" Target="/ppt/slides/slide6.xml" Id="R054db299e0174800" /><Relationship Type="http://schemas.openxmlformats.org/officeDocument/2006/relationships/slide" Target="/ppt/slides/slide7.xml" Id="Rd9266851016941c1" /><Relationship Type="http://schemas.openxmlformats.org/officeDocument/2006/relationships/slide" Target="/ppt/slides/slide8.xml" Id="R4c6b7c7faa314414" /><Relationship Type="http://schemas.openxmlformats.org/officeDocument/2006/relationships/slide" Target="/ppt/slides/slide9.xml" Id="R84fe25432ae546f7" /><Relationship Type="http://schemas.openxmlformats.org/officeDocument/2006/relationships/slide" Target="/ppt/slides/slide10.xml" Id="Rf437bdcf6d1d4e54" /><Relationship Type="http://schemas.openxmlformats.org/officeDocument/2006/relationships/slide" Target="/ppt/slides/slide11.xml" Id="R098c019341764826" /><Relationship Type="http://schemas.openxmlformats.org/officeDocument/2006/relationships/slide" Target="/ppt/slides/slide12.xml" Id="R56dd2723425f4ca8" /><Relationship Type="http://schemas.openxmlformats.org/officeDocument/2006/relationships/slide" Target="/ppt/slides/slide13.xml" Id="R0be7326d564c4592" /><Relationship Type="http://schemas.openxmlformats.org/officeDocument/2006/relationships/slide" Target="/ppt/slides/slide14.xml" Id="Rc01492fcbe4642c8" /><Relationship Type="http://schemas.openxmlformats.org/officeDocument/2006/relationships/slide" Target="/ppt/slides/slide15.xml" Id="Rd3431a98e8824cbc" /><Relationship Type="http://schemas.openxmlformats.org/officeDocument/2006/relationships/slide" Target="/ppt/slides/slide16.xml" Id="R8725e11e64ae4149" /><Relationship Type="http://schemas.openxmlformats.org/officeDocument/2006/relationships/slide" Target="/ppt/slides/slide17.xml" Id="R585a33b178f84436" /><Relationship Type="http://schemas.openxmlformats.org/officeDocument/2006/relationships/slide" Target="/ppt/slides/slide18.xml" Id="Rcac783a3409948c8" /><Relationship Type="http://schemas.openxmlformats.org/officeDocument/2006/relationships/slide" Target="/ppt/slides/slide19.xml" Id="Rc91f4df4a2ac48e4" /><Relationship Type="http://schemas.openxmlformats.org/officeDocument/2006/relationships/slide" Target="/ppt/slides/slide20.xml" Id="R9aa689bb52c2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becdea7f9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8d11eb7fd34f8d" /><Relationship Type="http://schemas.openxmlformats.org/officeDocument/2006/relationships/notesMaster" Target="/ppt/notesMasters/notesMaster1.xml" Id="Rcb09aa763d0847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7eb6ebcf344a1b" /><Relationship Type="http://schemas.openxmlformats.org/officeDocument/2006/relationships/notesMaster" Target="/ppt/notesMasters/notesMaster1.xml" Id="R8448ea9270d8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9fd9bfb11b4d15" /><Relationship Type="http://schemas.openxmlformats.org/officeDocument/2006/relationships/notesMaster" Target="/ppt/notesMasters/notesMaster1.xml" Id="Red439106fd8c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675b71120c4401" /><Relationship Type="http://schemas.openxmlformats.org/officeDocument/2006/relationships/notesMaster" Target="/ppt/notesMasters/notesMaster1.xml" Id="Raad966f19fb649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87565682e84791" /><Relationship Type="http://schemas.openxmlformats.org/officeDocument/2006/relationships/notesMaster" Target="/ppt/notesMasters/notesMaster1.xml" Id="R10a210e9af694e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db27f02b134093" /><Relationship Type="http://schemas.openxmlformats.org/officeDocument/2006/relationships/notesMaster" Target="/ppt/notesMasters/notesMaster1.xml" Id="Rd6096971ef0c4a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965d6756d54232" /><Relationship Type="http://schemas.openxmlformats.org/officeDocument/2006/relationships/notesMaster" Target="/ppt/notesMasters/notesMaster1.xml" Id="R2e1481f23d0041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3e84efb5e04091" /><Relationship Type="http://schemas.openxmlformats.org/officeDocument/2006/relationships/notesMaster" Target="/ppt/notesMasters/notesMaster1.xml" Id="Rba000baf92de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77439626d94864" /><Relationship Type="http://schemas.openxmlformats.org/officeDocument/2006/relationships/notesMaster" Target="/ppt/notesMasters/notesMaster1.xml" Id="R3847c5f4e86649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651a98e7f84396" /><Relationship Type="http://schemas.openxmlformats.org/officeDocument/2006/relationships/notesMaster" Target="/ppt/notesMasters/notesMaster1.xml" Id="R7293725bb591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53d55cefd041e6" /><Relationship Type="http://schemas.openxmlformats.org/officeDocument/2006/relationships/notesMaster" Target="/ppt/notesMasters/notesMaster1.xml" Id="R32557eb4ddf54f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e57f0d39ba4c74" /><Relationship Type="http://schemas.openxmlformats.org/officeDocument/2006/relationships/notesMaster" Target="/ppt/notesMasters/notesMaster1.xml" Id="R3f06ef3fe28e4d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0f3909774c4c29" /><Relationship Type="http://schemas.openxmlformats.org/officeDocument/2006/relationships/notesMaster" Target="/ppt/notesMasters/notesMaster1.xml" Id="Ra0242e7cf7d34b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2b0f8baff949b8" /><Relationship Type="http://schemas.openxmlformats.org/officeDocument/2006/relationships/notesMaster" Target="/ppt/notesMasters/notesMaster1.xml" Id="Rb6e45f26e2d944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8f11f555ea4852" /><Relationship Type="http://schemas.openxmlformats.org/officeDocument/2006/relationships/notesMaster" Target="/ppt/notesMasters/notesMaster1.xml" Id="Rf0c0d39ce6f94b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fd0995814244ab" /><Relationship Type="http://schemas.openxmlformats.org/officeDocument/2006/relationships/notesMaster" Target="/ppt/notesMasters/notesMaster1.xml" Id="Rbdd060382f3c48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0f4d67274d481b" /><Relationship Type="http://schemas.openxmlformats.org/officeDocument/2006/relationships/notesMaster" Target="/ppt/notesMasters/notesMaster1.xml" Id="R2e8dbab262384d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7f2ef47a8c4034" /><Relationship Type="http://schemas.openxmlformats.org/officeDocument/2006/relationships/notesMaster" Target="/ppt/notesMasters/notesMaster1.xml" Id="Raede736b63bd4b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089182bcd4433d" /><Relationship Type="http://schemas.openxmlformats.org/officeDocument/2006/relationships/notesMaster" Target="/ppt/notesMasters/notesMaster1.xml" Id="R945cbd144f894c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416a8e7b734e17" /><Relationship Type="http://schemas.openxmlformats.org/officeDocument/2006/relationships/notesMaster" Target="/ppt/notesMasters/notesMaster1.xml" Id="Raa751c2c031d4e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规划依据：用户提供的现状与前述讨论。面向技术规划评审，采用累计一亿条轨迹作为容量推演口径。Harbor 开源框架参考 v0.23.0。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 优先级为建议。如果某种模态已进入生产，其治理与交付能力需纳入首期。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参考：https://docs.ray.io/en/latest/data/api/doc/ray.data.read_iceberg.html</a:t>
            </a:r>
          </a:p>
          <a:p xmlns:a="http://schemas.openxmlformats.org/drawingml/2006/main">
            <a:r>
              <a:t>https://docs.starrocks.io/docs/data_source/catalog/iceberg/</a:t>
            </a:r>
          </a:p>
          <a:p xmlns:a="http://schemas.openxmlformats.org/drawingml/2006/main">
            <a:r>
              <a:t>实际兼容性需按企业部署版本验证。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ATIF session_id 是运行范围标识，可由多个轨迹文档共享。平台需自有全局唯一轨迹标识。</a:t>
            </a:r>
          </a:p>
          <a:p xmlns:a="http://schemas.openxmlformats.org/drawingml/2006/main">
            <a:r>
              <a:t>https://github.com/harbor-framework/harbor/blob/v0.23.0/rfcs/0001-trajectory-format.md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https://github.com/harbor-framework/harbor/blob/v0.23.0/rfcs/0001-trajectory-format.md</a:t>
            </a:r>
          </a:p>
          <a:p xmlns:a="http://schemas.openxmlformats.org/drawingml/2006/main">
            <a:r>
              <a:t>https://github.com/harbor-framework/harbor/blob/v0.23.0/src/harbor/models/trajectories/content.py</a:t>
            </a:r>
          </a:p>
          <a:p xmlns:a="http://schemas.openxmlformats.org/drawingml/2006/main">
            <a:r>
              <a:t>https://github.com/harbor-framework/harbor/blob/v0.23.0/src/harbor/utils/traces_utils.py</a:t>
            </a:r>
          </a:p>
          <a:p xmlns:a="http://schemas.openxmlformats.org/drawingml/2006/main">
            <a:r>
              <a:t>ATIF 当前内容类型为 text、image、audio。视频扩展为平台规划。官方文本导出器检测多模态会抛出 MultimodalExportError。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中文 PII 检测及企业敏感类型需要金标样本校准。风险审查可在脱敏前受控查看必要原始上下文，普通审查优先使用脱敏副本。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Iceberg 快照为表级机制。跨表与外部对象的一致发布需要平台实现。固定的快照、资产和规则需与保留及删除策略协调。</a:t>
            </a:r>
          </a:p>
          <a:p xmlns:a="http://schemas.openxmlformats.org/drawingml/2006/main">
            <a:r>
              <a:t>https://iceberg.apache.org/docs/latest/branching/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https://github.com/harbor-framework/harbor/blob/v0.23.0/docs/content/docs/tasks/index.mdx</a:t>
            </a:r>
          </a:p>
          <a:p xmlns:a="http://schemas.openxmlformats.org/drawingml/2006/main">
            <a:r>
              <a:t>https://github.com/harbor-framework/harbor/blob/v0.23.0/docs/content/docs/run-jobs/results-and-artifacts.mdx</a:t>
            </a:r>
          </a:p>
          <a:p xmlns:a="http://schemas.openxmlformats.org/drawingml/2006/main">
            <a:r>
              <a:t>平台需校验必需产物。Harbor 产物收集为 best-effort，采集缺失不会总是导致 trial 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https://github.com/harbor-framework/harbor/blob/v0.23.0/docs/content/docs/run-jobs/regrade.mdx</a:t>
            </a:r>
          </a:p>
          <a:p xmlns:a="http://schemas.openxmlformats.org/drawingml/2006/main">
            <a:r>
              <a:t>https://github.com/harbor-framework/harbor/blob/v0.23.0/docs/content/docs/tasks/index.mdx</a:t>
            </a:r>
          </a:p>
          <a:p xmlns:a="http://schemas.openxmlformats.org/drawingml/2006/main">
            <a:r>
              <a:t>历史轨迹评分可由平台批处理实现，环境评测及 regrade 使用 Harbor。建议评测成功率附样本量与不确定性，避免把单次波动解释为能力变化。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https://github.com/harbor-framework/harbor/blob/v0.23.0/docs/content/docs/training-workflows/sft.mdx</a:t>
            </a:r>
          </a:p>
          <a:p xmlns:a="http://schemas.openxmlformats.org/drawingml/2006/main">
            <a:r>
              <a:t>https://github.com/harbor-framework/harbor/blob/v0.23.0/docs/content/docs/training-workflows/rl.mdx</a:t>
            </a:r>
          </a:p>
          <a:p xmlns:a="http://schemas.openxmlformats.org/drawingml/2006/main">
            <a:r>
              <a:t>https://github.com/harbor-framework/harbor/blob/v0.23.0/src/harbor/utils/traces_utils.py</a:t>
            </a:r>
          </a:p>
          <a:p xmlns:a="http://schemas.openxmlformats.org/drawingml/2006/main">
            <a:r>
              <a:t>历史轨迹缺失的 token、mask、策略版本等信息不能假定事后可准确补齐。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示意轨迹用于解释分析路径，不代表真实评测结果。线上采集与脱敏视图需按权限隔离。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假设：累计 1 亿轨迹，每条 50 步，每步 2 KB（十进制）。结构化逻辑量 1e8*50*2000=10 TB。20% 轨迹各含 2 MB 媒体，媒体量 40 TB。24 小时单遍吞吐 5e9/86400≈57870 步/秒。未计副本、索引、历史、衍生资产和训练分片。GPU 资源依据实测总 GPU 秒及有效利用率计算。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表中开源产品为候选方案，需核查部署方式、企业现有版本、许可及运维适配。不存在必须同时采购或部署全部候选的要求。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0–3、3–6、6–12 个月仅为参考节奏，依赖专职团队、现有平台复用程度与接入复杂度。生产实际使用的模态治理能力必须随首期上线。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本页为基于用户现有 Spark、Ray、Iceberg、StarRocks、Superset 互通底座提出的规划建议，不表示企业已经具备新增能力。</a:t>
            </a:r>
          </a:p>
          <a:p xmlns:a="http://schemas.openxmlformats.org/drawingml/2006/main">
            <a:r>
              <a:t>指标阈值需要在基准测试后按实际 SLA 与风险容忍度确定，不能凭空承诺召回率、吞吐或成本。数据撤回需要覆盖原始、脱敏、媒体、索引、快照及导出副本。对已参与训练的数据提供模型影响血缘。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3fae7d671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01365c0c074025" /><Relationship Type="http://schemas.openxmlformats.org/officeDocument/2006/relationships/slideLayout" Target="/ppt/slideLayouts/slideLayout1.xml" Id="Rdfcc2fa6e76841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cc2fa6e76841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a009b11164189" /><Relationship Type="http://schemas.openxmlformats.org/officeDocument/2006/relationships/notesSlide" Target="/ppt/notesSlides/notesSlide1.xml" Id="Rf2a565dd37f744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7b9eabec4d02" /><Relationship Type="http://schemas.openxmlformats.org/officeDocument/2006/relationships/notesSlide" Target="/ppt/notesSlides/notesSlide2.xml" Id="R03155c2819be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7244f52c4a3c" /><Relationship Type="http://schemas.openxmlformats.org/officeDocument/2006/relationships/notesSlide" Target="/ppt/notesSlides/notesSlide3.xml" Id="R61ab37e0f2654a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43c2352fa45c1" /><Relationship Type="http://schemas.openxmlformats.org/officeDocument/2006/relationships/notesSlide" Target="/ppt/notesSlides/notesSlide4.xml" Id="R7b6b54ee6e4f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6e297342b4ebf" /><Relationship Type="http://schemas.openxmlformats.org/officeDocument/2006/relationships/notesSlide" Target="/ppt/notesSlides/notesSlide5.xml" Id="Ra68ee9fea525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d929f25194fd8" /><Relationship Type="http://schemas.openxmlformats.org/officeDocument/2006/relationships/notesSlide" Target="/ppt/notesSlides/notesSlide6.xml" Id="R09673b2b897e4d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765cbb5bd4aa5" /><Relationship Type="http://schemas.openxmlformats.org/officeDocument/2006/relationships/notesSlide" Target="/ppt/notesSlides/notesSlide7.xml" Id="Rfce71e18060b4f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971c419574b3d" /><Relationship Type="http://schemas.openxmlformats.org/officeDocument/2006/relationships/notesSlide" Target="/ppt/notesSlides/notesSlide8.xml" Id="R0f13fac434934f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f25b72a574918" /><Relationship Type="http://schemas.openxmlformats.org/officeDocument/2006/relationships/notesSlide" Target="/ppt/notesSlides/notesSlide9.xml" Id="Reb0016afda1043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4785a4ea944f2" /><Relationship Type="http://schemas.openxmlformats.org/officeDocument/2006/relationships/notesSlide" Target="/ppt/notesSlides/notesSlide10.xml" Id="R9b76548238e346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2d8a8f9643aa" /><Relationship Type="http://schemas.openxmlformats.org/officeDocument/2006/relationships/notesSlide" Target="/ppt/notesSlides/notesSlide11.xml" Id="R372ed557e5fb43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145a42d8b407b" /><Relationship Type="http://schemas.openxmlformats.org/officeDocument/2006/relationships/notesSlide" Target="/ppt/notesSlides/notesSlide12.xml" Id="R5f7cf1eb2ad243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ca7631415482d" /><Relationship Type="http://schemas.openxmlformats.org/officeDocument/2006/relationships/notesSlide" Target="/ppt/notesSlides/notesSlide13.xml" Id="Rdd9875a5fd924a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785685a7b46f5" /><Relationship Type="http://schemas.openxmlformats.org/officeDocument/2006/relationships/notesSlide" Target="/ppt/notesSlides/notesSlide14.xml" Id="R87ba6a7931fc4c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660a2fda0483d" /><Relationship Type="http://schemas.openxmlformats.org/officeDocument/2006/relationships/notesSlide" Target="/ppt/notesSlides/notesSlide15.xml" Id="R1ef2d091e96541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04d08faa64a88" /><Relationship Type="http://schemas.openxmlformats.org/officeDocument/2006/relationships/notesSlide" Target="/ppt/notesSlides/notesSlide16.xml" Id="Rf5abd22133154a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89c703e644109" /><Relationship Type="http://schemas.openxmlformats.org/officeDocument/2006/relationships/notesSlide" Target="/ppt/notesSlides/notesSlide17.xml" Id="R88b7fbd24373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c2bad3974af7" /><Relationship Type="http://schemas.openxmlformats.org/officeDocument/2006/relationships/notesSlide" Target="/ppt/notesSlides/notesSlide18.xml" Id="R485e249e6d6240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de842df84224" /><Relationship Type="http://schemas.openxmlformats.org/officeDocument/2006/relationships/notesSlide" Target="/ppt/notesSlides/notesSlide19.xml" Id="R62cc815ffd7d4a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30ca56eca43c6" /><Relationship Type="http://schemas.openxmlformats.org/officeDocument/2006/relationships/notesSlide" Target="/ppt/notesSlides/notesSlide20.xml" Id="R586b6f3079964f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938BCAA-731D-4D21-AAD6-21936107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DB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9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A45E9D-F5A5-4FE5-A189-E56F515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轨迹数据处理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与评测平台规划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C726D6-9BA8-4210-8FAB-C81866D2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8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8D9E7"/>
                </a:solidFill>
                <a:latin typeface="Microsoft YaHei"/>
                <a:ea typeface="Microsoft YaHei"/>
                <a:cs typeface="Microsoft YaHei"/>
              </a:rPr>
              <a:t>基于现有湖仓底座，建设多模态数据与 Harbor 评测闭环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C23D0-32A1-4014-A731-AA2F64D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轨迹采集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CC5F4-146C-4AF6-9E8C-D8EB8B5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9525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治理与发布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A1B0F-DE1E-4DA4-B4BE-D7D51C7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9525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Harbor 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25B89-04A5-41E7-8B19-082234D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9525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训练供给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43200" y="4219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8CF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00700" y="4219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8CF"/>
            </a:solidFill>
            <a:prstDash val="solid"/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58200" y="4219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B8CF"/>
            </a:solidFill>
            <a:prstDash val="solid"/>
            <a:tailEnd type="triangle" w="med" len="med"/>
          </a:ln>
        </p:spPr>
      </p:cxn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29EA97A-3B09-4393-B51F-6F5ACDC6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FCB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FCBDD"/>
                </a:solidFill>
                <a:latin typeface="Microsoft YaHei"/>
                <a:ea typeface="Microsoft YaHei"/>
                <a:cs typeface="Microsoft YaHei"/>
              </a:rPr>
              <a:t>Spark    Ray    Iceberg    StarRocks    Superset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BE0F6F4-D329-4DFF-91D6-98728971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B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FCBDD"/>
                </a:solidFill>
                <a:latin typeface="Microsoft YaHei"/>
                <a:ea typeface="Microsoft YaHei"/>
                <a:cs typeface="Microsoft YaHei"/>
              </a:rPr>
              <a:t>技术规划评审稿    2026.09</a:t>
            </a:r>
          </a:p>
        </p:txBody>
      </p:sp>
    </p:spTree>
    <p:extLst>
      <p:ext uri="{BB962C8B-B14F-4D97-AF65-F5344CB8AC3E}">
        <p14:creationId xmlns:p14="http://schemas.microsoft.com/office/powerpoint/2010/main" val="1766233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0">
            <a:extLst xmlns:a="http://schemas.openxmlformats.org/drawingml/2006/main">
              <a:ext uri="{FF2B5EF4-FFF2-40B4-BE49-F238E27FC236}">
                <a16:creationId xmlns:a16="http://schemas.microsoft.com/office/drawing/2014/main" id="{B74CDE98-9B7F-404E-8FFC-73AEFE51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建设重点：六个交付包，共用现有湖仓底座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94F4A0-BEF5-4A6D-90BD-6036FD3E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每个交付包都有业务入口、处理结果和可验收的数据产物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2347E2-95FD-44B2-8CB7-56750B2C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720429-72D2-4E19-89BA-BE1B6F98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8DBB89-B525-42E2-842B-3182168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57375"/>
            <a:ext cx="2924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轨迹接入与标准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743CC77-59DE-47CA-BE80-25B306C3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多脚手架接入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ATIF 适配与校验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35CAF-FAD5-4ABD-B696-B59AE36E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9E3EA53-E56F-4FF1-87D8-9B920216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57375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0E0970A-C29F-4012-A4A9-09785DD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57375"/>
            <a:ext cx="2924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媒体与治理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664B5ED-D4F4-45C4-B81B-C7FDA024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媒体资产管理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扫描、脱敏、用途策略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7D93E-C0B3-4161-B404-86855845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9E5101E-86AD-4A1C-9CD9-0EDC92DD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4831640-B134-4FB3-B83C-CFA52AC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57375"/>
            <a:ext cx="2924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审查与数据集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A9EE5EA-F580-4033-86EA-2A0C7170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上下文审查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版本冻结与发布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7C007-56CD-4432-9CA9-4409A4BC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288AB96-8EF4-40BD-9B13-435A5E9F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5B5A1DBE-987D-4096-B81E-74B8014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924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算子与编排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ABF22DA-8D58-4C95-8570-78F87CDE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814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SQL / Python / GPU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跨引擎作业恢复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24311-74E3-4AA4-89E6-A653430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AEFEB06-6C30-4E94-ABDB-D693B8A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665D81A-EAA5-4FD7-8A3C-1540E089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76650"/>
            <a:ext cx="2924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Harbor 评测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DB3ED55-7F9C-41D8-802B-84055D0F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814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环境隔离与并发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评分、复评、结果回湖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48798-27B7-4193-AEFD-AA83D2C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14925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626E800B-4414-49E9-9656-4F04CCE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F9EA0B0-3675-4A12-96F6-6628F7A0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76650"/>
            <a:ext cx="2924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训练交付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2CFB6474-0052-44EA-84B7-7BC8F85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814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文本与多模态分片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消费回执与撤回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F9902-D713-4135-A21A-95D7FFCE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14925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6390EF91-A441-4C50-8C0B-A513A99D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统一基础：样本标识、数据集版本、血缘、身份权限、资源配额与成本计量</a:t>
            </a:r>
          </a:p>
        </p:txBody>
      </p:sp>
    </p:spTree>
    <p:extLst>
      <p:ext uri="{BB962C8B-B14F-4D97-AF65-F5344CB8AC3E}">
        <p14:creationId xmlns:p14="http://schemas.microsoft.com/office/powerpoint/2010/main" val="877634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08978CC7-01AD-49CD-A096-800FC06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轨迹数据完整生命周期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EFFE3BD-BAD4-4E94-9C5A-160A4608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机器处理、人工审查、评测与训练使用同一条可追溯链路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11D997-9450-4B68-8FF3-A83BF89F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57723-3212-4FAB-BDE2-282889D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数据产生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运行记录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46E37-8524-41DB-981F-03F03EDA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导出与上传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校验、续传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C7D9E-7C3D-469F-8B8C-98F18B76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扫描与脱敏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安全、隐私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AC3AD-D3BD-43E0-A4D1-3A300AA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人工审查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抽检、仲裁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CE2C1-C47D-43BA-9933-9205113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2650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算子与作业流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加工、编排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20BF2-391A-4917-8EE9-6E69E1D4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归档与删除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恢复、撤回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892A4-55CC-48EA-840D-FF49A001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24325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分析与反馈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失败、成本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AC8FA-4717-442A-B49F-5F8010E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训练供给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分片、回执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351B3-5CF1-41D5-BC1A-C54B7A45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Harbor 评测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生成、复评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9942A-FFC3-4ABD-AC94-E6AE59E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24325"/>
            <a:ext cx="1752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数据集发布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冻结版本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62200" y="2628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67250" y="2628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72300" y="2628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77350" y="2628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706100" y="310515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277350" y="4600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2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6972300" y="4600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4667250" y="4600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362200" y="46005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A5C96C3C-DC21-42E3-A8EC-27A5025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评测生成的新轨迹重新进入采集与治理链路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2BBB6C3-A035-467D-AB68-BB7BC695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算子开发贯穿加工阶段。数据撤回与保留期策略覆盖所有副本及导出版本。</a:t>
            </a:r>
          </a:p>
        </p:txBody>
      </p:sp>
    </p:spTree>
    <p:extLst>
      <p:ext uri="{BB962C8B-B14F-4D97-AF65-F5344CB8AC3E}">
        <p14:creationId xmlns:p14="http://schemas.microsoft.com/office/powerpoint/2010/main" val="1590311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B3021CB-6DCD-4BED-858E-BFF820DE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场景优先级与首期范围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354A33-05AD-4BBE-A185-0FA82F3D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首期完成可使用的闭环，随后扩展模态、吞吐与数据优化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95F266-D879-41A7-98C0-EB06EAD4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场景组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 P0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规模化 P1 / 优化 P2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轨迹接入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两类主要脚手架、格式校验、幂等上传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增加来源、流式接入、采集质量运营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多模态治理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实际生产模态、敏感信息检测与脱敏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视频对齐、批推理优化、规则自动重扫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审查与数据集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风险审查、质量门禁、版本发布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主动抽样、近重复簇、授权撤回自动化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评测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任务、隔离执行、结果回湖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复评、回归评测、定向轨迹生成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训练与反馈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 样本、多模态适配、训练加载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偏好与 RL 数据、失败挖掘、收益归因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249D731-AA64-46EC-B501-79E1B9C1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P0：闭环必需    P1：规模化增强    P2：效果与成本优化</a:t>
            </a:r>
          </a:p>
        </p:txBody>
      </p:sp>
    </p:spTree>
    <p:extLst>
      <p:ext uri="{BB962C8B-B14F-4D97-AF65-F5344CB8AC3E}">
        <p14:creationId xmlns:p14="http://schemas.microsoft.com/office/powerpoint/2010/main" val="651769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">
            <a:extLst xmlns:a="http://schemas.openxmlformats.org/drawingml/2006/main">
              <a:ext uri="{FF2B5EF4-FFF2-40B4-BE49-F238E27FC236}">
                <a16:creationId xmlns:a16="http://schemas.microsoft.com/office/drawing/2014/main" id="{0B49E471-E6C5-44E3-A094-486CAF7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目标架构：数据处理与 Agent 评测共享底座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5BA14E4-D9B5-4817-A1AD-9CF88AC8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上层提供工作台与服务，中层执行作业，底层统一数据和资产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6FAD2E-BA7B-49A1-AF51-ADDBA12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7A974-C4B1-478F-8785-D6F98A9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514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2DA28-984C-4447-B51D-F8F92039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0225"/>
            <a:ext cx="2514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审查与发布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82F80-3170-4451-946B-DAC9054A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0225"/>
            <a:ext cx="2514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评测工作台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EDED1-3162-4922-88A1-E27F1A1E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0225"/>
            <a:ext cx="2514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分析与训练交付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3D5A3-B746-4C2C-8790-6A01A5F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统一控制面：身份权限、数据集版本、工作流、算子注册、血缘与成本</a:t>
            </a:r>
          </a:p>
        </p:txBody>
      </p:sp>
      <p:cxnSp>
        <p:nvCxnSpPr>
          <p:cNvPr id="35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866900" y="2409825"/>
            <a:ext cx="42291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686300" y="2409825"/>
            <a:ext cx="14097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96000" y="2409825"/>
            <a:ext cx="14097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38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96000" y="2409825"/>
            <a:ext cx="42291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12CFD-684B-4F82-8CE6-A800AE39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514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Spark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清洗、关联、去重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FBC8D-3CF8-4768-918A-762348FF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2514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媒体处理、GPU 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87592-7B5C-45D0-8209-08A7BFF0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86175"/>
            <a:ext cx="2514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Harbor + 沙箱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执行、评分、轨迹回收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D3635-0AD8-4D82-B900-49A2BBFF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86175"/>
            <a:ext cx="2514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StarRocks + Superset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检索、聚合与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8B4F5-654E-4C2C-BE74-CAB4E1B6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Iceberg：轨迹、标签、评分与清单     对象存储：媒体、产物与分片</a:t>
            </a:r>
          </a:p>
        </p:txBody>
      </p: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866900" y="3305175"/>
            <a:ext cx="42291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45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866900" y="4552950"/>
            <a:ext cx="42291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46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4686300" y="3305175"/>
            <a:ext cx="14097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47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686300" y="4552950"/>
            <a:ext cx="14097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48" name=""/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3305175"/>
            <a:ext cx="14097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49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096000" y="4552950"/>
            <a:ext cx="14097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50" name=""/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3305175"/>
            <a:ext cx="42291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cxnSp>
        <p:nvCxnSpPr>
          <p:cNvPr id="5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096000" y="4552950"/>
            <a:ext cx="42291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DEE7"/>
            </a:solidFill>
            <a:prstDash val="solid"/>
            <a:tailEnd type="none" w="med" len="med"/>
          </a:ln>
        </p:spPr>
      </p:cxn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A606D971-6557-4437-A35E-6AD47242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运行元数据与人工任务使用事务服务。媒体与表数据通过资产 ID 和发布清单关联。</a:t>
            </a:r>
          </a:p>
        </p:txBody>
      </p:sp>
    </p:spTree>
    <p:extLst>
      <p:ext uri="{BB962C8B-B14F-4D97-AF65-F5344CB8AC3E}">
        <p14:creationId xmlns:p14="http://schemas.microsoft.com/office/powerpoint/2010/main" val="672811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7CF32F0-7F8E-4F83-A211-688117BD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现有五个组件的能力分工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251801-2004-44DC-A03B-D321FE0D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沿用已打通的底座，按作业特征增强能力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F587A4-9D07-44DC-80B5-2D839F9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429125"/>
                <a:gridCol w="4781550"/>
              </a:tblGrid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本次增强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Spark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批量清洗、关联、去重、表维护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增量处理、长轨迹倾斜治理、质量规则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Ray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媒体解析、模型打分、Embedding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调度、批推理、资产级结果缓存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Iceberg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轨迹、标签、评分与成员清单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模式演进、快照保留、跨表版本发布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StarRocks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摘要检索、指标聚合、热点分析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加速表、权限过滤、新鲜度管理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Superset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研发、运营与管理看板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指标口径、评测对比、轨迹下钻入口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A2BACD1-2F4B-4856-98D7-3BCFBFA7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上线前验证：复杂字段、快照读取、删除文件、模式演进与权限一致性。</a:t>
            </a:r>
          </a:p>
        </p:txBody>
      </p:sp>
    </p:spTree>
    <p:extLst>
      <p:ext uri="{BB962C8B-B14F-4D97-AF65-F5344CB8AC3E}">
        <p14:creationId xmlns:p14="http://schemas.microsoft.com/office/powerpoint/2010/main" val="478881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0B259CEF-6E68-4F4D-AFDA-07428CC5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统一数据模型：轨迹结构与媒体实体分开管理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11E3C84-EF91-4C4E-AFC3-D81BC38E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同一运行可包含主 Agent、子 Agent、续接轨迹及多份产物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0FAADEF-BCE8-4939-A199-3CD547FE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4B18E-1B9B-4E43-B3B4-22225B2A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运行 Run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任务、Agent、模型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DD17D-8508-429B-B6FA-461F04A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952625"/>
            <a:ext cx="34194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 Trajectory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唯一 ID、父子与续接关系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B423F-8C0A-4492-A4DC-8EDA3E6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952625"/>
            <a:ext cx="3000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步骤与工具调用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顺序、参数、结果、异常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19450" y="2400300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40030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3EA6A51-58E8-4448-AAAA-12BDCF9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DF3983A-98C0-4446-AFF5-0D684E82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D623A-C1C4-4E78-9A54-89CA81A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33775"/>
            <a:ext cx="3000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内容片段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文本、图像、音频、扩展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1F893-5937-47A9-A189-FC4758EB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33775"/>
            <a:ext cx="34194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媒体与产物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资产 ID、哈希、对象版本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68239-24F7-43F3-BB9E-E4357708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标签与治理结果</a:t>
            </a:r>
          </a:p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证据、版本、用途</a:t>
            </a:r>
          </a:p>
        </p:txBody>
      </p:sp>
      <p:cxnSp>
        <p:nvCxnSpPr>
          <p:cNvPr id="33" name=""/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082213" y="2847975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7524750" y="398145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19450" y="2400300"/>
            <a:ext cx="885825" cy="1581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C751C"/>
            </a:solidFill>
            <a:prstDash val="dash"/>
            <a:tailEnd type="triangle" w="med" len="med"/>
          </a:ln>
        </p:spPr>
      </p:cxn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53D78F8-7B7F-4C8E-9E5C-5C0157B1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16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Iceberg 保存关系与可查询字段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FF83056-E992-412F-B80E-6AF4766A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482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对象存储保存原始媒体及衍生资产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EB459A4-3E9D-4B15-B29F-88FD60B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常用字段类型化，长尾字段保留版本化 JSON。视频扩展保留时间戳、音轨和动作对齐。</a:t>
            </a:r>
          </a:p>
        </p:txBody>
      </p:sp>
    </p:spTree>
    <p:extLst>
      <p:ext uri="{BB962C8B-B14F-4D97-AF65-F5344CB8AC3E}">
        <p14:creationId xmlns:p14="http://schemas.microsoft.com/office/powerpoint/2010/main" val="1145579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0E25BF8A-D7A5-4B01-A795-C82CA1A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ATIF 与 Harbor 的适用边界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E752F41-6D8B-42CD-B969-311EBC5A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版本基线：Harbor v0.23.0，ATIF v1.8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2DC56D-A65B-41FA-A691-E6E251C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AD197-BB91-4A1F-B287-50FF78EB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脚手架原生日志</a:t>
            </a:r>
          </a:p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原始媒体与产物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45FE5-4C8A-48CF-BE58-A9158FC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33575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ATIF 标准轨迹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文本、图像、音频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工具调用、子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52616-331B-4927-8978-472D24B4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85975"/>
            <a:ext cx="2714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平台扩展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视频、时间轴、用途策略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67100" y="26003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2600325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751C"/>
            </a:solidFill>
            <a:prstDash val="dash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4A10C-929E-4988-B423-2AF2CCE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95775"/>
            <a:ext cx="37052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文本训练导出</a:t>
            </a:r>
          </a:p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复用 Harbor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A4E45-0F21-4637-B3E4-53A929A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95775"/>
            <a:ext cx="388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多模态训练导出</a:t>
            </a:r>
          </a:p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新增适配器与资产打包</a:t>
            </a:r>
          </a:p>
        </p:txBody>
      </p:sp>
      <p:cxnSp>
        <p:nvCxnSpPr>
          <p:cNvPr id="24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3433763" y="3267075"/>
            <a:ext cx="2805113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6FC2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238875" y="3267075"/>
            <a:ext cx="24479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454AA"/>
            </a:solidFill>
            <a:prstDash val="solid"/>
            <a:tailEnd type="triangle" w="med" len="med"/>
          </a:ln>
        </p:spPr>
      </p:cxn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C6F6C5B-CAA1-46A1-828E-588D5E57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4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4D4B"/>
                </a:solidFill>
                <a:latin typeface="Microsoft YaHei"/>
                <a:ea typeface="Microsoft YaHei"/>
                <a:cs typeface="Microsoft YaHei"/>
              </a:rPr>
              <a:t>规划边界：官方文本导出器对图像、音频报错，多模态训练交付需单独实现。</a:t>
            </a:r>
          </a:p>
        </p:txBody>
      </p:sp>
    </p:spTree>
    <p:extLst>
      <p:ext uri="{BB962C8B-B14F-4D97-AF65-F5344CB8AC3E}">
        <p14:creationId xmlns:p14="http://schemas.microsoft.com/office/powerpoint/2010/main" val="1986431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B94ABFC2-8205-48D9-A0A8-698011E2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跨引擎作业流：从原始轨迹到可发布样本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A40245-823A-4987-86D4-AF25F0C9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Spark 处理结构与关系，Ray 处理媒体与模型推理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AD6879-EDDD-4020-B710-33128F5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8BF2A-EF7F-4E44-AB20-B08AB868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接入与校验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来源、哈希、去重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4F38A-4F8A-4BA0-9280-11D8B16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43125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Spark 标准化</a:t>
            </a:r>
          </a:p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字段、顺序、调用关联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D83F5-497A-4143-BB98-FD7A421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2352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Ray 媒体处理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OCR / ASR / 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1763F-BDE2-493F-A665-F07C31FF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安全与用途判定</a:t>
            </a:r>
          </a:p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证据、规则版本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86050" y="26003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00725" y="26003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67775" y="26003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218EC-1DD8-470F-A9EF-F8881F9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43375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人工审查</a:t>
            </a:r>
          </a:p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高风险、低置信度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A2BAB-71B1-469C-8459-937680C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2352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脱敏与复检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一致替换、资产遮挡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2D9D1-3083-4DE2-82F6-1F14763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43375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Spark 合并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标签、质量、去重簇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83E78-D4BF-4D23-B9F9-A4EC1031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数据集发布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成员清单、版本</a:t>
            </a:r>
          </a:p>
        </p:txBody>
      </p:sp>
      <p:cxnSp>
        <p:nvCxnSpPr>
          <p:cNvPr id="38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582275" y="3057525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751C"/>
            </a:solidFill>
            <a:prstDash val="solid"/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867775" y="46005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800725" y="46005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2686050" y="46005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7691438" y="3057525"/>
            <a:ext cx="2890838" cy="1085850"/>
          </a:xfrm>
          <a:prstGeom xmlns:a="http://schemas.openxmlformats.org/drawingml/2006/main" prst="bentConnector4">
            <a:avLst>
              <a:gd name="adj1" fmla="val 0"/>
              <a:gd name="adj2" fmla="val 21053"/>
            </a:avLst>
          </a:prstGeom>
          <a:ln xmlns:a="http://schemas.openxmlformats.org/drawingml/2006/main" w="19050">
            <a:solidFill>
              <a:srgbClr val="00877E"/>
            </a:solidFill>
            <a:prstDash val="dash"/>
            <a:tailEnd type="triangle" w="med" len="med"/>
          </a:ln>
        </p:spPr>
      </p:cxn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C3396D0-F0CE-4774-A3FB-774C0EEE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自动处理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B89CD75-675D-4AAD-B049-37655FF2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052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C7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C751C"/>
                </a:solidFill>
                <a:latin typeface="Microsoft YaHei"/>
                <a:ea typeface="Microsoft YaHei"/>
                <a:cs typeface="Microsoft YaHei"/>
              </a:rPr>
              <a:t>需复核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0E7A82C-6BFC-4ADC-8812-0763F94F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低风险自动处理，高风险进入审查队列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2E29042F-1DDF-453A-A4DA-38E7FD68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每个阶段写入可恢复的结果清单，校验完成后再触发下游。扫描不通过的数据保留在隔离区。</a:t>
            </a:r>
          </a:p>
        </p:txBody>
      </p:sp>
    </p:spTree>
    <p:extLst>
      <p:ext uri="{BB962C8B-B14F-4D97-AF65-F5344CB8AC3E}">
        <p14:creationId xmlns:p14="http://schemas.microsoft.com/office/powerpoint/2010/main" val="12535723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142F7DC7-4027-4628-A7EE-02085670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治理门禁与人工审查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8A1BE3-16D9-4176-B4D1-9FB3AF8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安全、隐私与使用授权分别判定，结果关联到样本和证据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FB57D4-AE9B-419E-A7E1-25F4E110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4774C-4622-42CD-9963-483B3076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31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安全扫描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28D2357-AEE9-47F7-9799-9D9FFFE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凭证、恶意附件、危险代码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69630-E92F-4B45-82C4-6BFC99B8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28800"/>
            <a:ext cx="331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隐私处理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68FC58B-AC22-4FB3-9F86-8FD2C48B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文本、截图、音频敏感信息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6D14F-41CB-40C5-9DCE-4F1FA6E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28800"/>
            <a:ext cx="331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用途合规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E6767BE-5C34-4FDF-9C87-0A3973A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来源、授权、地域、保留期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1309C-A850-4F9B-98A3-3DE77198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9950"/>
            <a:ext cx="609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审查队列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按风险、置信度与抽检策略分配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28106-1C53-4F6D-9EA2-5E6F297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按用途发布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D6039-CF2A-464B-8665-DACD1514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768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修订</a:t>
            </a:r>
          </a:p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脱敏与重新扫描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6FF54-9263-4006-BFC3-F9763A64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隔离或删除</a:t>
            </a:r>
          </a:p>
        </p:txBody>
      </p:sp>
      <p:cxnSp>
        <p:nvCxnSpPr>
          <p:cNvPr id="3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266950" y="4133850"/>
            <a:ext cx="3829050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77E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41338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751C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4133850"/>
            <a:ext cx="3829050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454AA"/>
            </a:solidFill>
            <a:prstDash val="solid"/>
            <a:tailEnd type="triangle" w="med" len="med"/>
          </a:ln>
        </p:spPr>
      </p:cxn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9549A3A-00CF-47AF-AA24-75C23C9E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审查界面支持步骤上下文、工具调用树、图像坐标、音频区间、双人复核与仲裁。</a:t>
            </a:r>
          </a:p>
        </p:txBody>
      </p:sp>
    </p:spTree>
    <p:extLst>
      <p:ext uri="{BB962C8B-B14F-4D97-AF65-F5344CB8AC3E}">
        <p14:creationId xmlns:p14="http://schemas.microsoft.com/office/powerpoint/2010/main" val="5878282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EC6D3BA2-078B-47CA-90F1-BBF3988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数据集版本：一次发布，固定全部依赖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344AEC-EA98-4670-942A-02622471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跨表快照与媒体资产通过不可变清单形成可复现的数据集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821822-3A69-4505-9904-130567DA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FE7AF-159B-478B-924D-5D4B2C2A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838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成员清单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样本 ID、划分、权重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37B04-D83A-4128-B772-B2FBAD66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838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表快照集合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轨迹、标签、评分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8CECE-B5D0-4C9A-97D9-E8C679FD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95475"/>
            <a:ext cx="2838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媒体清单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对象版本、哈希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F5300-87BF-4E03-9B2A-6F8B418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28384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加工与治理版本</a:t>
            </a:r>
          </a:p>
          <a:p xmlns:a="http://schemas.openxmlformats.org/drawingml/2006/main">
            <a:pPr algn="ctr">
              <a:def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代码、模型、审查结果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A9816-5FB6-4496-829E-A05C766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86025"/>
            <a:ext cx="3619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数据集发布清单</a:t>
            </a:r>
          </a:p>
          <a:p xmlns:a="http://schemas.openxmlformats.org/drawingml/2006/main">
            <a:pPr algn="ctr">
              <a:defRPr sz="21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Dataset v1.0</a:t>
            </a:r>
          </a:p>
          <a:p xmlns:a="http://schemas.openxmlformats.org/drawingml/2006/main">
            <a:pPr algn="ctr">
              <a:defRPr sz="21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完整性与用途校验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48050" y="2319338"/>
            <a:ext cx="828675" cy="890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48050" y="3209925"/>
            <a:ext cx="828675" cy="566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6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896225" y="2319338"/>
            <a:ext cx="847725" cy="890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7896225" y="3209925"/>
            <a:ext cx="847725" cy="566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F2AF8-32BE-4332-A378-4B6AF0D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57775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评测版本引用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1F122-568E-4060-B458-FC40E5D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57775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训练分片引用</a:t>
            </a:r>
          </a:p>
        </p:txBody>
      </p:sp>
      <p:cxnSp>
        <p:nvCxnSpPr>
          <p:cNvPr id="32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295775" y="3933825"/>
            <a:ext cx="17907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86475" y="3933825"/>
            <a:ext cx="1838325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D13F3CD-10CA-4E75-81B2-EC364406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发布前完成训练 / 验证 / 测试隔离。按同源任务或近重复簇划分，减少数据泄漏。</a:t>
            </a:r>
          </a:p>
        </p:txBody>
      </p:sp>
    </p:spTree>
    <p:extLst>
      <p:ext uri="{BB962C8B-B14F-4D97-AF65-F5344CB8AC3E}">
        <p14:creationId xmlns:p14="http://schemas.microsoft.com/office/powerpoint/2010/main" val="1574870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08C1E360-3D42-4285-83F6-73E968B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算子开发与作业编排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C03480-152C-49DB-80B8-B5E12A70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把脚本变成可复用、可回滚、可计量的处理能力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8F5C5C-5388-4CF2-973A-3045FC66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DAE36-88E5-4063-BC46-3189EDA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样本调试</a:t>
            </a:r>
          </a:p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SQL /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5B256-4D74-4D77-BD2B-D4FCB3C0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算子注册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镜像、版本、资源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4D273-48A6-4AAC-9A55-6DB553BA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作业流发布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依赖、门禁、参数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6F101-C2C1-4A67-A224-7C8D779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885950"/>
            <a:ext cx="20859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运行与恢复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进度、配额、成本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05100" y="231457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67375" y="231457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29650" y="231457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3276600"/>
          <a:ext xmlns:a="http://schemas.openxmlformats.org/drawingml/2006/main" cx="10972800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24300"/>
                <a:gridCol w="4667250"/>
              </a:tblGrid>
              <a:tr h="5067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执行类型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典型作业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平台统一约束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Spark 作业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去重、关联、数据切分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固定输入版本，结果幂等提交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Ray CPU / GPU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OCR、ASR、Embedding、模型评分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批处理、背压、缓存与资源声明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任务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执行、验证、轨迹回收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环境固定、超时、并发与预算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人工任务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复核、仲裁、发布审批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状态持久化、超时提醒、审计记录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A045790-0968-4C89-8767-130DA52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跨引擎传递数据引用与清单，避免在调度器内搬运大对象。</a:t>
            </a:r>
          </a:p>
        </p:txBody>
      </p:sp>
    </p:spTree>
    <p:extLst>
      <p:ext uri="{BB962C8B-B14F-4D97-AF65-F5344CB8AC3E}">
        <p14:creationId xmlns:p14="http://schemas.microsoft.com/office/powerpoint/2010/main" val="329509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9B888873-C3BE-4FA3-88FB-FD4CD1AA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Harbor 评测服务：输入固定，执行隔离，结果回湖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2AB4FFF-3B04-4317-AD2C-E98A6A15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平台管理任务、环境和预算，Harbor 管理 trial 执行与评分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C53E4BD-E92C-4C8C-A244-E42D6E12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69B0-B9CB-459B-ACF1-55107D69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9908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任务与数据集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指令、输入、工具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21A9F-A4CE-4109-AEC4-8C46B3C1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76425"/>
            <a:ext cx="29908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环境与验证器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镜像摘要、依赖、版本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741F3-DAAF-4AA4-B048-70108DD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2971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模型与运行配置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Agent、参数、限额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DFBBE-C0AF-4736-A865-5D13EB6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企业评测入口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版本、预算、并发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CE6A7-FDF2-4E84-AB35-FCE0425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19500"/>
            <a:ext cx="2305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4288">
            <a:solidFill>
              <a:srgbClr val="7454AA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Harbor</a:t>
            </a:r>
          </a:p>
          <a:p xmlns:a="http://schemas.openxmlformats.org/drawingml/2006/main">
            <a:pPr algn="ctr">
              <a:def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Job / Trial 编排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7C318-02AA-49D8-B165-4D9AE27D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19500"/>
            <a:ext cx="22764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隔离沙箱</a:t>
            </a:r>
          </a:p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Agent 执行与验证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99AA4-E142-452D-A465-F39A7E8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19500"/>
            <a:ext cx="1847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结果回收</a:t>
            </a:r>
          </a:p>
          <a:p xmlns:a="http://schemas.openxmlformats.org/drawingml/2006/main">
            <a:pPr algn="ctr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轨迹、评分、产物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52775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24575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67800" y="4143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881188" y="2667000"/>
            <a:ext cx="223838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4972050" y="2667000"/>
            <a:ext cx="11334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929563" y="2667000"/>
            <a:ext cx="2166938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418FC59-74BD-4AAE-8A3E-57B2803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校验完整性后回湖，生成新轨迹时重新经过扫描、脱敏与发布门禁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3956A02-118A-473B-8F02-341EBCBA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4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4D4B"/>
                </a:solidFill>
                <a:latin typeface="Microsoft YaHei"/>
                <a:ea typeface="Microsoft YaHei"/>
                <a:cs typeface="Microsoft YaHei"/>
              </a:rPr>
              <a:t>任务完成不等于数据齐全：缺失必要轨迹或媒体时，禁止发布该样本。</a:t>
            </a:r>
          </a:p>
        </p:txBody>
      </p:sp>
    </p:spTree>
    <p:extLst>
      <p:ext uri="{BB962C8B-B14F-4D97-AF65-F5344CB8AC3E}">
        <p14:creationId xmlns:p14="http://schemas.microsoft.com/office/powerpoint/2010/main" val="12527086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3B70FFE-D155-4B99-BB93-38E4639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三类评测作业及其输入条件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484FC79-69AE-4E12-9203-D55109CA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历史轨迹评分、产物复评和重新执行分别提供服务入口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884DC8-FABE-420F-BF1A-2AF6241C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5150"/>
                <a:gridCol w="3038475"/>
                <a:gridCol w="3000375"/>
              </a:tblGrid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作业模式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固定输入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典型用途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轨迹评分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轨迹、标签、评分器版本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 / 模型 / 人工评分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行为质量、工具错误定位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产物复评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已保存产物、执行证据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regrade</a:t>
                      </a:r>
                    </a:p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重新运行验证器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修复评分规则、对比判定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重新执行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任务、环境、Agent 配置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运行 Agent</a:t>
                      </a:r>
                    </a:p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生成轨迹并评分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模型对比、回归、稳定性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72D084B-9614-42B0-B8ED-CF882962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评测指标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7D56821-58D0-468A-AD44-9C80E1D3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229225"/>
            <a:ext cx="922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任务成功率    工具正确性    稳定性    延迟    单任务成本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8BC2B4F-9D8D-433F-B35C-642DE2F7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重新执行依赖环境与外部服务状态。regrade 要求历史记录包含新验证器需要的产物。</a:t>
            </a:r>
          </a:p>
        </p:txBody>
      </p:sp>
    </p:spTree>
    <p:extLst>
      <p:ext uri="{BB962C8B-B14F-4D97-AF65-F5344CB8AC3E}">
        <p14:creationId xmlns:p14="http://schemas.microsoft.com/office/powerpoint/2010/main" val="21420347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96535CC-6111-436A-8188-FE197FB3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面向训练的数据产品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578D021-AD76-45AE-8D25-5A236907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输出格式由训练框架决定，平台保留来源、版本和消费记录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5082FC4-985E-4F8D-8FC1-4DC33F2C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276725"/>
                <a:gridCol w="42767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训练用途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核心加工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交付内容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 / 继续预训练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授权筛选、语料提取、去重与混合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文本或多模态配对、分片与权重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角色与工具关系、损失掩码、上下文切分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对话样本、媒体引用、模板版本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偏好学习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相同任务与条件下的候选比较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偏好对、标签、比较条件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 / 过程监督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轨迹或步骤评分、证据与一致性校验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奖励标签、证据位置、评分器版本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RL rollout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任务采样、策略版本、token 与奖励采集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按算法要求提供 token、mask、logprob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146C69-5B14-4EEA-975A-3844BCBD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首期交付以训练侧实际加载成功为验收条件。多模态导出单独实现和校验。</a:t>
            </a:r>
          </a:p>
        </p:txBody>
      </p:sp>
    </p:spTree>
    <p:extLst>
      <p:ext uri="{BB962C8B-B14F-4D97-AF65-F5344CB8AC3E}">
        <p14:creationId xmlns:p14="http://schemas.microsoft.com/office/powerpoint/2010/main" val="7023291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D707F21B-666D-46BA-8E7D-9BDAA51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分析与回放：指标能够下钻到具体步骤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6F72A1-DAD0-4D7D-BE03-BE7376A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Superset 查看趋势，轨迹详情解释失败原因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266070-F1A6-4FD6-BEB8-35DA425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79A3A-F95E-4754-8C88-1501CE38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0481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246FC2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Superset 指标看板</a:t>
            </a:r>
          </a:p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成功率、延迟、成本、覆盖率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E3B16-C218-4B7B-A030-2EDBAADC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38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14288">
            <a:solidFill>
              <a:srgbClr val="00877E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StarRocks 摘要查询</a:t>
            </a:r>
          </a:p>
          <a:p xmlns:a="http://schemas.openxmlformats.org/drawingml/2006/main">
            <a:pPr algn="ctr">
              <a:def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任务、模型、工具、失败类别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57725" y="2281238"/>
            <a:ext cx="2085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57E8C5D-290C-49D1-9ED1-A7949550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轨迹详情示意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749D4-9337-4992-AE5B-EB4146E9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任务输入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BA61C-90CE-478D-938E-D031B624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0025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模型决策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BF100-34F2-4504-9A53-DF83BF1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0025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7A11C-CCBE-4348-9CB7-318AFFB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0025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4"/>
          </a:solidFill>
          <a:ln xmlns:a="http://schemas.openxmlformats.org/drawingml/2006/main" w="14288">
            <a:solidFill>
              <a:srgbClr val="BC751C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环境反馈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BED20-54FC-4863-988A-19AD5A96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10025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4288">
            <a:solidFill>
              <a:srgbClr val="586C7D"/>
            </a:solidFill>
          </a:ln>
        </p:spPr>
        <p:txBody>
          <a:bodyPr xmlns:a="http://schemas.openxmlformats.org/drawingml/2006/main" wrap="non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Agent 修复</a:t>
            </a:r>
          </a:p>
        </p:txBody>
      </p: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62200" y="43195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67250" y="43195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72300" y="43195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77350" y="43195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6C7D"/>
            </a:solidFill>
            <a:prstDash val="solid"/>
            <a:tailEnd type="triangle" w="med" len="med"/>
          </a:ln>
        </p:spPr>
      </p:cxn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D16B3BD-1BB2-40CD-9657-5D93194C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原始上下文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2925F4E-DF0E-4120-890E-96D5CF4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720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图像 / 音频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1DA39EF-9D93-417C-9A18-C25C83D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720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参数与结果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77FE681-E554-4C5C-9C26-27317AAA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720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C7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C751C"/>
                </a:solidFill>
                <a:latin typeface="Microsoft YaHei"/>
                <a:ea typeface="Microsoft YaHei"/>
                <a:cs typeface="Microsoft YaHei"/>
              </a:rPr>
              <a:t>错误证据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68CF441-72A9-49B9-A35A-B1FB1368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720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后续动作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54EE7D7-F0C0-4367-AC46-28142AC0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失败聚类与困难样本进入下一轮数据集建设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B0A9822-71E7-4A3B-AF20-A103D670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详情页还需支持子 Agent 展开、时间轴同步、脱敏视图与轨迹对比。</a:t>
            </a:r>
          </a:p>
        </p:txBody>
      </p:sp>
    </p:spTree>
    <p:extLst>
      <p:ext uri="{BB962C8B-B14F-4D97-AF65-F5344CB8AC3E}">
        <p14:creationId xmlns:p14="http://schemas.microsoft.com/office/powerpoint/2010/main" val="3936964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EBDAAC72-F212-4CB2-97F0-3A319B41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亿级规模：按步骤、媒体与处理时限核算资源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5A98E3-134C-43B5-8C3E-E977DE44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以下为测算示例，不代表公司实际容量或采购承诺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C5A0F1-5085-4BB6-A7A6-AD509A3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BB4927-34C7-4E05-A235-A59950F5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1 亿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97D00F6-2A61-4EB8-8F4E-6F3BBEA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条轨迹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A66514-D5D6-4983-BC7B-E90CF7B5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447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× 50 步 / 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10375A9-20DE-4961-A2D0-2F5DFC33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62125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50 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6874621-5AF0-4711-908E-98AEBF8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个步骤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247A1-EA77-431F-B353-A2B51B2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7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42C1485-92EF-4332-8517-B6EFE8B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10 TB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ABB7D88-8486-438E-A719-48A452A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结构化逻辑量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2A21BFD-EE36-4FF1-A9C6-7A63A14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每步平均 2 KB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96356F4-9159-4ACD-BBC9-9EC4BD0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40 TB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AD51402-B986-4437-80F0-21BE52C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媒体逻辑量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C8CFD69-46B7-4480-8673-2E6D6BB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0060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20% 轨迹各含 2 MB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414D04F-D211-49CF-826D-E116290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745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7454AA"/>
                </a:solidFill>
                <a:latin typeface="Microsoft YaHei"/>
                <a:ea typeface="Microsoft YaHei"/>
                <a:cs typeface="Microsoft YaHei"/>
              </a:rPr>
              <a:t>约 5.8 万步/秒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A1B1AB98-2303-42D3-9FAE-18CFE953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24 小时单遍吞吐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4542257-530C-46A7-AD34-6B8E4635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尚未折算模型推理量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5254587-6C65-4B09-B6B2-180E7CFC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容量控制：资产级缓存、增量重算、文件合并、冷热分层、资源池隔离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068B31B-DBC6-4325-9105-136FC0A1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预算另计副本、索引、历史版本、衍生资产和训练分片。GPU 数量由代表性样本实测。</a:t>
            </a:r>
          </a:p>
        </p:txBody>
      </p:sp>
    </p:spTree>
    <p:extLst>
      <p:ext uri="{BB962C8B-B14F-4D97-AF65-F5344CB8AC3E}">
        <p14:creationId xmlns:p14="http://schemas.microsoft.com/office/powerpoint/2010/main" val="2079308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7B54BCB-4D3D-4863-A994-75FAD5E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新增 IT 能力与选型边界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69EDC8-3E5C-4804-9A75-DD2889B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优先复用企业基础设施，按缺口补齐服务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2CC181-9FD0-4755-9785-67EFB88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5525"/>
                <a:gridCol w="4400550"/>
                <a:gridCol w="4276725"/>
              </a:tblGrid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建议路径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交付边界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媒体与资产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现有对象存储或 S3 兼容存储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对象版本、哈希、分层、授权访问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作业与资源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现有调度，或 Airflow / Dagster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持久化流程、配额、恢复、GPU 调度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目录与血缘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OpenMetadata / DataHub + OpenLineage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轨迹、资产、发布与训练消费关联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治理与审查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规则引擎 + 扫描工具 + 审查界面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中文校准、多模态证据、仲裁与抽检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评测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 Harbor + 企业任务与沙箱服务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隔离执行、复评、产物校验、结果回湖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 IAM / KMS + 事务数据库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统一权限、任务状态、版本与审计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F4A119F-AA02-4A80-AB60-78233EE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持续事件流确有需求时增加 Kafka / OTel。向量检索按业务需求和实测性能决定。</a:t>
            </a:r>
          </a:p>
        </p:txBody>
      </p:sp>
    </p:spTree>
    <p:extLst>
      <p:ext uri="{BB962C8B-B14F-4D97-AF65-F5344CB8AC3E}">
        <p14:creationId xmlns:p14="http://schemas.microsoft.com/office/powerpoint/2010/main" val="417433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8A63C69C-07F5-4C2A-A303-432CCE0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分期路线图与验收里程碑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9A0497-CF62-47E8-8D58-9F45CFB7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时间窗口为参考，需结合团队配置与已有基础设施调整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B065153-BB78-42C4-8EF3-E88F35E5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33E891-52F3-4D75-898F-8413259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第一期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F40CD3-E366-46AF-90A1-BA0747C7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28800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0–3 个月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6F588-8C06-469B-97B6-FA2C841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6FC2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FEDD9DA-716D-4175-AC1F-DAA8AB0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闭环可用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825F134-EFBF-4A18-919E-E6EC903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两类脚手架与生产必需模态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扫描脱敏、审查、版本发布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Harbor 评测与 SFT 交付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E8BC673-4B27-44C3-A8C0-15F9E81A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FC2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D6FD637-0286-424D-A35F-2417E7F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419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训练侧加载成功</a:t>
            </a:r>
          </a:p>
          <a:p xmlns:a="http://schemas.openxmlformats.org/drawingml/2006/main">
            <a:pPr algn="l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来源、处理与审查可追溯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43F61D7-CA06-49C3-90F8-ECD5162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第二期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BE2B974-1509-433F-9A8F-29956A8E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28800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3–6 个月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66FD1-57BC-4C99-9EF5-6526F18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77E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FAF8F33-ED4B-477C-A08B-205072F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规模化运行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4804AF3-5481-4A33-A02F-66DB82D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147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扩展模态与 GPU 作业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增量加工、偏好数据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多租户、归档与删除自动化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8442CB2-EAB6-4CF2-8BF9-4FC96AEB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29175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D71347D-73FF-4EBE-BC28-06100586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76850"/>
            <a:ext cx="3419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真实分布容量压测</a:t>
            </a:r>
          </a:p>
          <a:p xmlns:a="http://schemas.openxmlformats.org/drawingml/2006/main">
            <a:pPr algn="l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恢复、删除传播与成本基线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A0479F1-6CA7-4C7C-A740-EEC123D2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45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54AA"/>
                </a:solidFill>
                <a:latin typeface="Microsoft YaHei"/>
                <a:ea typeface="Microsoft YaHei"/>
                <a:cs typeface="Microsoft YaHei"/>
              </a:rPr>
              <a:t>第三期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14F9F92-73B7-44E0-B93F-E9CDEB2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28800"/>
            <a:ext cx="1781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6–12 个月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67057-7E7D-454C-B880-DA84A32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454AA"/>
            </a:solidFill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679C36A-7ECE-47BB-9B5A-F576D1EE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数据效果优化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4C05FA0-CFA0-4ED2-9181-A87C579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RL rollout 与失败聚类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主动学习与定向合成</a:t>
            </a:r>
          </a:p>
          <a:p xmlns:a="http://schemas.openxmlformats.org/drawingml/2006/main">
            <a:pPr algn="l">
              <a:def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训练效果回流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9B8E52CD-6257-407C-B530-A020DCD8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9175"/>
            <a:ext cx="3343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454AA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9BCDB0CE-0FB8-4BAE-A036-D20A5E75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3419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可关联数据增量与评测变化</a:t>
            </a:r>
          </a:p>
          <a:p xmlns:a="http://schemas.openxmlformats.org/drawingml/2006/main">
            <a:pPr algn="l">
              <a:def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单位合格样本成本可计量</a:t>
            </a:r>
          </a:p>
        </p:txBody>
      </p:sp>
    </p:spTree>
    <p:extLst>
      <p:ext uri="{BB962C8B-B14F-4D97-AF65-F5344CB8AC3E}">
        <p14:creationId xmlns:p14="http://schemas.microsoft.com/office/powerpoint/2010/main" val="3644536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1829A13-EC6D-4D9E-9F2D-798352CD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首期交付与验收责任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D77A6B-2F40-46E6-AA4F-5D785E77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每个交付包指定负责人，用真实样本完成端到端演练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33F978D-C40C-4A7B-BA82-55DA79C3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952750"/>
                <a:gridCol w="53530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交付包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建议主责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marL="152400" marR="114300" marT="95250" marB="95250" anchor="ctr">
                    <a:solidFill>
                      <a:srgbClr val="12304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轨迹接入与标准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平台数据工程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幂等接入、关系正确、缺失原因可解释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媒体与治理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 + 安全合规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金标集检测质量、脱敏一致性、用途门禁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审查与数据集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数据运营 + 平台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证据可定位、发布可复现、撤回可追踪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算子与编排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平台工程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版本可回滚、失败可恢复、资源可计量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评测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评测团队 + 平台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配置固定、结果回湖、必要产物齐全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训练交付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训练团队 + 平台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样本可加载、集合无泄漏、消费有回执</a:t>
                      </a:r>
                    </a:p>
                  </a:txBody>
                  <a:tcPr marL="152400" marR="114300" marT="95250" marB="9525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2BBA049-0994-41D1-A261-03625C4C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C7D"/>
                </a:solidFill>
                <a:latin typeface="Microsoft YaHei"/>
                <a:ea typeface="Microsoft YaHei"/>
                <a:cs typeface="Microsoft YaHei"/>
              </a:rPr>
              <a:t>首期启动输入：来源清单、日增量与媒体分布、完成时限、训练格式、评测任务和责任人。</a:t>
            </a:r>
          </a:p>
        </p:txBody>
      </p:sp>
    </p:spTree>
    <p:extLst>
      <p:ext uri="{BB962C8B-B14F-4D97-AF65-F5344CB8AC3E}">
        <p14:creationId xmlns:p14="http://schemas.microsoft.com/office/powerpoint/2010/main" val="1850586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2026-09-21T12:45:17.6740000Z</dcterms:created>
  <dcterms:modified xsi:type="dcterms:W3CDTF">2026-09-21T12:45:17.6740000Z</dcterms:modified>
</coreProperties>
</file>