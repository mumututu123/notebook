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6d595dccd1405b" /><Relationship Type="http://schemas.openxmlformats.org/officeDocument/2006/relationships/extended-properties" Target="/docProps/app.xml" Id="Rf6e91e353e924f93" /><Relationship Type="http://schemas.openxmlformats.org/officeDocument/2006/relationships/officeDocument" Target="/ppt/presentation.xml" Id="Rf83cbc5505f045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07107f9c1f444e"/>
  </p:sldMasterIdLst>
  <p:notesMasterIdLst>
    <p:notesMasterId xmlns:r="http://schemas.openxmlformats.org/officeDocument/2006/relationships" r:id="R44a9bf096524451d"/>
  </p:notesMasterIdLst>
  <p:sldIdLst>
    <p:sldId xmlns:r="http://schemas.openxmlformats.org/officeDocument/2006/relationships" id="256" r:id="Recd39bbf96e54c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d4cfd189824118" /><Relationship Type="http://schemas.openxmlformats.org/officeDocument/2006/relationships/slideMaster" Target="/ppt/slideMasters/slideMaster1.xml" Id="R2f07107f9c1f444e" /><Relationship Type="http://schemas.openxmlformats.org/officeDocument/2006/relationships/notesMaster" Target="/ppt/notesMasters/notesMaster1.xml" Id="R44a9bf096524451d" /><Relationship Type="http://schemas.openxmlformats.org/officeDocument/2006/relationships/presProps" Target="/ppt/presProps.xml" Id="R73e986fcbb5548b0" /><Relationship Type="http://schemas.openxmlformats.org/officeDocument/2006/relationships/tableStyles" Target="/ppt/tableStyles.xml" Id="R6d282ec8a01544ab" /><Relationship Type="http://schemas.openxmlformats.org/officeDocument/2006/relationships/slide" Target="/ppt/slides/slide1.xml" Id="Recd39bbf96e54c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bd2a9f8cce4c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944c61b69e4aad" /><Relationship Type="http://schemas.openxmlformats.org/officeDocument/2006/relationships/notesMaster" Target="/ppt/notesMasters/notesMaster1.xml" Id="R4d2b3660e43b43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来源与口径（访问日期：2026-10-17）</a:t>
            </a:r>
          </a:p>
          <a:p xmlns:a="http://schemas.openxmlformats.org/drawingml/2006/main">
            <a:r>
              <a:t>1. Gartner, Top 10 Strategic Technology Trends for 2025: by 2028, at least 15% of day-to-day work decisions will be made autonomously through agentic AI, up from 0% in 2024; 33% of enterprise software applications will include agentic AI, up from less than 1% in 2024. https://www.gartner.com/en/newsroom/press-releases/2024-10-21-gartner-identifies-the-top-10-strategic-technology-trends-for-2025</a:t>
            </a:r>
          </a:p>
          <a:p xmlns:a="http://schemas.openxmlformats.org/drawingml/2006/main">
            <a:r>
              <a:t>2. Gartner, Generative AI Solutions Will Become Increasingly Multimodal: 40% of generative AI solutions will be multimodal by 2027, up from 1% in 2023. https://www.gartner.com/en/newsroom/press-releases/2024-09-09-gartner-says-generative-ai-solutions-will-become-increasingly-multimodal</a:t>
            </a:r>
          </a:p>
          <a:p xmlns:a="http://schemas.openxmlformats.org/drawingml/2006/main">
            <a:r>
              <a:t>3. Databricks, Introducing Agent Bricks. https://www.databricks.com/blog/introducing-agent-bricks</a:t>
            </a:r>
          </a:p>
          <a:p xmlns:a="http://schemas.openxmlformats.org/drawingml/2006/main">
            <a:r>
              <a:t>4. Databricks Documentation, Mosaic AI Agent Framework. https://docs.databricks.com/aws/en/generative-ai/agent-framework/</a:t>
            </a:r>
          </a:p>
          <a:p xmlns:a="http://schemas.openxmlformats.org/drawingml/2006/main">
            <a:r>
              <a:t>5. Databricks Documentation, Mosaic AI Vector Search. https://docs.databricks.com/aws/en/generative-ai/vector-search</a:t>
            </a:r>
          </a:p>
          <a:p xmlns:a="http://schemas.openxmlformats.org/drawingml/2006/main">
            <a:r>
              <a:t>6. Databricks Documentation, Capture and view data lineage using Unity Catalog. https://docs.databricks.com/aws/en/data-governance/unity-catalog/data-lineage</a:t>
            </a:r>
          </a:p>
          <a:p xmlns:a="http://schemas.openxmlformats.org/drawingml/2006/main">
            <a:r>
              <a:t>说明：图表A使用Gartner“企业软件应用包含Agentic AI”的指标；2024为“低于1%”，图中按1%上界展示。2027规划文字均为趋势研判，不代表厂商承诺。</a:t>
            </a:r>
          </a:p>
          <a:p xmlns:a="http://schemas.openxmlformats.org/drawingml/2006/main">
            <a:br/>
            <a:r>
              <a:t>截图出处：Gartner 官方 Facebook 帖文及原图 https://www.facebook.com/GartnerInc/posts/1204351541720174</a:t>
            </a:r>
            <a:br/>
            <a:r>
              <a:t>CXOtoday 转引 Gartner 新闻稿原文截图 https://cxotoday.com/media-coverage/gartner-predicts-40-of-generative-ai-solutions-will-be-multimodal-by-2027/</a:t>
            </a:r>
            <a:br/>
            <a:r>
              <a:t>两幅量化证据均为来源页面原始截图，未进行数据重绘。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a17a2ea0447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b46e19c874c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66ea7145c40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bca8483b14b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28405b32848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81ac6b91f41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D7FD35-6807-4537-BDB9-C089D227E9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E954D3-CDC0-4496-A7D9-F544081050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D86A1D-4C34-4C97-84F8-FDEF9D501E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94CCA9-DD23-4E80-91C6-D744FC0B8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EAA230-081D-4157-96EB-D72A73557F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0202D9-9F18-4BF6-B58E-57D5E3B93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757078-9628-4E40-9317-D2D445AB5C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CD5B74-2212-4E71-8D2B-6E51E30953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194769-2F0A-4C97-9558-71AC5BB0E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316890-E333-46D5-908C-BBD4012089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9eeeb8764c4c42" /><Relationship Type="http://schemas.openxmlformats.org/officeDocument/2006/relationships/slideLayout" Target="/ppt/slideLayouts/slideLayout1.xml" Id="R9116eb4f0df742fa" /><Relationship Type="http://schemas.openxmlformats.org/officeDocument/2006/relationships/slideLayout" Target="/ppt/slideLayouts/slideLayout2.xml" Id="R5a0b301cb4c1493b" /><Relationship Type="http://schemas.openxmlformats.org/officeDocument/2006/relationships/slideLayout" Target="/ppt/slideLayouts/slideLayout3.xml" Id="R594064aee2964e63" /><Relationship Type="http://schemas.openxmlformats.org/officeDocument/2006/relationships/slideLayout" Target="/ppt/slideLayouts/slideLayout4.xml" Id="Rbb0f21472ee8412a" /><Relationship Type="http://schemas.openxmlformats.org/officeDocument/2006/relationships/slideLayout" Target="/ppt/slideLayouts/slideLayout5.xml" Id="Rd541191bc6c6476f" /><Relationship Type="http://schemas.openxmlformats.org/officeDocument/2006/relationships/slideLayout" Target="/ppt/slideLayouts/slideLayout6.xml" Id="Rc7e9728c0f114f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16eb4f0df742fa"/>
    <p:sldLayoutId xmlns:r="http://schemas.openxmlformats.org/officeDocument/2006/relationships" id="2147483650" r:id="R5a0b301cb4c1493b"/>
    <p:sldLayoutId xmlns:r="http://schemas.openxmlformats.org/officeDocument/2006/relationships" id="2147483651" r:id="R594064aee2964e63"/>
    <p:sldLayoutId xmlns:r="http://schemas.openxmlformats.org/officeDocument/2006/relationships" id="2147483652" r:id="Rbb0f21472ee8412a"/>
    <p:sldLayoutId xmlns:r="http://schemas.openxmlformats.org/officeDocument/2006/relationships" id="2147483653" r:id="Rd541191bc6c6476f"/>
    <p:sldLayoutId xmlns:r="http://schemas.openxmlformats.org/officeDocument/2006/relationships" id="2147483654" r:id="Rc7e9728c0f114f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a4ad48f5cd4d8d" /><Relationship Type="http://schemas.openxmlformats.org/officeDocument/2006/relationships/image" Target="/ppt/media/image.png" Id="R03dd30f417df4547" /><Relationship Type="http://schemas.openxmlformats.org/officeDocument/2006/relationships/image" Target="/ppt/media/image2.png" Id="Rb4bf2c5f822948fe" /><Relationship Type="http://schemas.openxmlformats.org/officeDocument/2006/relationships/notesSlide" Target="/ppt/notesSlides/notesSlide1.xml" Id="R6aab570b46fd40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8A74D8-2321-47F7-8A73-23052A78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B80B3-2E4E-451A-AAC3-61FDBDF3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231A"/>
                </a:solidFill>
              </a:defRPr>
            </a:pPr>
            <a:r>
              <a:rPr sz="900" b="1">
                <a:solidFill>
                  <a:srgbClr val="E2231A"/>
                </a:solidFill>
              </a:rPr>
              <a:t>2027 DATA + AI INDUSTRY OUTLOOK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408D1-5E9D-43C2-BB5F-22114B47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01A1A"/>
                </a:solidFill>
              </a:defRPr>
            </a:pPr>
            <a:r>
              <a:rPr sz="2175" b="1">
                <a:solidFill>
                  <a:srgbClr val="201A1A"/>
                </a:solidFill>
              </a:rPr>
              <a:t>2027：数据平台的增量市场，落在 Agent 训练闭环与企业非结构化数据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8E09D-6F90-4D2F-B87B-FDF77A14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382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15A5A"/>
                </a:solidFill>
              </a:defRPr>
            </a:pPr>
            <a:r>
              <a:rPr sz="1013" b="0">
                <a:solidFill>
                  <a:srgbClr val="615A5A"/>
                </a:solidFill>
              </a:rPr>
              <a:t>Data + AI 的新增工作负载正从结构化分析扩展到多模态内容与 Agent 运行数据。Gartner 预计2027年40%的生成式 AI 方案将采用多模态，2028年33%的企业软件将包含 Agentic AI。非结构化解析、轨迹回流、检索质量与细粒度血缘由此成为平台的新挑战。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F11DD-86DE-4EE6-9E5C-B4C085EC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0DCE8-0B7F-402F-A2B0-CD5C232E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85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231A"/>
                </a:solidFill>
              </a:defRPr>
            </a:pPr>
            <a:r>
              <a:rPr sz="1200" b="1">
                <a:solidFill>
                  <a:srgbClr val="E2231A"/>
                </a:solidFill>
              </a:rPr>
              <a:t>01  2027年 Data + AI 业界趋势洞察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8F17D-4D3B-47C6-B360-E52A1778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9AED3-C7B7-443A-BBFA-76D62525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977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A1A"/>
                </a:solidFill>
              </a:defRPr>
            </a:pPr>
            <a:r>
              <a:rPr sz="1500" b="1">
                <a:solidFill>
                  <a:srgbClr val="201A1A"/>
                </a:solidFill>
              </a:rPr>
              <a:t>Agentic RL 把模型训练变成持续数据运营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366A1-3B59-4826-AC5B-F9F197DB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615A5A"/>
                </a:solidFill>
              </a:defRPr>
            </a:pPr>
            <a:r>
              <a:rPr sz="1088" b="0">
                <a:solidFill>
                  <a:srgbClr val="615A5A"/>
                </a:solidFill>
              </a:rPr>
              <a:t>智能体每次执行都会沉淀任务轨迹、工具调用、人工纠错和结果评分。企业需要长期经营这批数据资产，用于回放失败、构造评测集和更新策略，数据作业由离线批处理转向持续回流。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d30f417df45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7375" y="1952625"/>
            <a:ext cx="2619375" cy="12858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76C3E-1EBB-42EE-BD0A-8CCA1F42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3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39003-2E7A-4E0F-ACD5-BE3ABA7C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A1A"/>
                </a:solidFill>
              </a:defRPr>
            </a:pPr>
            <a:r>
              <a:rPr sz="1500" b="1">
                <a:solidFill>
                  <a:srgbClr val="201A1A"/>
                </a:solidFill>
              </a:rPr>
              <a:t>多模态 RAG 的瓶颈转向文档工程与证据治理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8F2C0-B7D3-4D71-B825-CB3D29C3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524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615A5A"/>
                </a:solidFill>
              </a:defRPr>
            </a:pPr>
            <a:r>
              <a:rPr sz="1088" b="0">
                <a:solidFill>
                  <a:srgbClr val="615A5A"/>
                </a:solidFill>
              </a:rPr>
              <a:t>合同、图纸、录音和视频开始直接进入业务问答。真正影响效果的是解析质量、切片规则、检索召回和权限继承。平台还要回答一项审计问题：这次回答引用了哪份原文、哪个版本。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f2c5f822948fe"/>
          <a:srcRect xmlns:a="http://schemas.openxmlformats.org/drawingml/2006/main" l="0" t="909" r="0" b="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7375" y="3286125"/>
            <a:ext cx="2619375" cy="1285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E6773-8ADA-4ACC-A386-CD5F3933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303847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9525">
            <a:solidFill>
              <a:srgbClr val="E223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87DE3-082E-459D-AE60-E2C3490E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231A"/>
                </a:solidFill>
              </a:defRPr>
            </a:pPr>
            <a:r>
              <a:rPr sz="1200" b="1">
                <a:solidFill>
                  <a:srgbClr val="E2231A"/>
                </a:solidFill>
              </a:rPr>
              <a:t>平台竞争的三个控制点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B3F5D-7784-41D9-8AEE-FCD5CC88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05075"/>
            <a:ext cx="2476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01A1A"/>
                </a:solidFill>
              </a:defRPr>
            </a:pPr>
            <a:r>
              <a:rPr sz="1088" b="0">
                <a:solidFill>
                  <a:srgbClr val="201A1A"/>
                </a:solidFill>
              </a:rPr>
              <a:t>数据入口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201A1A"/>
                </a:solidFill>
              </a:defRPr>
            </a:pPr>
            <a:r>
              <a:rPr sz="1088" b="0">
                <a:solidFill>
                  <a:srgbClr val="201A1A"/>
                </a:solidFill>
              </a:rPr>
              <a:t>接管 Agent 轨迹日志与企业内容源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201A1A"/>
                </a:solidFill>
              </a:defRPr>
            </a:pPr>
            <a:r>
              <a:rPr sz="1088" b="0">
                <a:solidFill>
                  <a:srgbClr val="201A1A"/>
                </a:solidFill>
              </a:rPr>
              <a:t>加工编排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201A1A"/>
                </a:solidFill>
              </a:defRPr>
            </a:pPr>
            <a:r>
              <a:rPr sz="1088" b="0">
                <a:solidFill>
                  <a:srgbClr val="201A1A"/>
                </a:solidFill>
              </a:rPr>
              <a:t>把解析、切片、向量化和评测做成标准流水线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201A1A"/>
                </a:solidFill>
              </a:defRPr>
            </a:pPr>
            <a:r>
              <a:rPr sz="1088" b="0">
                <a:solidFill>
                  <a:srgbClr val="201A1A"/>
                </a:solidFill>
              </a:rPr>
              <a:t>治理出口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201A1A"/>
                </a:solidFill>
              </a:defRPr>
            </a:pPr>
            <a:r>
              <a:rPr sz="1088" b="0">
                <a:solidFill>
                  <a:srgbClr val="201A1A"/>
                </a:solidFill>
              </a:rPr>
              <a:t>回答能够回溯到原始证据、模型版本与执行动作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5B22D-3A59-4CB2-B922-E34759F8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39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A0272-43D0-43D8-8258-3B2B0ADB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231A"/>
                </a:solidFill>
              </a:defRPr>
            </a:pPr>
            <a:r>
              <a:rPr sz="1200" b="1">
                <a:solidFill>
                  <a:srgbClr val="E2231A"/>
                </a:solidFill>
              </a:rPr>
              <a:t>02  Databricks 已在卡位的产品控制点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2A135-72FE-4827-9216-78D44865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768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8E8B"/>
                </a:solidFill>
              </a:defRPr>
            </a:pPr>
            <a:r>
              <a:rPr sz="900" b="1">
                <a:solidFill>
                  <a:srgbClr val="9E8E8B"/>
                </a:solidFill>
              </a:rPr>
              <a:t>公开产品信号 + 2027竞争研判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A38F1-8ADE-4C2D-8FF5-2AE0E352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3276600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9525">
            <a:solidFill>
              <a:srgbClr val="E2231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5C59A-0A10-45B2-B7A9-205E3418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A1A"/>
                </a:solidFill>
              </a:defRPr>
            </a:pPr>
            <a:r>
              <a:rPr sz="1200" b="1">
                <a:solidFill>
                  <a:srgbClr val="201A1A"/>
                </a:solidFill>
              </a:rPr>
              <a:t>Agent Bricks 抢占“评测驱动优化”入口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32D54-B178-43B1-B095-93EE8342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2933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15A5A"/>
                </a:solidFill>
              </a:defRPr>
            </a:pPr>
            <a:r>
              <a:rPr sz="938" b="0">
                <a:solidFill>
                  <a:srgbClr val="615A5A"/>
                </a:solidFill>
              </a:rPr>
              <a:t>Agent Framework、MLflow Evaluation 与 Agent Bricks 已形成构建、评测、优化闭环。判断：Databricks 会继续把轨迹回流和策略优化做成平台内生能力，锁定 Agent 迭代工作负载。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0352A-7628-4013-BE17-18223846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57800"/>
            <a:ext cx="3276600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EE50D-7B88-4B43-B4A4-A28627BD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530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A1A"/>
                </a:solidFill>
              </a:defRPr>
            </a:pPr>
            <a:r>
              <a:rPr sz="1200" b="1">
                <a:solidFill>
                  <a:srgbClr val="201A1A"/>
                </a:solidFill>
              </a:rPr>
              <a:t>Databricks 接管企业内容的加工入口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AA409-567A-464E-949E-3ADC88CC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05475"/>
            <a:ext cx="2933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15A5A"/>
                </a:solidFill>
              </a:defRPr>
            </a:pPr>
            <a:r>
              <a:rPr sz="938" b="0">
                <a:solidFill>
                  <a:srgbClr val="615A5A"/>
                </a:solidFill>
              </a:rPr>
              <a:t>Databricks 正把合同、图纸等内容的解析、切片和索引更新纳入湖仓。Lakeflow 与 AI Functions 是实现手段。判断：其目标是控制企业知识进入 AI 应用前的加工入口。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49C4A-A370-4B6C-874F-00D3DE0D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57800"/>
            <a:ext cx="3276600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4F37E7-2B0C-48EC-B04E-C1BED675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05425"/>
            <a:ext cx="2933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1A1A"/>
                </a:solidFill>
              </a:defRPr>
            </a:pPr>
            <a:r>
              <a:rPr sz="1050" b="1">
                <a:solidFill>
                  <a:srgbClr val="201A1A"/>
                </a:solidFill>
              </a:rPr>
              <a:t>Databricks 治理推到 Agent 多模态轨迹数据资产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18E6C-061F-4C42-B6AE-5C534BD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43575"/>
            <a:ext cx="2933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15A5A"/>
                </a:solidFill>
              </a:defRPr>
            </a:pPr>
            <a:r>
              <a:rPr sz="863" b="0">
                <a:solidFill>
                  <a:srgbClr val="615A5A"/>
                </a:solidFill>
              </a:rPr>
              <a:t>Unity Catalog 已控制数据权限与表列血缘。判断：治理对象将扩展到 Agent 任务轨迹、工具调用及多模态证据片段，形成训练、评测和生产运行共用的资产目录。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172EB5-1C3C-4889-B502-F62C7989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9E8E8B"/>
                </a:solidFill>
              </a:defRPr>
            </a:pPr>
            <a:r>
              <a:rPr sz="675" b="0">
                <a:solidFill>
                  <a:srgbClr val="9E8E8B"/>
                </a:solidFill>
              </a:rPr>
              <a:t>口径：2027判断基于截至2026年10月的公开产品信号，不代表 Databricks 已承诺路线图。量化趋势来自 Gartner；产品依据来自 Databricks 官方发布与文档。</a:t>
            </a:r>
          </a:p>
        </p:txBody>
      </p:sp>
    </p:spTree>
    <p:extLst>
      <p:ext uri="{BB962C8B-B14F-4D97-AF65-F5344CB8AC3E}">
        <p14:creationId xmlns:p14="http://schemas.microsoft.com/office/powerpoint/2010/main" val="2045578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2026-10-17T12:22:25.4630000Z</dcterms:created>
  <dcterms:modified xsi:type="dcterms:W3CDTF">2026-10-17T12:22:25.4630000Z</dcterms:modified>
</coreProperties>
</file>