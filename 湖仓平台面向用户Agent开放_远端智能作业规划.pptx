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a8a944e98345ea" /><Relationship Type="http://schemas.openxmlformats.org/officeDocument/2006/relationships/extended-properties" Target="/docProps/app.xml" Id="R78d461481b7d4f5d" /><Relationship Type="http://schemas.openxmlformats.org/officeDocument/2006/relationships/officeDocument" Target="/ppt/presentation.xml" Id="Rde75415fd7c84d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fe170ae8584f22"/>
  </p:sldMasterIdLst>
  <p:notesMasterIdLst>
    <p:notesMasterId xmlns:r="http://schemas.openxmlformats.org/officeDocument/2006/relationships" r:id="R573af2429b644f43"/>
  </p:notesMasterIdLst>
  <p:sldIdLst>
    <p:sldId xmlns:r="http://schemas.openxmlformats.org/officeDocument/2006/relationships" id="256" r:id="R34fe20d1ff3140f4"/>
    <p:sldId xmlns:r="http://schemas.openxmlformats.org/officeDocument/2006/relationships" id="257" r:id="R7d418a12acb04402"/>
    <p:sldId xmlns:r="http://schemas.openxmlformats.org/officeDocument/2006/relationships" id="258" r:id="R115febfa8ff24935"/>
    <p:sldId xmlns:r="http://schemas.openxmlformats.org/officeDocument/2006/relationships" id="259" r:id="R579b3d6172e34221"/>
    <p:sldId xmlns:r="http://schemas.openxmlformats.org/officeDocument/2006/relationships" id="260" r:id="Ref96dac0324b4f23"/>
    <p:sldId xmlns:r="http://schemas.openxmlformats.org/officeDocument/2006/relationships" id="261" r:id="Rd5bd9ec4b76349a3"/>
    <p:sldId xmlns:r="http://schemas.openxmlformats.org/officeDocument/2006/relationships" id="262" r:id="R2c8fc32467da43ac"/>
    <p:sldId xmlns:r="http://schemas.openxmlformats.org/officeDocument/2006/relationships" id="263" r:id="R30e6f23b56154017"/>
    <p:sldId xmlns:r="http://schemas.openxmlformats.org/officeDocument/2006/relationships" id="264" r:id="Rf6e023d1051c4318"/>
    <p:sldId xmlns:r="http://schemas.openxmlformats.org/officeDocument/2006/relationships" id="265" r:id="Rb14f47dd97114414"/>
    <p:sldId xmlns:r="http://schemas.openxmlformats.org/officeDocument/2006/relationships" id="266" r:id="R7f714b2d8d5c4822"/>
    <p:sldId xmlns:r="http://schemas.openxmlformats.org/officeDocument/2006/relationships" id="267" r:id="R8b3635892be74e4f"/>
    <p:sldId xmlns:r="http://schemas.openxmlformats.org/officeDocument/2006/relationships" id="268" r:id="Rd18b52164fd3462a"/>
    <p:sldId xmlns:r="http://schemas.openxmlformats.org/officeDocument/2006/relationships" id="269" r:id="R46c5d639c203478b"/>
    <p:sldId xmlns:r="http://schemas.openxmlformats.org/officeDocument/2006/relationships" id="270" r:id="R878ab870ead041aa"/>
    <p:sldId xmlns:r="http://schemas.openxmlformats.org/officeDocument/2006/relationships" id="271" r:id="Rcb01f29df73040c3"/>
    <p:sldId xmlns:r="http://schemas.openxmlformats.org/officeDocument/2006/relationships" id="272" r:id="Rb8a2f02e40b241da"/>
    <p:sldId xmlns:r="http://schemas.openxmlformats.org/officeDocument/2006/relationships" id="273" r:id="R5c138b5969224ef9"/>
    <p:sldId xmlns:r="http://schemas.openxmlformats.org/officeDocument/2006/relationships" id="274" r:id="R4fd3789906014a96"/>
    <p:sldId xmlns:r="http://schemas.openxmlformats.org/officeDocument/2006/relationships" id="275" r:id="Rdd51811356c5408f"/>
    <p:sldId xmlns:r="http://schemas.openxmlformats.org/officeDocument/2006/relationships" id="276" r:id="R5af574a3bb2c43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8ebcb749ae4f37" /><Relationship Type="http://schemas.openxmlformats.org/officeDocument/2006/relationships/slideMaster" Target="/ppt/slideMasters/slideMaster1.xml" Id="R4afe170ae8584f22" /><Relationship Type="http://schemas.openxmlformats.org/officeDocument/2006/relationships/notesMaster" Target="/ppt/notesMasters/notesMaster1.xml" Id="R573af2429b644f43" /><Relationship Type="http://schemas.openxmlformats.org/officeDocument/2006/relationships/presProps" Target="/ppt/presProps.xml" Id="R3292c9f6083d4f40" /><Relationship Type="http://schemas.openxmlformats.org/officeDocument/2006/relationships/tableStyles" Target="/ppt/tableStyles.xml" Id="R9495bbdd728b43d0" /><Relationship Type="http://schemas.openxmlformats.org/officeDocument/2006/relationships/slide" Target="/ppt/slides/slide1.xml" Id="R34fe20d1ff3140f4" /><Relationship Type="http://schemas.openxmlformats.org/officeDocument/2006/relationships/slide" Target="/ppt/slides/slide2.xml" Id="R7d418a12acb04402" /><Relationship Type="http://schemas.openxmlformats.org/officeDocument/2006/relationships/slide" Target="/ppt/slides/slide3.xml" Id="R115febfa8ff24935" /><Relationship Type="http://schemas.openxmlformats.org/officeDocument/2006/relationships/slide" Target="/ppt/slides/slide4.xml" Id="R579b3d6172e34221" /><Relationship Type="http://schemas.openxmlformats.org/officeDocument/2006/relationships/slide" Target="/ppt/slides/slide5.xml" Id="Ref96dac0324b4f23" /><Relationship Type="http://schemas.openxmlformats.org/officeDocument/2006/relationships/slide" Target="/ppt/slides/slide6.xml" Id="Rd5bd9ec4b76349a3" /><Relationship Type="http://schemas.openxmlformats.org/officeDocument/2006/relationships/slide" Target="/ppt/slides/slide7.xml" Id="R2c8fc32467da43ac" /><Relationship Type="http://schemas.openxmlformats.org/officeDocument/2006/relationships/slide" Target="/ppt/slides/slide8.xml" Id="R30e6f23b56154017" /><Relationship Type="http://schemas.openxmlformats.org/officeDocument/2006/relationships/slide" Target="/ppt/slides/slide9.xml" Id="Rf6e023d1051c4318" /><Relationship Type="http://schemas.openxmlformats.org/officeDocument/2006/relationships/slide" Target="/ppt/slides/slide10.xml" Id="Rb14f47dd97114414" /><Relationship Type="http://schemas.openxmlformats.org/officeDocument/2006/relationships/slide" Target="/ppt/slides/slide11.xml" Id="R7f714b2d8d5c4822" /><Relationship Type="http://schemas.openxmlformats.org/officeDocument/2006/relationships/slide" Target="/ppt/slides/slide12.xml" Id="R8b3635892be74e4f" /><Relationship Type="http://schemas.openxmlformats.org/officeDocument/2006/relationships/slide" Target="/ppt/slides/slide13.xml" Id="Rd18b52164fd3462a" /><Relationship Type="http://schemas.openxmlformats.org/officeDocument/2006/relationships/slide" Target="/ppt/slides/slide14.xml" Id="R46c5d639c203478b" /><Relationship Type="http://schemas.openxmlformats.org/officeDocument/2006/relationships/slide" Target="/ppt/slides/slide15.xml" Id="R878ab870ead041aa" /><Relationship Type="http://schemas.openxmlformats.org/officeDocument/2006/relationships/slide" Target="/ppt/slides/slide16.xml" Id="Rcb01f29df73040c3" /><Relationship Type="http://schemas.openxmlformats.org/officeDocument/2006/relationships/slide" Target="/ppt/slides/slide17.xml" Id="Rb8a2f02e40b241da" /><Relationship Type="http://schemas.openxmlformats.org/officeDocument/2006/relationships/slide" Target="/ppt/slides/slide18.xml" Id="R5c138b5969224ef9" /><Relationship Type="http://schemas.openxmlformats.org/officeDocument/2006/relationships/slide" Target="/ppt/slides/slide19.xml" Id="R4fd3789906014a96" /><Relationship Type="http://schemas.openxmlformats.org/officeDocument/2006/relationships/slide" Target="/ppt/slides/slide20.xml" Id="Rdd51811356c5408f" /><Relationship Type="http://schemas.openxmlformats.org/officeDocument/2006/relationships/slide" Target="/ppt/slides/slide21.xml" Id="R5af574a3bb2c43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c6b8bd218b40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44526460c84c15" /><Relationship Type="http://schemas.openxmlformats.org/officeDocument/2006/relationships/notesMaster" Target="/ppt/notesMasters/notesMaster1.xml" Id="Re5603135c5a545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9439d17d834421" /><Relationship Type="http://schemas.openxmlformats.org/officeDocument/2006/relationships/notesMaster" Target="/ppt/notesMasters/notesMaster1.xml" Id="Rb45feee411cb48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5aab7009d54e1e" /><Relationship Type="http://schemas.openxmlformats.org/officeDocument/2006/relationships/notesMaster" Target="/ppt/notesMasters/notesMaster1.xml" Id="R2211052ac83642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a0055edb214b81" /><Relationship Type="http://schemas.openxmlformats.org/officeDocument/2006/relationships/notesMaster" Target="/ppt/notesMasters/notesMaster1.xml" Id="Ra01254f2959040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0c52fc4d9a4ec0" /><Relationship Type="http://schemas.openxmlformats.org/officeDocument/2006/relationships/notesMaster" Target="/ppt/notesMasters/notesMaster1.xml" Id="Rb17a3f17418541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74c0c2c7914326" /><Relationship Type="http://schemas.openxmlformats.org/officeDocument/2006/relationships/notesMaster" Target="/ppt/notesMasters/notesMaster1.xml" Id="R7478c197d4e840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03bf100e1d4499" /><Relationship Type="http://schemas.openxmlformats.org/officeDocument/2006/relationships/notesMaster" Target="/ppt/notesMasters/notesMaster1.xml" Id="Rf179e654f7ab41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f70c41297c431f" /><Relationship Type="http://schemas.openxmlformats.org/officeDocument/2006/relationships/notesMaster" Target="/ppt/notesMasters/notesMaster1.xml" Id="Re23bda5fb3f749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19dd7a7ac84d9a" /><Relationship Type="http://schemas.openxmlformats.org/officeDocument/2006/relationships/notesMaster" Target="/ppt/notesMasters/notesMaster1.xml" Id="R9e4e802c3bc141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7c2287e3994a70" /><Relationship Type="http://schemas.openxmlformats.org/officeDocument/2006/relationships/notesMaster" Target="/ppt/notesMasters/notesMaster1.xml" Id="Rf38c0d2e84c945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20f4c7aa7e41e9" /><Relationship Type="http://schemas.openxmlformats.org/officeDocument/2006/relationships/notesMaster" Target="/ppt/notesMasters/notesMaster1.xml" Id="R17bd25f870d847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02851fa1cc4df2" /><Relationship Type="http://schemas.openxmlformats.org/officeDocument/2006/relationships/notesMaster" Target="/ppt/notesMasters/notesMaster1.xml" Id="R2f15ba53369742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32dfdbcb4742e9" /><Relationship Type="http://schemas.openxmlformats.org/officeDocument/2006/relationships/notesMaster" Target="/ppt/notesMasters/notesMaster1.xml" Id="R52285bc6d8ff4f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9f8d0b12524748" /><Relationship Type="http://schemas.openxmlformats.org/officeDocument/2006/relationships/notesMaster" Target="/ppt/notesMasters/notesMaster1.xml" Id="Rb6fe2e609ba243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b4cd84b37e4f40" /><Relationship Type="http://schemas.openxmlformats.org/officeDocument/2006/relationships/notesMaster" Target="/ppt/notesMasters/notesMaster1.xml" Id="Rea37acb62c784d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edc57e2ef2460c" /><Relationship Type="http://schemas.openxmlformats.org/officeDocument/2006/relationships/notesMaster" Target="/ppt/notesMasters/notesMaster1.xml" Id="Rdb13dbf0e2b34d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bf66577e7348c3" /><Relationship Type="http://schemas.openxmlformats.org/officeDocument/2006/relationships/notesMaster" Target="/ppt/notesMasters/notesMaster1.xml" Id="Radca2cec37ee41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a3679b352ed4194" /><Relationship Type="http://schemas.openxmlformats.org/officeDocument/2006/relationships/notesMaster" Target="/ppt/notesMasters/notesMaster1.xml" Id="R1501aa3827184f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9eaea2d75646e0" /><Relationship Type="http://schemas.openxmlformats.org/officeDocument/2006/relationships/notesMaster" Target="/ppt/notesMasters/notesMaster1.xml" Id="Rad8564275cdf409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737a7fe8f748ce" /><Relationship Type="http://schemas.openxmlformats.org/officeDocument/2006/relationships/notesMaster" Target="/ppt/notesMasters/notesMaster1.xml" Id="Re74fed9049f34c7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0e87316b33e4997" /><Relationship Type="http://schemas.openxmlformats.org/officeDocument/2006/relationships/notesMaster" Target="/ppt/notesMasters/notesMaster1.xml" Id="Rdc0655d3d56147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面向数据平台负责人、研发团队、Agent用户与安全架构团队。目标是在既有湖仓上新增面向用户Agent的远端工具能力，不替代现有Web界面和计算底座。本期仅制作规划材料，不涉及实际开放生产权限。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四类操作通过统一语义工具暴露，底层继续复用既有服务。对外工具使用业务对象和稳定引用，避免用户Agent记忆多套底层API。所有写操作的范围由用户已获得的权限和平台策略决定。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端到端使用示例，沿用前一专题Agent轨迹分析场景。Agent可在已有授权范围持续工作，生产调度开通遵循企业发布制度。湖仓把失败日志、状态和数据产物作为结构化工具输出返回，Agent据此诊断，不能把描述或日志中的指令作为权限依据。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文六组件部署互通属于用户提供事实。Notebook产品未指定，采用Jupyter系作为参考适配方式；也可复用自研Notebook运行API。Catalog是Hive/Hadoop/REST或其他实现、Airflow与Superset版本及实际认证方式需首月确认。不得将任何组件原生MCP支持写成已具备。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是拟建方案。MCP作为工具协议不承担完整的业务身份委托、数据库行列策略或任务调度。适配层按部署版本调用原系统接口，所有入口走同一授权和审计路径。私有网络入口可部署在企业网关后；本地或企业执行环境需可达该入口。MaaS网关不作为工具API的强制转发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官方参考入口（具体版本、接口和授权边界需在首月验证）：</a:t>
            </a:r>
          </a:p>
          <a:p xmlns:a="http://schemas.openxmlformats.org/drawingml/2006/main">
            <a:r>
              <a:t>https://developers.openai.com/codex/mcp</a:t>
            </a:r>
          </a:p>
          <a:p xmlns:a="http://schemas.openxmlformats.org/drawingml/2006/main">
            <a:r>
              <a:t>https://modelcontextprotocol.io/specification/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未对本公司Codex配置作任何修改。本次官方Codex MCP页面返回403，故不声称完成最新客户端能力核验。远端MCP及本地桥接是候选接入模式，按客户端实际支持选择。工具入口仅向授权客户端开放，不要求生产后端直接暴露公网。Skills/提示词不是安全边界。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官方参考入口（具体版本、接口和授权边界需在首月验证）：</a:t>
            </a:r>
          </a:p>
          <a:p xmlns:a="http://schemas.openxmlformats.org/drawingml/2006/main">
            <a:r>
              <a:t>https://developers.openai.com/codex/mcp</a:t>
            </a:r>
          </a:p>
          <a:p xmlns:a="http://schemas.openxmlformats.org/drawingml/2006/main">
            <a:r>
              <a:t>https://modelcontextprotocol.io/specification/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命名为建议，非原产品已存在的工具。统一schema_version、对象稳定ID和结构化错误。Catalog metadata commit使用受控operation_apply执行经校验的计划。输入schema说明约束、资源消耗和副作用；只读提示等协议注解用于客户端理解，不能代替服务端鉴权。输出字段建议status、operation_id、backend_ref、summary、artifacts、warnings和next_allowed_actions。长期任务返回句柄而非持续占用工具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官方参考入口（具体版本、接口和授权边界需在首月验证）：</a:t>
            </a:r>
          </a:p>
          <a:p xmlns:a="http://schemas.openxmlformats.org/drawingml/2006/main">
            <a:r>
              <a:t>https://modelcontextprotocol.io/specification/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JupyterHub管理身份集成和用户服务生命周期，是否容器隔离依赖Spawner和部署环境。Jupyter Server Contents API不会因保存Notebook而执行单元格。交互Kernel/Session及WebSocket路径与批执行Job区别管理。Agent批执行不复用上一次Kernel内存，固定镜像/代码和输入快照；默认产物写暂存空间，正式发布另授权。凭据由执行端按身份获取，不写入Notebook或返回模型。登记Spark/Ray子作业句柄用于取消协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官方参考入口（具体版本、接口和授权边界需在首月验证）：</a:t>
            </a:r>
          </a:p>
          <a:p xmlns:a="http://schemas.openxmlformats.org/drawingml/2006/main">
            <a:r>
              <a:t>https://jupyter-server.readthedocs.io/en/latest/developers/rest-api.html</a:t>
            </a:r>
          </a:p>
          <a:p xmlns:a="http://schemas.openxmlformats.org/drawingml/2006/main">
            <a:r>
              <a:t>https://jupyterhub.readthedocs.io/en/stable/reference/rest-api.html</a:t>
            </a:r>
          </a:p>
          <a:p xmlns:a="http://schemas.openxmlformats.org/drawingml/2006/main">
            <a:r>
              <a:t>https://nbclient.readthedocs.io/en/latest/</a:t>
            </a:r>
          </a:p>
          <a:p xmlns:a="http://schemas.openxmlformats.org/drawingml/2006/main">
            <a:r>
              <a:t>https://papermill.readthedocs.io/en/latest/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通过适配器调用已部署Airflow版本的公开REST API。Airflow2.x与3.x API版本和认证机制不同，需盘点OpenAPI与Auth Manager，不能硬编码一个版本。创建DAG Run接口不部署DAG。Airflow2.x不默认完整记录不可变DAG环境，平台通过代码/镜像/部署清单补足。新运行重跑与clear/reset任务恢复分别授权，操作副作用不同。幂等接单不保证任务内部外部写入恰好一次。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官方参考入口（具体版本、接口和授权边界需在首月验证）：</a:t>
            </a:r>
          </a:p>
          <a:p xmlns:a="http://schemas.openxmlformats.org/drawingml/2006/main">
            <a:r>
              <a:t>https://airflow.apache.org/docs/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REST Catalog不提供通用SQL查询能力。读取快照明细可能需Iceberg客户端/计算引擎读取元数据文件；只返回经过权限过滤的摘要。Catalog真实实现若非REST，使用对应适配器，首期不强制迁移。SELECT、CTAS、INSERT、MERGE等按引擎和格式版本逐项验收，不默认StarRocks支持所有Iceberg写操作。结构变更计划是平台校验，不宣称Catalog任意变更均有无副作用dry run。并发冲突明确返回，拒绝静默覆盖；跨表/跨系统不承诺统一事务。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官方参考入口（具体版本、接口和授权边界需在首月验证）：</a:t>
            </a:r>
          </a:p>
          <a:p xmlns:a="http://schemas.openxmlformats.org/drawingml/2006/main">
            <a:r>
              <a:t>https://iceberg.apache.org/rest-catalog-spec/</a:t>
            </a:r>
          </a:p>
          <a:p xmlns:a="http://schemas.openxmlformats.org/drawingml/2006/main">
            <a:r>
              <a:t>https://iceberg.apache.org/docs/latest/spark-ddl/</a:t>
            </a:r>
          </a:p>
          <a:p xmlns:a="http://schemas.openxmlformats.org/drawingml/2006/main">
            <a:r>
              <a:t>https://iceberg.apache.org/docs/latest/maintenance/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Superset通常提供chart/data等API，具体schema及异步配置以当前部署OpenAPI为准。图表/看板export不是图表数据或PNG/PDF导出。Superset数据集RLS不能直接视为任意SQL Lab的安全边界；首期不开放任意SQL Lab执行，底层查询账号/查询网关需落实行列策略和只读/限额。缓存键须含权限与过滤上下文，权限撤回后缓存/异步结果/下载均重新鉴权。创建“草稿”是平台约定空间与权限，不依赖产品统一原生draft状态。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官方参考入口（具体版本、接口和授权边界需在首月验证）：</a:t>
            </a:r>
          </a:p>
          <a:p xmlns:a="http://schemas.openxmlformats.org/drawingml/2006/main">
            <a:r>
              <a:t>https://superset.apache.org/docs/api/</a:t>
            </a:r>
          </a:p>
          <a:p xmlns:a="http://schemas.openxmlformats.org/drawingml/2006/main">
            <a:r>
              <a:t>https://superset.apache.org/docs/security/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交规格包含operation、schema_version、resource_refs、expected_versions、input_artifact_digest、parameters、idempotency_key、budget、timeout、output_destination和trace_context。principal/tenant不相信任意客户端字段。状态含validating、queued、running、succeeded、failed、cancel_requested、cancelled；企业策略需要授权时另有approval_required。查询超时与后端终止区别处理，超时后仍可查询最终状态。MCP仅用于提交/查看，平台异步契约不依赖客户端是否支持特定长任务扩展。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可信OIDC/OAuth2等身份链与短期执行凭据为建议设计，具体token exchange、service impersonation或用户映射按现有IAM和产品能力实现。不能直接把所有后端凭据透传给Agent或使用全权服务账号替所有用户查询。若后端不支持用户委托，适配层需证明强制授权且限制账号资源范围。高影响变更的审批绑定请求摘要，代码/参数/资源改变须重新评估，不承诺客户端弹窗代替平台授权。持续运行任务的权限撤销策略需明确并可终止。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平台策略设计，并非本次请求用户授权执行任何生产操作。取消并不回滚已完成的外部写入，快照回滚也不保证跨系统状态一致。企业审批仅在公司制度要求且缺少有效授权时触发；不建议每次调用都重复确认。提示词、工具readOnly注解与客户端安全设置不是平台权限执行点。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/CI/CD是否已具备需要盘点，可复用公司的版本与发布系统。Agent创建变更请求与发布生产是分开的工具操作。DAG任意Python导入即可能有副作用，校验与导入测试必须运行在隔离环境。业务验收检查代码版本、DAG部署版本与运行绑定，避免同名DAG被覆盖后无法复现历史运行。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把敏感原文全部复制进工具日志和Agent上下文。日志默认去密，数据摘要与可下载产物分别控制权限。指标用人工原平台工作流程作为基线，不预先宣称效率提升百分比。大数据计算仍在湖仓，返回摘要、引用和必要样本；权限撤回覆盖异步结果和缓存。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里程碑是规划建议。第1–2周优先确认Codex目标版本/接入认证、现有Notebook产品、Catalog实现、Airflow/Superset版本。M1建立版本和权限基线。M2加入受控写入，M3稳定可靠性与发布，而非等最后才测试安全与身份。功能开关按租户/工具/操作级别灰度，快速收回有问题能力。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+2–3+2+1–2=7–9名核心工程投入，为粗估建议而非已批准人力或预算。业务、IAM、安全和BI口径等协作投入另计。主要产物包括版本化工具清单、客户端接入包、四域适配器、异步作业与产物服务、策略矩阵、样例工作流、监控和运行手册。若隔离Notebook执行或IAM需从零搭建，应缩小首期写入范围，不隐含全部在该人力内完成企业级基础设施重建。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秒与20并发是控制面提交接口的候选验收负载，不能当既有性能或后端DAG/SQL完成SLA。测试需说明鉴权方式、策略缓存、任务队列、后端响应和硬件配置。版本冲突必须返回明确冲突，禁止自动覆盖。工具本身符合权限不意味着生成脚本内部副作用自动幂等，需验证作业提交/发布协议。Notebook外网、包安装、数据挂载、密钥和资源限制应实测，不能仅看配置。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期不包含所有用户Agent的管理员级远控、任意生产Shell/SQL、默认公网暴露、统一改造全公司权限或物理清理自动化。普通用户Agent的高影响操作需要独立场景和授权。此范围说明用于估算三个月交付，不限制后续在真实业务授权下扩展。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参考资料截至材料编制日2026-09-21。本次未完成官方页面在线核验，Codex MCP页面访问返回403，不提供未经打开验证的命令或配置片段。Notebook部署和四域OpenAPI应由实施团队读取实际运行实例并回归测试。补充：JupyterHub、nbclient、Papermill、Superset安全及Iceberg计算引擎DDL文档见下。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官方参考入口（具体版本、接口和授权边界需在首月验证）：</a:t>
            </a:r>
          </a:p>
          <a:p xmlns:a="http://schemas.openxmlformats.org/drawingml/2006/main">
            <a:r>
              <a:t>https://developers.openai.com/codex/mcp</a:t>
            </a:r>
          </a:p>
          <a:p xmlns:a="http://schemas.openxmlformats.org/drawingml/2006/main">
            <a:r>
              <a:t>https://modelcontextprotocol.io/specification/</a:t>
            </a:r>
          </a:p>
          <a:p xmlns:a="http://schemas.openxmlformats.org/drawingml/2006/main">
            <a:r>
              <a:t>https://jupyter-server.readthedocs.io/en/latest/developers/rest-api.html</a:t>
            </a:r>
          </a:p>
          <a:p xmlns:a="http://schemas.openxmlformats.org/drawingml/2006/main">
            <a:r>
              <a:t>https://jupyterhub.readthedocs.io/en/stable/reference/rest-api.html</a:t>
            </a:r>
          </a:p>
          <a:p xmlns:a="http://schemas.openxmlformats.org/drawingml/2006/main">
            <a:r>
              <a:t>https://nbclient.readthedocs.io/en/latest/</a:t>
            </a:r>
          </a:p>
          <a:p xmlns:a="http://schemas.openxmlformats.org/drawingml/2006/main">
            <a:r>
              <a:t>https://papermill.readthedocs.io/en/latest/</a:t>
            </a:r>
          </a:p>
          <a:p xmlns:a="http://schemas.openxmlformats.org/drawingml/2006/main">
            <a:r>
              <a:t>https://airflow.apache.org/docs/</a:t>
            </a:r>
          </a:p>
          <a:p xmlns:a="http://schemas.openxmlformats.org/drawingml/2006/main">
            <a:r>
              <a:t>https://iceberg.apache.org/rest-catalog-spec/</a:t>
            </a:r>
          </a:p>
          <a:p xmlns:a="http://schemas.openxmlformats.org/drawingml/2006/main">
            <a:r>
              <a:t>https://iceberg.apache.org/docs/latest/spark-ddl/</a:t>
            </a:r>
          </a:p>
          <a:p xmlns:a="http://schemas.openxmlformats.org/drawingml/2006/main">
            <a:r>
              <a:t>https://superset.apache.org/docs/api/</a:t>
            </a:r>
          </a:p>
          <a:p xmlns:a="http://schemas.openxmlformats.org/drawingml/2006/main">
            <a:r>
              <a:t>https://superset.apache.org/docs/security/</a:t>
            </a:r>
          </a:p>
          <a:p xmlns:a="http://schemas.openxmlformats.org/drawingml/2006/main">
            <a:r>
              <a:t>规划口径：六组件已部署且打通来自用户说明；Notebook部署、Catalog实现、身份系统和客户端版本待盘点。本材料为独立规划，拟建工具名、范围、资源和SLO均为建议。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4a63ba2514a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acce14495e4641" /><Relationship Type="http://schemas.openxmlformats.org/officeDocument/2006/relationships/slideLayout" Target="/ppt/slideLayouts/slideLayout1.xml" Id="R26100260590f42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100260590f42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9e4e4c22648ee" /><Relationship Type="http://schemas.openxmlformats.org/officeDocument/2006/relationships/notesSlide" Target="/ppt/notesSlides/notesSlide1.xml" Id="Rce60d58f91a94b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9fedcae374c8c" /><Relationship Type="http://schemas.openxmlformats.org/officeDocument/2006/relationships/notesSlide" Target="/ppt/notesSlides/notesSlide2.xml" Id="R4a48c980e78143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5aa71c91c4af2" /><Relationship Type="http://schemas.openxmlformats.org/officeDocument/2006/relationships/notesSlide" Target="/ppt/notesSlides/notesSlide3.xml" Id="R910f2e68f52743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e1dce54f341ee" /><Relationship Type="http://schemas.openxmlformats.org/officeDocument/2006/relationships/notesSlide" Target="/ppt/notesSlides/notesSlide4.xml" Id="Rddfc79595ef049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c9f857c9644a2" /><Relationship Type="http://schemas.openxmlformats.org/officeDocument/2006/relationships/notesSlide" Target="/ppt/notesSlides/notesSlide5.xml" Id="R003863e436e541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c1df9fed242b3" /><Relationship Type="http://schemas.openxmlformats.org/officeDocument/2006/relationships/notesSlide" Target="/ppt/notesSlides/notesSlide6.xml" Id="Re89bb3691ee945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5d03161f14860" /><Relationship Type="http://schemas.openxmlformats.org/officeDocument/2006/relationships/notesSlide" Target="/ppt/notesSlides/notesSlide7.xml" Id="R6d8d6c45228342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b306ea6ce4c0b" /><Relationship Type="http://schemas.openxmlformats.org/officeDocument/2006/relationships/notesSlide" Target="/ppt/notesSlides/notesSlide8.xml" Id="Rb6607dc97ee64d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0fcec504a4158" /><Relationship Type="http://schemas.openxmlformats.org/officeDocument/2006/relationships/notesSlide" Target="/ppt/notesSlides/notesSlide9.xml" Id="Rdc21f630d67148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45478bb7d45ea" /><Relationship Type="http://schemas.openxmlformats.org/officeDocument/2006/relationships/notesSlide" Target="/ppt/notesSlides/notesSlide10.xml" Id="R60429b46204c43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4bd7c17ad4319" /><Relationship Type="http://schemas.openxmlformats.org/officeDocument/2006/relationships/notesSlide" Target="/ppt/notesSlides/notesSlide11.xml" Id="R4fb1600acf4b46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f357942874940" /><Relationship Type="http://schemas.openxmlformats.org/officeDocument/2006/relationships/notesSlide" Target="/ppt/notesSlides/notesSlide12.xml" Id="R97119664e3e640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b1aa7adff41d0" /><Relationship Type="http://schemas.openxmlformats.org/officeDocument/2006/relationships/notesSlide" Target="/ppt/notesSlides/notesSlide13.xml" Id="R6350d8e38b0a43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01c3c07614904" /><Relationship Type="http://schemas.openxmlformats.org/officeDocument/2006/relationships/notesSlide" Target="/ppt/notesSlides/notesSlide14.xml" Id="R23980cbe96e34f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7da375aec4c3f" /><Relationship Type="http://schemas.openxmlformats.org/officeDocument/2006/relationships/notesSlide" Target="/ppt/notesSlides/notesSlide15.xml" Id="R51cd0501ce9b46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37b1178fa4ad1" /><Relationship Type="http://schemas.openxmlformats.org/officeDocument/2006/relationships/notesSlide" Target="/ppt/notesSlides/notesSlide16.xml" Id="Rab66bc8e4bdf48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ffe7deb6244cb" /><Relationship Type="http://schemas.openxmlformats.org/officeDocument/2006/relationships/notesSlide" Target="/ppt/notesSlides/notesSlide17.xml" Id="Re542db409cff4f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f5d2746f3410f" /><Relationship Type="http://schemas.openxmlformats.org/officeDocument/2006/relationships/notesSlide" Target="/ppt/notesSlides/notesSlide18.xml" Id="Ra60307c046024a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179a1543e4850" /><Relationship Type="http://schemas.openxmlformats.org/officeDocument/2006/relationships/notesSlide" Target="/ppt/notesSlides/notesSlide19.xml" Id="Rb6a574a8860346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5fd71155845b5" /><Relationship Type="http://schemas.openxmlformats.org/officeDocument/2006/relationships/notesSlide" Target="/ppt/notesSlides/notesSlide20.xml" Id="R8dbe20cbc01249d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8f4acef7f4d44" /><Relationship Type="http://schemas.openxmlformats.org/officeDocument/2006/relationships/hyperlink" Target="https://developers.openai.com/codex/mcp" TargetMode="External" Id="Rb6ec3c74ee4b49db" /><Relationship Type="http://schemas.openxmlformats.org/officeDocument/2006/relationships/hyperlink" Target="https://modelcontextprotocol.io/specification/" TargetMode="External" Id="Rcd22d171438c4df7" /><Relationship Type="http://schemas.openxmlformats.org/officeDocument/2006/relationships/hyperlink" Target="https://jupyter-server.readthedocs.io/en/latest/developers/rest-api.html" TargetMode="External" Id="Rabf65912bfbb4f82" /><Relationship Type="http://schemas.openxmlformats.org/officeDocument/2006/relationships/hyperlink" Target="https://airflow.apache.org/docs/" TargetMode="External" Id="R1fb3d4d610404f6f" /><Relationship Type="http://schemas.openxmlformats.org/officeDocument/2006/relationships/hyperlink" Target="https://iceberg.apache.org/rest-catalog-spec/" TargetMode="External" Id="R51c9e8886fd54c9b" /><Relationship Type="http://schemas.openxmlformats.org/officeDocument/2006/relationships/hyperlink" Target="https://superset.apache.org/docs/api/" TargetMode="External" Id="R6c4c5b4a0189407f" /><Relationship Type="http://schemas.openxmlformats.org/officeDocument/2006/relationships/notesSlide" Target="/ppt/notesSlides/notesSlide21.xml" Id="Rf1e750b721e14d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E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6AD07-5BEB-4270-AAE2-01A6E6DF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7CB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7CBDD"/>
                </a:solidFill>
                <a:latin typeface="Microsoft YaHei"/>
                <a:ea typeface="Microsoft YaHei"/>
                <a:cs typeface="Microsoft YaHei"/>
              </a:rPr>
              <a:t>湖仓平台能力开放规划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0FEF4-033C-4271-9EF5-92E83C6F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 Codex 等用户 Agent</a:t>
            </a:r>
          </a:p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开放远端智能作业能力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CDCC5-0A49-49CC-82C4-C099374D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6DF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6DFDC"/>
                </a:solidFill>
                <a:latin typeface="Microsoft YaHei"/>
                <a:ea typeface="Microsoft YaHei"/>
                <a:cs typeface="Microsoft YaHei"/>
              </a:rPr>
              <a:t>Notebook　Airflow　Iceberg Catalog　Superset BI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DAA84-3123-40D6-B4C8-4758720A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独立专题规划　项目启动后 12 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E1D89-D28B-4FB0-AFE4-45AAC2FF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245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A7CB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7CBD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382314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883C9-5418-4C65-806E-B9798EEF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01  目标与作业场景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BA465-FEFB-4C61-B3A4-B903FCF0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58B5B-15C6-439C-BD37-15425B54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三个月目标：四类作业经统一入口开放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3EA0C-27B6-479F-8BF8-6CF44ADA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用户表达意图，Agent 组织步骤，湖仓平台按身份执行并返回结果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572000"/>
                <a:gridCol w="3714750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作业能力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 Agent 可以完成什么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用户得到什么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Notebook 脚本开发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发现数据、创建工作副本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修改脚本、远端运行与诊断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版本化代码 / Notebook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运行日志和数据产物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Airflow 作业流编排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生成编排草稿、运行已发布 DAG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查看任务、定位失败和受控重跑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可审查的 DAG 变更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运行记录与失败诊断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Iceberg Catalog 操作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查表和快照、提出结构变更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在授权空间生成派生表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稳定的数据集引用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变更前后版本与血缘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Superset BI 访问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找指标、查询图表、解释结果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创建受控草稿与打开看板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带来源的分析结论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图表数据及原生看板链接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867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54667-C296-4979-AACA-4572A019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01  目标与作业场景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3A136-A03C-4B62-B7B6-9A3986B2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E3F1B-86E9-4C96-A645-41C4D12E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示例作业：每天分析 Agent 失败原因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66F33-A9B1-4AC2-85D4-C1548AC7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用户请求：“分析昨日失败轨迹，生成每日更新的统计表和 BI 看板”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02294-CED8-4D8C-8854-3263AA77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238125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1DEC0-4CE7-4F9B-AFA2-DC1EA889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发现数据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95601-46FE-4C6B-9AF2-56267E33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20764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查表与字段定义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读取授权样本和快照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5F2F9-3B75-4225-976D-86D887EC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09800"/>
            <a:ext cx="238125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66B77-6011-4C0F-AE27-447F5ED9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3362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开发脚本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05091-A63B-4470-B086-426F984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20764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Notebook 生成聚合逻辑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远端试跑与结果校验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63EE1-E6CD-4362-B1BF-02B4433D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238125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7B49C-FB76-4D03-9F25-AB32D1CE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3362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编排作业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CF6DF-AED0-486F-A257-CA3A9CBE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20764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从模板生成 DAG 变更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发布后设置每日运行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A7135-30E5-45AD-AAC0-5B8230E0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238125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E5DD0-538F-46DD-A70D-EECE4227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3362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访问结果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F65F8-ACE6-4523-ABAE-6B4FEC71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43200"/>
            <a:ext cx="20764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派生表进入目录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Superset 查询与看板</a:t>
            </a:r>
          </a:p>
        </p:txBody>
      </p: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52750" y="2967038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38825" y="2967038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24900" y="29670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5DCB5F-D22D-497E-A4D2-BCA2EB6B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一次业务任务关联同一条证据链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84750-68AB-4BE6-86F5-7B8CCCD0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81575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输入快照　代码摘要　DAG 版本　运行 ID　结果表版本　图表链接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992AA-83A1-487C-81BD-AA71587D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首期先完成分析与草稿，再进入现有生产发布流程；用户可随时回到原平台界面查看详情。</a:t>
            </a:r>
          </a:p>
        </p:txBody>
      </p:sp>
    </p:spTree>
    <p:extLst>
      <p:ext uri="{BB962C8B-B14F-4D97-AF65-F5344CB8AC3E}">
        <p14:creationId xmlns:p14="http://schemas.microsoft.com/office/powerpoint/2010/main" val="17672826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2EA52-7FEE-4A18-A2CE-60D90298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02  平台架构与接入设计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D88D4-BFB4-42EE-AAF5-3F8ABE6E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4D0E0-C1CD-47D1-8C8A-6837526E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现有底座与新增能力边界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C6AEB-2BBB-4251-9BFF-1DBB51BD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现有系统提供执行能力，新增服务负责把能力变成稳定、受治理的 Agent 工具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191000"/>
                <a:gridCol w="4333875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能力域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已知现状 / 待盘点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本期新增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计算与作业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Airflow / Spark / Ray 已打通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作业适配器、异步状态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取消协调与运行谱系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 BI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Iceberg / StarRocks / Superset 已打通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Catalog / 查询 / BI 工具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用户权限与结果契约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Notebook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产品、运行方式、隔离能力待盘点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工作副本与版本服务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参数化隔离执行与产物管理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接入与治理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MCP、SSO、凭据代理待盘点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统一入口、工具注册、身份委托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策略、配额、审计与调用指标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028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CF0B77-1C81-4267-A548-5A8E8A69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02  平台架构与接入设计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ACC43-EB3E-4548-9512-A33A369D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13943-50F2-4850-AE72-EDAD8DE8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目标架构：统一入口与四类能力适配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06EEA-3460-48EB-A1E2-CC1DD947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MCP 提供 Agent 工具入口，REST / SDK 复用同一作业服务契约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CE75D-7550-497F-AD81-D1DE494F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590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E44"/>
          </a:solidFill>
          <a:ln xmlns:a="http://schemas.openxmlformats.org/drawingml/2006/main" w="9525">
            <a:solidFill>
              <a:srgbClr val="142E4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827D3-5215-4711-A22E-0EC62B8B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8082E-FFDF-481D-9CE9-B26758B0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Codex / 其他兼容客户端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F360B-6B47-4BFD-9E23-A1CCFC71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76450"/>
            <a:ext cx="3571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FFCCE-ADE9-4A98-9F0F-C033E706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00275"/>
            <a:ext cx="3267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统一接入层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365DC-4DAD-4801-94BC-CAD18570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09850"/>
            <a:ext cx="3267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MCP + REST / OpenAPI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工具发现、版本与参数校验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E3746-5A4F-4B06-800C-BD84DC9E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84F99-8F58-4D35-91FA-E575819D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027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平台控制面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1D90F-0334-407B-A517-3EE5B328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身份委托、策略、配额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异步任务、审计与产物访问</a:t>
            </a:r>
          </a:p>
        </p:txBody>
      </p: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62300" y="263842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24750" y="26384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B32D2-D17C-42A3-87C1-ADE6FF7C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1104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210F1-2F72-45B2-BAA1-222397FC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能力适配层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21E0F-793B-47A1-9B11-DA587DD5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Notebook 开发执行　　 Airflow 编排运行　　 Catalog / SQL　　 Superset BI</a:t>
            </a:r>
          </a:p>
        </p:txBody>
      </p:sp>
      <p:cxnSp>
        <p:nvCxnSpPr>
          <p:cNvPr id="42" name=""/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096000" y="3200400"/>
            <a:ext cx="3857625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F913A-24B8-4AE3-9102-2B113D7B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8E5F0-D26A-43CB-B5B8-35231517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1078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既有执行与数据面：Airflow　Spark / Ray　Iceberg　StarRocks　Superset</a:t>
            </a:r>
          </a:p>
        </p:txBody>
      </p:sp>
      <p:cxnSp>
        <p:nvCxnSpPr>
          <p:cNvPr id="45" name=""/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096000" y="491490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0B4E2-39EE-41A7-AE96-524D3C4B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模型调用走独立 MaaS 链路；只有作业本身需要推理时，执行端才调用 MaaS 网关。</a:t>
            </a:r>
          </a:p>
        </p:txBody>
      </p:sp>
    </p:spTree>
    <p:extLst>
      <p:ext uri="{BB962C8B-B14F-4D97-AF65-F5344CB8AC3E}">
        <p14:creationId xmlns:p14="http://schemas.microsoft.com/office/powerpoint/2010/main" val="1022708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81E3E-8042-456A-B96C-E7A06902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02  平台架构与接入设计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C6CF0-BAEC-4DD8-8F39-E284E2C6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6CC41-07D3-4034-9726-E44DA361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Codex 等客户端的远端接入方式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0EA8C-57DE-480B-B5F0-FAA99A0C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优先复用标准工具协议，同时保留企业 SDK / CLI 接入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0800"/>
                <a:gridCol w="4495800"/>
                <a:gridCol w="3962400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方式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部署与身份路径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首月兼容性验证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远端 MCP 入口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HTTPS + Streamable HTTP 候选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企业登录 / 短期委托凭据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目标客户端发现与调用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登录、令牌更新、错误返回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本地连接适配器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受管理的本地 MCP / SDK / CLI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经企业网络访问同一 API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内网可达性、客户端策略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凭据存储与进程生命周期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使用指引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工具说明、参数样例与作业配方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 Codex Skill 封装常见流程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发现数据、试跑、查询结果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工作流可完成率与误调用率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 UI 衔接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 Notebook / DAG / 看板链接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沿用平台访问权限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登录跳转、对象访问权限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结果与 API 查询一致性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5AA07-989F-45D9-A957-99C4453E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Skills 提供使用流程，服务端执行权限；具体 Codex 版本、传输方式与认证支持以试点验证为准。</a:t>
            </a:r>
          </a:p>
        </p:txBody>
      </p:sp>
    </p:spTree>
    <p:extLst>
      <p:ext uri="{BB962C8B-B14F-4D97-AF65-F5344CB8AC3E}">
        <p14:creationId xmlns:p14="http://schemas.microsoft.com/office/powerpoint/2010/main" val="12037389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A49AC-BC35-45C8-96EC-A631F0A1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02  平台架构与接入设计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E5553-C2EA-424D-A900-CAAE1878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C3E2A-49CD-4697-92BB-8FCCDE45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工具面按业务动作组织，返回统一结果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72AAE-0343-4B40-A480-770B693A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以下是平台拟建工具名；共享运行接口减少客户端适配成本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143500"/>
                <a:gridCol w="3571875"/>
              </a:tblGrid>
              <a:tr h="5334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能力域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首期语义工具示例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稳定输入与输出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Notebook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notebook_describe / notebook_stage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notebook_submit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文件版本、参数、镜像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草稿引用 / operation_id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Airflow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workflow_describe / workflow_submit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workflow_prepare_change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DAG 引用、参数、变更内容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运行句柄 / 发布请求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Catalog / 数据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catalog_describe / catalog_plan_change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data_preview / data_create_derived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表与快照、变更 / 查询计划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 / 变更计划 / 数据集引用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Superset BI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bi_find_assets / bi_query_chart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bi_create_draft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 / 数据集、允许过滤条件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数据摘要 / 草稿 / 原生链接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31FC9-F708-4D80-8361-4354842D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公共接口：capabilities_list、operation_apply、run_inspect、run_cancel、artifact_get；按域和权限发现。</a:t>
            </a:r>
          </a:p>
        </p:txBody>
      </p:sp>
    </p:spTree>
    <p:extLst>
      <p:ext uri="{BB962C8B-B14F-4D97-AF65-F5344CB8AC3E}">
        <p14:creationId xmlns:p14="http://schemas.microsoft.com/office/powerpoint/2010/main" val="430991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4ABE0-3CC9-4D54-AE2D-E15EC2BC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03  四类能力开放方案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59A65-F568-4023-BD39-E2BDBA90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9727D-8B25-4CFD-BEC6-842FDF33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Notebook：远端开发、执行与诊断闭环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CEBFB-609D-4489-87DB-F73F89E3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工作区承载可编辑草稿，批执行固定代码版本并创建独立运行环境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EDF46-A4CB-4985-A1A1-7DFAE92A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28575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FC9A5-BB86-4110-8310-1D712D0F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工作副本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314B4-F57F-4481-A1D6-4EAF07D0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552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模板 / 代码 / 参数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补丁绑定预期文件版本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05518-FD73-40F6-8826-B8F79452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81225"/>
            <a:ext cx="31432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E19BB-8575-4C93-A409-9619E24B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版本化提交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99D9E-9D00-4FB5-B05C-9BE85751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14625"/>
            <a:ext cx="2838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代码摘要、依赖镜像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输入快照与资源预算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A0637-EAD6-489D-A50E-5AE183FD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81225"/>
            <a:ext cx="35242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5A3A2-DD56-4400-BAB5-BB2608F4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隔离运行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47866-9C43-422A-A9EA-5F1BA3F6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21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独立 Job / 容器与 Kernel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超时、网络、挂载与凭据</a:t>
            </a:r>
          </a:p>
        </p:txBody>
      </p: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29000" y="290988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34250" y="290988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E537A-62C9-485A-95CA-DE46063A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57700"/>
            <a:ext cx="74295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E44"/>
          </a:solidFill>
          <a:ln xmlns:a="http://schemas.openxmlformats.org/drawingml/2006/main" w="9525">
            <a:solidFill>
              <a:srgbClr val="142E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E8A3C-D5E2-4E4B-8FA1-811F1C06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81525"/>
            <a:ext cx="712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运行反馈与产物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67EFF-2922-43C7-BC14-D4A74443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712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执行后的 Notebook、增量日志、结果表 / 文件引用、失败单元格和资源计量</a:t>
            </a:r>
          </a:p>
        </p:txBody>
      </p:sp>
      <p:cxnSp>
        <p:nvCxnSpPr>
          <p:cNvPr id="40" name=""/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7905750" y="3638550"/>
            <a:ext cx="1952625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AE1B0-B859-402D-B57B-BF9768D9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Agent 根据诊断修改新版本</a:t>
            </a:r>
          </a:p>
          <a:p xmlns:a="http://schemas.openxmlformats.org/drawingml/2006/main">
            <a:pPr algn="l">
              <a:def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重跑保留 retry_of 关联</a:t>
            </a:r>
          </a:p>
          <a:p xmlns:a="http://schemas.openxmlformats.org/drawingml/2006/main">
            <a:pPr algn="l">
              <a:def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生产发布走代码流程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427F2-334B-49E9-8542-4E1C74A1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Contents API 管文件；nbclient / Papermill 可作执行器，排队、幂等、隔离和计量由作业服务补齐。</a:t>
            </a:r>
          </a:p>
        </p:txBody>
      </p:sp>
    </p:spTree>
    <p:extLst>
      <p:ext uri="{BB962C8B-B14F-4D97-AF65-F5344CB8AC3E}">
        <p14:creationId xmlns:p14="http://schemas.microsoft.com/office/powerpoint/2010/main" val="19399156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F34CE0-BBC6-4103-9941-BE0687D1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03  四类能力开放方案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61799-EBF1-49B0-82D5-BD60AB25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30309-5D2B-4AB7-8A17-C7A3BF1A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Airflow：作业运行与编排发布分开管理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3399E-B8B9-46E4-A0EB-5E37D4E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已有 DAG 按参数运行，新 DAG 及调度修改进入现有发布流程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D5D4A-C8B0-405E-BB54-3F2F4B12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运行已发布作业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FF01E-C1EA-44C8-8194-26699E3A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2857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98B0E-1E36-4EB1-A156-1A3B06C6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发现与校验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546EB-FD50-4902-B1C1-0A172E12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2552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DAG 权限、版本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参数 schema 与配额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88F60-AB08-47E6-A0D2-8DF1B83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0BCB2-996C-414A-AB70-5ABBF575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触发与追踪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C86D2-A9DF-4F8B-85E4-0AFB4DCF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52775"/>
            <a:ext cx="283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创建 DAG Run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任务状态、日志、产物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344B0-300F-44E0-A732-D88BBAE7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3524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7237E-9285-4519-A86C-16AE9B0F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4320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诊断与恢复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DF654-9587-48FC-B893-474ADD30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52775"/>
            <a:ext cx="321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关联重跑 / 任务恢复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协调取消底层计算</a:t>
            </a:r>
          </a:p>
        </p:txBody>
      </p: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29000" y="32289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334250" y="32289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CE0B1-3779-43E8-B607-6C405134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6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69A0"/>
                </a:solidFill>
                <a:latin typeface="Microsoft YaHei"/>
                <a:ea typeface="Microsoft YaHei"/>
                <a:cs typeface="Microsoft YaHei"/>
              </a:rPr>
              <a:t>新增与修改编排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7F5313-B37F-474A-8BE3-CBB62377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31908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D9AAD-E27B-470D-A247-7A284638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886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Agent 生成草稿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B4C56-53F7-4022-A628-F5D10DC7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62575"/>
            <a:ext cx="2886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DAG、算子、依赖和调度变更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C0D9F-203D-471B-9E70-84ACC593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829175"/>
            <a:ext cx="31908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9ED446-63D2-40BE-9AC1-3ED2E795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953000"/>
            <a:ext cx="2886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代码校验与发布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98CBE-77BF-42D8-96D9-3131C7BA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362575"/>
            <a:ext cx="2886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Git 变更、导入测试、发布策略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8952E2-FF13-4AE9-9F90-427998FA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29175"/>
            <a:ext cx="31813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9912E-5E24-44F0-A422-6BB3C001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530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登记可运行版本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8CD98C-8813-4CC8-ABCC-B8AA326F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62575"/>
            <a:ext cx="2876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代码 / 镜像 / 部署清单绑定</a:t>
            </a:r>
          </a:p>
        </p:txBody>
      </p:sp>
      <p:cxnSp>
        <p:nvCxnSpPr>
          <p:cNvPr id="56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762375" y="5357813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696200" y="5357813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3B7925-3570-4EF9-A938-97C04A52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取消必须确认 Spark / Ray / Notebook 等实际后端停止；修改 DAG Run 状态不等于终止计算。</a:t>
            </a:r>
          </a:p>
        </p:txBody>
      </p:sp>
    </p:spTree>
    <p:extLst>
      <p:ext uri="{BB962C8B-B14F-4D97-AF65-F5344CB8AC3E}">
        <p14:creationId xmlns:p14="http://schemas.microsoft.com/office/powerpoint/2010/main" val="2689312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86A4B-1E80-4374-9F15-A72D7966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03  四类能力开放方案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577B5-1C04-4C62-AB9E-4B6B0966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5F791-8E04-408B-B15A-106183EF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Iceberg Catalog：元数据操作与 SQL 计算分层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8259C-9B23-4C10-8A64-5E5D09A4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Catalog 管表状态与提交，计算引擎负责扫描、转换与写入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E706C-C376-47BE-8A2C-E4D1C450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3381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9FA39-0A69-4D2D-9BE9-B31ADAC8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3076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Catalog 语义工具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F8833-FC2E-45B1-9D97-A71F65E4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30765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搜索表、schema、分区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快照 / 历史、结构变更计划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94504-67C1-4E04-913A-8F350AED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3381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70440-DB20-4AFE-A166-212FE1DC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3076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REST Catalog / 适配器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04111-C2EA-42F5-9114-F6E42351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71775"/>
            <a:ext cx="30765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命名空间与表元数据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校验并发版本、提交表状态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52875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0369D-6216-471B-8DB0-CB14E11B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14850"/>
            <a:ext cx="3381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44AD0-DA0D-4BB8-8AAD-0573A3DC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38675"/>
            <a:ext cx="3076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数据查询 / 加工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102C6-26BF-4670-ABEF-6C6C5498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048250"/>
            <a:ext cx="30765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Spark SQL 等已验收引擎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预览、聚合、CTAS / DML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6E581-D132-46E8-8C02-348DB2CE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95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E44"/>
          </a:solidFill>
          <a:ln xmlns:a="http://schemas.openxmlformats.org/drawingml/2006/main" w="9525">
            <a:solidFill>
              <a:srgbClr val="142E4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444E9-49A0-4FC0-87A5-D5DD7C7B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622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Iceberg 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9AC40-D0D7-4DD9-9A4B-4AC978B1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7177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metadata / snapshot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数据文件与删除文件</a:t>
            </a:r>
          </a:p>
        </p:txBody>
      </p: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0100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8001000" y="3095625"/>
            <a:ext cx="666750" cy="2085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70B86-496F-4A7D-810D-12ED3B3F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05325"/>
            <a:ext cx="3476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首期写入范围</a:t>
            </a:r>
          </a:p>
          <a:p xmlns:a="http://schemas.openxmlformats.org/drawingml/2006/main">
            <a:pPr algn="l">
              <a:defRPr sz="18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个人 / 项目隔离 namespace</a:t>
            </a:r>
          </a:p>
          <a:p xmlns:a="http://schemas.openxmlformats.org/drawingml/2006/main">
            <a:pPr algn="l">
              <a:defRPr sz="18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增列与派生表按计划执行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4B28B-695D-492F-90E9-415837FA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记录提交前后 metadata 版本，数据写入关联 snapshot；生产发布与物理维护单独授权。</a:t>
            </a:r>
          </a:p>
        </p:txBody>
      </p:sp>
    </p:spTree>
    <p:extLst>
      <p:ext uri="{BB962C8B-B14F-4D97-AF65-F5344CB8AC3E}">
        <p14:creationId xmlns:p14="http://schemas.microsoft.com/office/powerpoint/2010/main" val="7667705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2EDF0-8D4D-4310-90F5-B62828D8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03  四类能力开放方案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D54C0-A959-46E0-815E-37D2740B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C3C60-2F30-4BC2-8C56-012DBDE4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Superset BI：按用户权限访问指标与图表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325EC-F9A7-4BD8-A275-90FC0CEE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Agent 返回指标口径、时间范围、过滤条件和原生看板链接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A93AB-D467-48CC-978A-4484DA67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238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DCF78-B12C-4D4A-B90B-F76C52E3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发现 BI 资产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DB94E-CD8A-4791-98D5-39261C63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293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数据集、指标、图表、看板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读取定义与访问权限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B1208-225B-4AF8-A213-4F3FF4E8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3238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211D5-D54A-428C-9457-AE9D61B0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授权查询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D58FC-5587-46AF-A72E-2390E8D7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76525"/>
            <a:ext cx="293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图表数据 API / 查询适配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限行、超时、脱敏与计量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80D90-8277-466B-887D-79004784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3238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EB7CA-78DE-4EDA-812B-24524905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分析与草稿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7EE7A-7313-4718-8F36-8D0F6E11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76525"/>
            <a:ext cx="293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解释结果、保存图表草稿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打开看板、按策略发布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10000" y="28670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15250" y="28670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4038600"/>
          <a:ext xmlns:a="http://schemas.openxmlformats.org/drawingml/2006/main" cx="110490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77250"/>
              </a:tblGrid>
              <a:tr h="4667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输出类型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含义与实施边界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数据结果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图表查询的摘要 / 有界数据文件，保留指标与权限上下文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资产定义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 / 看板配置的导出包，用于迁移或版本管理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PNG / PDF 渲染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可选增强；依赖已部署的异步渲染与浏览器环境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9F570-C702-4700-8C49-D8FD5AFA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图表访问、编辑与 SQL Lab 分别授权；行列策略由实际查询路径强制执行，防止服务账号绕过权限。</a:t>
            </a:r>
          </a:p>
        </p:txBody>
      </p:sp>
    </p:spTree>
    <p:extLst>
      <p:ext uri="{BB962C8B-B14F-4D97-AF65-F5344CB8AC3E}">
        <p14:creationId xmlns:p14="http://schemas.microsoft.com/office/powerpoint/2010/main" val="16101767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ECA5F-0490-4CE7-A4E9-E1977DB8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治理、可靠性与运行机制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E73AB-2514-420C-A8B6-67FC3B29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183C7-AF0C-4339-AD89-AE7EE539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统一异步契约：一次提交，多次查询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74AEA-F908-4925-8D17-1E6F6368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Notebook、DAG、复杂查询与导出均返回持久化 operation_id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135A8-6075-4139-8E1E-54E2E9DE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5717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2D66F-F869-4263-B3B3-52C5674C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接单校验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B63DC-701C-48A4-844F-6AF0C352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2669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身份、参数、资源版本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幂等键与请求摘要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8369E-CD8D-4B03-873B-6D524AC1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32385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7B7EB-D54D-4555-9F81-ACB01A65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574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排队与运行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79075-B500-4BB5-B93E-2B858AE6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67000"/>
            <a:ext cx="29337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后端任务绑定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状态、日志游标与资源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3CA41-2036-487F-A0BE-5F554201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40957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7CA28-A78E-4DAC-9AA7-BAA63C80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57425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终态与产物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D704F-37AE-4416-85C2-18DD741E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67000"/>
            <a:ext cx="37909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成功 / 失败 / 已取消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受控引用、保留期与诊断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43250" y="27955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53250" y="27955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3695700"/>
          <a:ext xmlns:a="http://schemas.openxmlformats.org/drawingml/2006/main" cx="11049000" cy="2371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77250"/>
              </a:tblGrid>
              <a:tr h="4667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可靠性语义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服务端行为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重复提交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同租户 / 调用方内，同键同请求返回原任务；同键不同参数拒绝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取消与超时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先返回取消已受理；确认实际停止后标记已取消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断连与重试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状态独立于客户端会话持久化；外部写入另做业务幂等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大结果与错误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分页摘要、日志游标和产物引用；分类错误明确可否重试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559E9-C63E-4C4A-A141-DC4E7117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身份从可信认证链路解析；任务 ID 仅用于定位，查询状态和下载结果仍需校验资源权限。</a:t>
            </a:r>
          </a:p>
        </p:txBody>
      </p:sp>
    </p:spTree>
    <p:extLst>
      <p:ext uri="{BB962C8B-B14F-4D97-AF65-F5344CB8AC3E}">
        <p14:creationId xmlns:p14="http://schemas.microsoft.com/office/powerpoint/2010/main" val="15573302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F713D-6E7C-493D-906C-D3F1012E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治理、可靠性与运行机制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C5D30-88EA-4489-AEE5-8C59BBE9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CCE6E-DA3B-43B4-9804-2AC3C7ED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身份委托与数据权限贯穿执行链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4858D-47B2-4203-9244-37EC1E7E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同一用户通过 Agent 与原平台访问相同数据范围，策略由服务端强制执行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E72F0-4653-45E7-B050-66D7300D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2762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301A5-5EAD-4811-9D32-FC1BA56B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企业用户身份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9740A-AF12-4C61-B002-45EC901F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457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SSO 登录与任务范围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客户端身份、短期凭据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E9E25-6EF0-4041-B2C4-D42D6D98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3619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EF91C-202A-46D3-891E-0E45E58B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52675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平台授权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3AF27-1D47-4680-A3FF-16545020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3314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租户、角色、资源、用途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令牌 audience / scope 校验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3420E-C0E9-4EE4-A59E-7A833EB4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3143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65F16-AF98-47D8-9F1D-C8AFF0B3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52675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后端执行身份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F3FC5-88AE-4EF5-8372-A3C05F26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50"/>
            <a:ext cx="2838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按用户 / 项目权限访问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凭据代理与最小授权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30146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15250" y="30146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987EE-6FDA-4A72-AFE7-31228379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授权上下文绑定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DA4D5-C215-43D2-83B6-78F8B22E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96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用户、客户端、操作、代码摘要、资源版本、预算及有效期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58F7D-DE4A-498F-9C1D-01FB95A8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平台企业审批与客户端确认分别管理；已有有效授权可复用，缺少授权时返回具体策略和审批入口。</a:t>
            </a:r>
          </a:p>
        </p:txBody>
      </p:sp>
    </p:spTree>
    <p:extLst>
      <p:ext uri="{BB962C8B-B14F-4D97-AF65-F5344CB8AC3E}">
        <p14:creationId xmlns:p14="http://schemas.microsoft.com/office/powerpoint/2010/main" val="12880669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F309A-9A17-4A9C-A338-B9A6E2ED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治理、可靠性与运行机制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E59BD-4543-4B6D-9052-215B779E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19375-A188-4895-B5F3-51C288B6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开放范围按操作影响分层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E8C94-4E61-4905-A308-76243D03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在既有授权内连续执行，生产变更按公司制度决定是否需要额外审批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238625"/>
                <a:gridCol w="4143375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操作级别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典型作业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服务端控制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发现与有界读取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 schema、读取样本、查询图表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查看脱敏日志和作业状态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资源可见性、行列权限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返回量、扫描量与查询时限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隔离开发与计算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Notebook 运行、临时产物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个人空间派生表与 BI 草稿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隔离环境、镜像 / 网络限制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目标空间、配额与短期凭据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持久变更与发布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正式建表 / 增列 / 数据写入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有副作用 DAG、共享看板发布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操作计划、版本冲突检测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按策略复用授权或触发审批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高影响管理操作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 / purge、大范围覆盖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生产权限或跨域导出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独立运维 / 发布入口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限定责任、影响范围与恢复安排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161D1-908C-47F3-BED3-C56E8151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风险同时取决于数据敏感度、影响范围、资源开销和外部传播；工具名或 HTTP 方法不能单独决定权限。</a:t>
            </a:r>
          </a:p>
        </p:txBody>
      </p:sp>
    </p:spTree>
    <p:extLst>
      <p:ext uri="{BB962C8B-B14F-4D97-AF65-F5344CB8AC3E}">
        <p14:creationId xmlns:p14="http://schemas.microsoft.com/office/powerpoint/2010/main" val="7511266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A57025-6C0E-4671-8540-EA224C31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治理、可靠性与运行机制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B5A63-DAA0-408B-B0D8-F96EDCBC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12BA2-B8B0-49C0-976C-3EAC2414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代码与生产作业的发布链路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5215A-F1D6-4A02-9419-DE69CBAF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Agent 提交可审查的变更，现有发布体系决定何时成为可运行版本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E8045-2FB1-4746-8554-37BA3B4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2381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B1A35-5ED3-470E-A6C2-AE52CED8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开发产物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FB509-8EA1-4157-A48E-9E3FA7BD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2076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Notebook / Python / SQL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DAG 与依赖声明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87F8F-E6F1-43CA-AF62-677DF616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28875"/>
            <a:ext cx="2381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E6E1F-DBDD-4ACA-A04C-35D86A65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527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Git 变更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B7227-EE5B-46DA-9690-16C4A26A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962275"/>
            <a:ext cx="2076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代码差异、输入样例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镜像与资源规格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4DB9C-708B-4B49-8146-D8E828A4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28875"/>
            <a:ext cx="2381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63B46-6A12-4F73-8989-3ED288E3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验证与发布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CB0A4-8926-40D7-9873-2B912DCB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62275"/>
            <a:ext cx="2076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语法、导入与依赖测试</a:t>
            </a:r>
          </a:p>
          <a:p xmlns:a="http://schemas.openxmlformats.org/drawingml/2006/main">
            <a:pPr algn="l">
              <a:def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权限 / 成本 / 发布策略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969EE-87F8-44F6-9E2A-E300DE49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28875"/>
            <a:ext cx="2381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B2694-8345-40CA-B6F7-A71B8827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527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可运行版本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25DD2-BD05-4C2A-B163-E233F691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62275"/>
            <a:ext cx="2076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制品与环境版本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部署清单、任务登记</a:t>
            </a:r>
          </a:p>
        </p:txBody>
      </p: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52750" y="31813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38825" y="31813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24900" y="31813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3B11E-071C-440F-BAB2-D492F6E8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815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运行始终引用已登记版本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77FCB-DDBD-4DE2-B0CC-A5B27C49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代码可追溯、配置可比较、回退有依据；数据副作用按作业自身提交协议处理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45F66-BFBC-415B-91AB-A413CB5E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首期优先模板生成与发布请求；受控自动发布在已有 CI / CD 和企业授权机制内实现。</a:t>
            </a:r>
          </a:p>
        </p:txBody>
      </p:sp>
    </p:spTree>
    <p:extLst>
      <p:ext uri="{BB962C8B-B14F-4D97-AF65-F5344CB8AC3E}">
        <p14:creationId xmlns:p14="http://schemas.microsoft.com/office/powerpoint/2010/main" val="4275171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280FE-5906-4F7F-B46C-92C3AFC9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治理、可靠性与运行机制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46A78-7B5C-41ED-BFEE-DEEBFEDA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33701-D77C-4C54-A994-1813AB66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可观测性同时服务 Agent 诊断与平台运营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91281-D1F2-4A6B-8A6E-A4214D1C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每次工具调用都可关联后端作业、数据版本及用户可访问的产物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714875"/>
                <a:gridCol w="3762375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使用者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需要看到的结果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 / 新增能力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用户与 Agent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状态、失败分类、下一步可执行动作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日志游标、代码差异、产物链接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run / artifact API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 Notebook / DAG / BI 链接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平台运维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调用错误率、排队时长、取消完成度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后端资源、配额及接口版本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网关与适配器指标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任务协调器、告警和审计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安全与数据负责人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用户、工具、策略、读取 / 写入资源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变更计划、授权与导出目的地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身份与审计关联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操作证据及权限撤销记录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管理与业务负责人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四类任务完成率、人工介入点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试点耗时与单位作业成本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StarRocks 运营主题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Superset 效率与成本看板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73176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F4BEB-9F81-474F-8FF4-143CEC93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05  三个月交付与验收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5BE59-AFF4-438F-BD4B-E144FC0D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59F1F-F255-499C-B6FC-AFA8E350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12 周实施路线图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347C6-08FA-4153-8A42-88C719D1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先开放发现与有界执行，再补齐持久变更、发布和运营能力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62150"/>
                <a:gridCol w="3028950"/>
                <a:gridCol w="3028950"/>
                <a:gridCol w="3028950"/>
              </a:tblGrid>
              <a:tr h="5334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工作流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1–4 周：接通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5–8 周：闭环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9–12 周：可运营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公共入口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 / 网络 / 身份盘点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 + REST、工具契约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统一状态、幂等和配额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策略、产物与审计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两类客户端兼容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 / 权限 / 压测验收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Notebook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工作副本、版本保存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固定环境参数化运行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日志、诊断与重跑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子作业取消、产物管理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制品发布衔接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资源与数据访问回归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Airflow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发现已有 DAG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参数校验与触发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状态聚合、诊断与重跑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DAG 模板与变更请求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GitOps 发布绑定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取消协调和运行谱系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Catalog / BI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查表 / 快照、有界预览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图表查询与原生链接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隔离空间派生表 / 增列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图表草稿与受控数据导出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并发冲突 / 权限撤销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端到端业务与结果验收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34170-A91B-447F-B0EA-8D8CD21E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阶段出口：W4 用户可远端试跑；W8 四类作业贯通；W12 业务签收、运营看板与运维交接。</a:t>
            </a:r>
          </a:p>
        </p:txBody>
      </p:sp>
    </p:spTree>
    <p:extLst>
      <p:ext uri="{BB962C8B-B14F-4D97-AF65-F5344CB8AC3E}">
        <p14:creationId xmlns:p14="http://schemas.microsoft.com/office/powerpoint/2010/main" val="13177399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13769-00B0-4A16-A709-4BEE641F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05  三个月交付与验收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715A0-581C-4057-B545-AB9C58E9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02EEA-3163-4387-B9AB-4223CD7C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试点范围、交付包与责任分工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ECC11-FF5F-4FED-8282-5063CC28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建议一个业务域、2–3 类角色；核心投入 7–9 人，按现有服务复用情况调整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2009775"/>
          <a:ext xmlns:a="http://schemas.openxmlformats.org/drawingml/2006/main" cx="110490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000500"/>
                <a:gridCol w="4238625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交付包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主责与建议投入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本期具体范围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入口与治理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平台后端 + IAM / 安全协作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人，协作投入另计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一套公共工具 / REST 契约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身份委托、状态、策略、审计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Notebook / Airflow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作业平台研发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2–3 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 Notebook 运行环境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3–5 个已批准 DAG 与一套模板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Catalog / BI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数据平台研发 + BI 协作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人，业务口径协作另计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 Catalog、有限 namespace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一组授权数据集与图表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 / SRE / 验收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测试与运维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1–2 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一个主客户端及第二客户端互通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权限、取消、故障与容量报告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23A6B-3E4B-469A-9929-BF360E17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前置条件：可复用身份体系、隔离运行资源、访问网络和发布流水线；资源预算在首月测量后确认。</a:t>
            </a:r>
          </a:p>
        </p:txBody>
      </p:sp>
    </p:spTree>
    <p:extLst>
      <p:ext uri="{BB962C8B-B14F-4D97-AF65-F5344CB8AC3E}">
        <p14:creationId xmlns:p14="http://schemas.microsoft.com/office/powerpoint/2010/main" val="15438881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23329-2893-4745-8AF6-C296A11A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05  三个月交付与验收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1F9C2-B9DB-4519-90FD-34CC9571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ED46C-6563-4F2E-BF51-8B685F74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验收以真实业务闭环和故障场景为依据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DCB1D-BC75-49F9-8B50-A9B97D1D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建议指标在 W4 与试点用户共同冻结，性能必须绑定部署与负载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933575"/>
          <a:ext xmlns:a="http://schemas.openxmlformats.org/drawingml/2006/main" cx="11049000" cy="4200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905375"/>
                <a:gridCol w="3667125"/>
              </a:tblGrid>
              <a:tr h="5334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验收维度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必须验证的行为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交付证据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业务闭环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四类作业各一实例；分析到每日作业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结果与原平台人工操作一致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Notebook、DAG Run、结果表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图表链接与用户签收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权限与数据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角色差异、跨租户、伪造资源 ID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权限撤销、缓存 / 导出路径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正反授权用例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策略与审计关联记录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执行可靠性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重复接单、断连重查、并发冲突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后端停止确认、重跑无重复发布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运行状态与实际资源对账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故障注入和冲突测试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版本与治理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 / 参数改变重新校验执行授权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输入输出、环境和发布版本可查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变更计划、制品摘要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运行及数据版本证据链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性能与效率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候选提交 p95 ≤ 2 秒，20 并发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不含后端排队与计算耗时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固定部署的压测报告</a:t>
                      </a:r>
                    </a:p>
                    <a:p>
                      <a:r>
                        <a:rPr sz="165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试点耗时与人工基线对比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6328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D0E5A-6F38-4371-9568-68BB4049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05  三个月交付与验收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4F1F5-F429-47B2-A658-687E7AC2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5659B-F93D-4921-87EB-4C05D332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本期边界与后续扩展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E352A-B369-4B7C-9EAC-4FB7C44D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首期形成可复用的远端作业契约，后续在同一治理框架扩展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429125"/>
                <a:gridCol w="4048125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本期计划范围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后续扩展条件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客户端与接入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主客户端 + 第二客户端互通验证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企业网络内的授权工具入口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扩大客户端与跨网络部署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前提是身份和协议兼容验证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开发与编排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 Notebook、已批准 DAG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模板编排与可审查发布请求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更多运行环境与自动优化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前提是版本、成本和回归覆盖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 BI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有界读取、隔离空间派生表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受控增列、图表草稿与数据结果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更多写入、共享看板与渲染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前提是权限、依赖与导出验收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运营管理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任务、配额、审计与使用看板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生产变更复用企业制度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自动修复与更复杂闭环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前提是副作用可控、恢复可验证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0834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0B23F-7DCB-44DB-9552-AB79BB51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0452B-070F-482C-8470-5122545D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CB269-0442-4DC5-8B1B-61BCDDB2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官方参考入口与首月核验清单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A7E16-90C0-4444-9728-4B2585E5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实施以本公司已部署版本的 OpenAPI、权限配置及客户端兼容测试为准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9DB18-8B3F-4C5D-ADED-FE649552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Codex MCP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EB90B-C97E-4673-BEA9-50548B4F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6ec3c74ee4b49db"/>
              </a:rPr>
              <a:t>developers.openai.com/codex/mcp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92602-0BA2-43A7-9F09-1C6D6BC4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7C49A-5BC8-4A32-8BB2-804A5005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12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MCP 协议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CA8A9-DBDD-4D87-8BE0-12E8D092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812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d22d171438c4df7"/>
              </a:rPr>
              <a:t>modelcontextprotocol.io/specification/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BD2BE-EC85-4CDB-B980-C912D62F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6DB42-11BF-4078-9CC3-CB274E78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Jupyter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7DCD5-8585-42C0-9B66-432411CE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62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bf65912bfbb4f82"/>
              </a:rPr>
              <a:t>jupyter-server.readthedocs.io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956B7-3A7D-4816-BE2B-ECC885B1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59039-E7D4-4597-843D-9786ACDE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433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Airflow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66D8B-A5B8-42E3-B7C4-FD5218E2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433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fb3d4d610404f6f"/>
              </a:rPr>
              <a:t>airflow.apache.org/docs/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03418-FB6B-446F-92BB-EFF0E643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00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88F99-F9AA-4482-9C06-71B98883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Iceberg REST Catalog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CB694-9D19-4DD2-B889-672DD547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243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1c9e8886fd54c9b"/>
              </a:rPr>
              <a:t>iceberg.apache.org/rest-catalog-spec/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B33DB-6B4B-4519-BDDB-CAD339E3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ADB416-743D-493A-80A6-329930B8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Superset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58048F-64B3-4727-8BE2-6F18E597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053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c4c5b4a0189407f"/>
              </a:rPr>
              <a:t>superset.apache.org/docs/api/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2F520-FD97-4D74-B34A-B2AC50A9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核验状态：Codex 官方页本次返回 403；其余为官方参考入口。客户端、API 版本和认证兼容性列入首月验收。</a:t>
            </a:r>
          </a:p>
        </p:txBody>
      </p:sp>
    </p:spTree>
    <p:extLst>
      <p:ext uri="{BB962C8B-B14F-4D97-AF65-F5344CB8AC3E}">
        <p14:creationId xmlns:p14="http://schemas.microsoft.com/office/powerpoint/2010/main" val="2070761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2026-09-21T14:16:38.8310000Z</dcterms:created>
  <dcterms:modified xsi:type="dcterms:W3CDTF">2026-09-21T14:16:38.8320000Z</dcterms:modified>
</coreProperties>
</file>