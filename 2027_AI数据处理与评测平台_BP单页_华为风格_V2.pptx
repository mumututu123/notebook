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ee22529d8e4e77" /><Relationship Type="http://schemas.openxmlformats.org/officeDocument/2006/relationships/extended-properties" Target="/docProps/app.xml" Id="R826647f0f470404e" /><Relationship Type="http://schemas.openxmlformats.org/officeDocument/2006/relationships/officeDocument" Target="/ppt/presentation.xml" Id="Re342d4cafddd40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71ed8a9fd74327"/>
  </p:sldMasterIdLst>
  <p:notesMasterIdLst>
    <p:notesMasterId xmlns:r="http://schemas.openxmlformats.org/officeDocument/2006/relationships" r:id="R5578d1a4467f4f45"/>
  </p:notesMasterIdLst>
  <p:sldIdLst>
    <p:sldId xmlns:r="http://schemas.openxmlformats.org/officeDocument/2006/relationships" id="256" r:id="R76eae32501bf419d"/>
  </p:sldIdLst>
  <p:sldSz cx="14630400" cy="82296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89d5ee4f5c4c7c" /><Relationship Type="http://schemas.openxmlformats.org/officeDocument/2006/relationships/slideMaster" Target="/ppt/slideMasters/slideMaster1.xml" Id="R7671ed8a9fd74327" /><Relationship Type="http://schemas.openxmlformats.org/officeDocument/2006/relationships/notesMaster" Target="/ppt/notesMasters/notesMaster1.xml" Id="R5578d1a4467f4f45" /><Relationship Type="http://schemas.openxmlformats.org/officeDocument/2006/relationships/presProps" Target="/ppt/presProps.xml" Id="Rf408c010f70f4b97" /><Relationship Type="http://schemas.openxmlformats.org/officeDocument/2006/relationships/viewProps" Target="/ppt/viewProps.xml" Id="R05e91fc01e3e4acd" /><Relationship Type="http://schemas.openxmlformats.org/officeDocument/2006/relationships/tableStyles" Target="/ppt/tableStyles.xml" Id="Rc0816c55feb04089" /><Relationship Type="http://schemas.openxmlformats.org/officeDocument/2006/relationships/slide" Target="/ppt/slides/slide1.xml" Id="R76eae32501bf41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2d18aa711d42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Huawei-inspired Red White Gray">
  <a:themeElements>
    <a:clrScheme name="Huawei-inspired Red White Gray">
      <a:dk1>
        <a:srgbClr val="333333"/>
      </a:dk1>
      <a:lt1>
        <a:srgbClr val="FFFFFF"/>
      </a:lt1>
      <a:dk2>
        <a:srgbClr val="262626"/>
      </a:dk2>
      <a:lt2>
        <a:srgbClr val="F5F5F5"/>
      </a:lt2>
      <a:accent1>
        <a:srgbClr val="C7000B"/>
      </a:accent1>
      <a:accent2>
        <a:srgbClr val="666666"/>
      </a:accent2>
      <a:accent3>
        <a:srgbClr val="D9D9D9"/>
      </a:accent3>
      <a:accent4>
        <a:srgbClr val="FCEBEC"/>
      </a:accent4>
      <a:accent5>
        <a:srgbClr val="999999"/>
      </a:accent5>
      <a:accent6>
        <a:srgbClr val="8C0008"/>
      </a:accent6>
      <a:hlink>
        <a:srgbClr val="C7000B"/>
      </a:hlink>
      <a:folHlink>
        <a:srgbClr val="8C0008"/>
      </a:folHlink>
    </a:clrScheme>
    <a:fontScheme name="Microsoft YaHei">
      <a:majorFont>
        <a:latin typeface="Microsoft YaHei"/>
        <a:ea typeface="Microsoft YaHei"/>
        <a:cs typeface=""/>
        <a:font script="Jpan" typeface="游ゴシック Light"/>
        <a:font script="Hang" typeface="맑은 고딕"/>
        <a:font script="Hans" typeface="Microsoft YaHe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Microsoft YaHei"/>
        <a:cs typeface=""/>
        <a:font script="Jpan" typeface="游ゴシック"/>
        <a:font script="Hang" typeface="맑은 고딕"/>
        <a:font script="Hans" typeface="Microsoft YaHe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Huawei-inspired Red White Gray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e4eba5eb824cfa" /><Relationship Type="http://schemas.openxmlformats.org/officeDocument/2006/relationships/notesMaster" Target="/ppt/notesMasters/notesMaster1.xml" Id="R0cc87ca5c26245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信息来源：用户提供的业务目标、核心问题、建设路标，以及本轮共同对齐的写作结构。</a:t>
            </a:r>
            <a:br/>
            <a:r>
              <a:t>定位：内部产品商用支撑规划，未假定外部SaaS收费或营收目标。</a:t>
            </a:r>
            <a:br/>
            <a:r>
              <a:t>场景：无线网络优化Agent仅为贯穿示例，重点项目与用户范围待确认。</a:t>
            </a:r>
            <a:br/>
            <a:r>
              <a:t>作业：多模态数据加工为任务执行及轨迹合成提供场景输入；Agent可在沙箱/无线仿真中交互生成轨迹，也可通过模型辅助生成候选轨迹后进行验证。轨迹需保留真实执行/模型合成等来源和验证状态。</a:t>
            </a:r>
            <a:br/>
            <a:r>
              <a:t>质量：数据与轨迹质检关注完整性、可执行性及场景覆盖；场景效果评测关注业务目标和约束达成。失败轨迹也可能具有复现与训练价值。独立评测数据应与训练数据按任务与衍生关系隔离。训练动态奖励不等同于发布验收结论。</a:t>
            </a:r>
            <a:br/>
            <a:r>
              <a:t>按需使用：加工质检后可直接交付数据/轨迹包；已有Agent可直接评测；需要优化时才进入训练与Skill迭代。</a:t>
            </a:r>
            <a:br/>
            <a:r>
              <a:t>能力边界：沙箱和仿真支撑合成、执行及验证；RL框架与集群是支撑层。本版建议补齐场景化基准、版本关联、跨作业产物交接与失败回流机制，不表示这些能力已具备。</a:t>
            </a:r>
            <a:br/>
            <a:r>
              <a:t>路标：原始四组路标均标为27Q1，本页保留内容并按交付依赖整理成四阶段，未确认为Q1-Q4。轨迹合成与环境支撑的依赖应在排期时进一步确认。Skill自迭代按评测收益逐步验证，不承诺无约束自进化。</a:t>
            </a:r>
            <a:br/>
            <a:r>
              <a:t>指标：接入产品/场景数、按用途验收合格的数据与轨迹供给、数据生产周期和产品迭代周期；计量口径、当前基线、年度目标和资源投入待确认。</a:t>
            </a:r>
            <a:br/>
            <a:r>
              <a:t>交付：本PPT为一页，所有文字、图形和连接线可编辑。PDF为同一版式数据生成的审阅版。主题说明：本版选用红、白、深灰制作华为风格配色，未使用华为官方母版或标识；仅调整视觉样式，业务文案沿用V1。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c3e8d91c8b465e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798fd035ee4e56" /><Relationship Type="http://schemas.openxmlformats.org/officeDocument/2006/relationships/slideLayout" Target="/ppt/slideLayouts/slideLayout1.xml" Id="R9d1c735b855244e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1c735b855244e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Huawei-inspired Red White Gray">
  <a:themeElements>
    <a:clrScheme name="Huawei-inspired Red White Gray">
      <a:dk1>
        <a:srgbClr val="333333"/>
      </a:dk1>
      <a:lt1>
        <a:srgbClr val="FFFFFF"/>
      </a:lt1>
      <a:dk2>
        <a:srgbClr val="262626"/>
      </a:dk2>
      <a:lt2>
        <a:srgbClr val="F5F5F5"/>
      </a:lt2>
      <a:accent1>
        <a:srgbClr val="C7000B"/>
      </a:accent1>
      <a:accent2>
        <a:srgbClr val="666666"/>
      </a:accent2>
      <a:accent3>
        <a:srgbClr val="D9D9D9"/>
      </a:accent3>
      <a:accent4>
        <a:srgbClr val="FCEBEC"/>
      </a:accent4>
      <a:accent5>
        <a:srgbClr val="999999"/>
      </a:accent5>
      <a:accent6>
        <a:srgbClr val="8C0008"/>
      </a:accent6>
      <a:hlink>
        <a:srgbClr val="C7000B"/>
      </a:hlink>
      <a:folHlink>
        <a:srgbClr val="8C0008"/>
      </a:folHlink>
    </a:clrScheme>
    <a:fontScheme name="Microsoft YaHei">
      <a:majorFont>
        <a:latin typeface="Microsoft YaHei"/>
        <a:ea typeface="Microsoft YaHei"/>
        <a:cs typeface=""/>
        <a:font script="Jpan" typeface="游ゴシック Light"/>
        <a:font script="Hang" typeface="맑은 고딕"/>
        <a:font script="Hans" typeface="Microsoft YaHe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Microsoft YaHei"/>
        <a:cs typeface=""/>
        <a:font script="Jpan" typeface="游ゴシック"/>
        <a:font script="Hang" typeface="맑은 고딕"/>
        <a:font script="Hans" typeface="Microsoft YaHe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Huawei-inspired Red White Gray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200a45ed8496d" /><Relationship Type="http://schemas.openxmlformats.org/officeDocument/2006/relationships/notesSlide" Target="/ppt/notesSlides/notesSlide1.xml" Id="Ra915c40489d849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D3117F0-6EF2-4426-A6D6-C334BB88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12700">
            <a:solidFill>
              <a:schemeClr val="lt1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542F0FA-6BBF-4E4F-880B-8AD88060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83464"/>
            <a:ext cx="54864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7E38CDB-81F8-41C2-A672-B0B84E01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274320"/>
            <a:ext cx="11247120" cy="4725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736" b="1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2027 AI数据处理与评测平台业务规划</a:t>
            </a:r>
            <a:endParaRPr sz="2736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1227941-ACD0-4F79-8FC5-253F8C2F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448056"/>
            <a:ext cx="3017520" cy="1741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8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业务商用支撑 · 讨论稿 V2</a:t>
            </a:r>
            <a:endParaRPr sz="1008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D976CCC-AB27-4C9C-A3DF-B93BE6F3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777240"/>
            <a:ext cx="13898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288">
            <a:solidFill>
              <a:schemeClr val="accent1"/>
            </a:solidFill>
            <a:prstDash val="solid"/>
            <a:headEnd type="none"/>
            <a:tailEnd type="none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DF76645-3F37-418B-A30C-6CF85409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905256"/>
            <a:ext cx="1389888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 w="12700">
            <a:solidFill>
              <a:schemeClr val="lt2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8486C29-2292-4770-8FF0-8677EEE6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905256"/>
            <a:ext cx="36576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F5615FA-92EF-433E-BF06-4D9B609F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96696"/>
            <a:ext cx="2103120" cy="1741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8" b="1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场景与年度目标</a:t>
            </a:r>
            <a:endParaRPr sz="1008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B4D718F-A874-4A2B-B10B-96C21514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07008"/>
            <a:ext cx="7589520" cy="2611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12" b="1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面向通信网络 / 无线信道等产业多模态场景</a:t>
            </a:r>
            <a:endParaRPr sz="1512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46BEA9E-45F2-434F-902A-FD88001A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72184"/>
            <a:ext cx="7589520" cy="1741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8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贯穿示例：无线网络优化Agent的开发与验证</a:t>
            </a:r>
            <a:endParaRPr sz="1008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5142492-4788-488E-8040-8B0564ED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1088136"/>
            <a:ext cx="0" cy="4389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144">
            <a:solidFill>
              <a:schemeClr val="accent3"/>
            </a:solidFill>
            <a:prstDash val="solid"/>
            <a:headEnd type="none"/>
            <a:tailEnd type="none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F8483F0-DDAA-4F80-A885-582F7034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106424"/>
            <a:ext cx="5029200" cy="2611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12" b="1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贯通数据加工、轨迹合成与场景评测</a:t>
            </a:r>
            <a:endParaRPr sz="1512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ABB95B5-E730-45D2-8601-F21452E5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417320"/>
            <a:ext cx="5029200" cy="1989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2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优质数据供给  ·  数据关联复用  ·  产品迭代提效</a:t>
            </a:r>
            <a:endParaRPr sz="1152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DF06307-7E38-4510-B8DB-3F632117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828800"/>
            <a:ext cx="13898880" cy="35661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 w="12700">
            <a:solidFill>
              <a:schemeClr val="lt2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2DE1011-3A25-4CA3-A2FE-94CBD525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911096"/>
            <a:ext cx="841248" cy="1989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2" b="1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任务牵引</a:t>
            </a:r>
            <a:endParaRPr sz="1152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72A332D-45D6-4ADC-AF1A-24071C4A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176" y="1911096"/>
            <a:ext cx="6583680" cy="2114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24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任务目标 · 场景输入 · 环境约束 · 验收规则</a:t>
            </a:r>
            <a:endParaRPr sz="1224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AB846BC-40A2-41EE-B2E1-46D571ED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1920240"/>
            <a:ext cx="5779008" cy="1989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2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按需使用：数据加工 / 独立评测 / Agent迭代</a:t>
            </a:r>
            <a:endParaRPr sz="1152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67F30D6-6E6B-4FBD-ACD1-111FEC99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295144"/>
            <a:ext cx="4389120" cy="2611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12" b="1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场景作业与能力全景</a:t>
            </a:r>
            <a:endParaRPr sz="1512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F045FA8-5B45-421D-A814-C04C700B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2340864"/>
            <a:ext cx="4754880" cy="1865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80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前置定义标准 · 过程产生数据 · 评测反馈改进</a:t>
            </a:r>
            <a:endParaRPr sz="108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3B76FBD-A625-48B1-BB37-83D6DC01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697480"/>
            <a:ext cx="310896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8890">
            <a:solidFill>
              <a:schemeClr val="accent3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FEF381E0-410D-46AA-B31F-EB1AFEA4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" y="2706624"/>
            <a:ext cx="3090672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 w="12700">
            <a:solidFill>
              <a:schemeClr val="lt2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B872F4ED-E37C-4C40-8CC1-FAD07510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3054096"/>
            <a:ext cx="2852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144">
            <a:solidFill>
              <a:schemeClr val="accent3"/>
            </a:solidFill>
            <a:prstDash val="solid"/>
            <a:headEnd type="none"/>
            <a:tailEnd type="none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595E7F8-B1C9-4080-8A5F-39AEFC37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2697480"/>
            <a:ext cx="182880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8890">
            <a:solidFill>
              <a:schemeClr val="accent3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189EC821-047D-4615-9A1B-4DCC3B5D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624" y="2706624"/>
            <a:ext cx="1810512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 w="12700">
            <a:solidFill>
              <a:schemeClr val="lt2"/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D96BEAC4-FF94-45D9-AFC9-4F7FDA83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496" y="3054096"/>
            <a:ext cx="15727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144">
            <a:solidFill>
              <a:schemeClr val="accent3"/>
            </a:solidFill>
            <a:prstDash val="solid"/>
            <a:headEnd type="none"/>
            <a:tailEnd type="none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C6FEBA86-9D13-4F0A-9872-7A90C36B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697480"/>
            <a:ext cx="237744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8890">
            <a:solidFill>
              <a:schemeClr val="accent3"/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1EB95B0C-9D56-4BD7-B7B1-2ED9DF38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4" y="2706624"/>
            <a:ext cx="2359152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 w="12700">
            <a:solidFill>
              <a:schemeClr val="lt2"/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037BABA6-0C6B-4418-8DF3-06FC4119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3054096"/>
            <a:ext cx="21214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144">
            <a:solidFill>
              <a:schemeClr val="accent3"/>
            </a:solidFill>
            <a:prstDash val="solid"/>
            <a:headEnd type="none"/>
            <a:tailEnd type="none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3BE2D82-4E3F-4313-B4A9-2B506208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697480"/>
            <a:ext cx="237744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8890">
            <a:solidFill>
              <a:schemeClr val="accent3"/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4ECB17B9-52C7-4162-8483-35A2075B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384" y="2706624"/>
            <a:ext cx="2359152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 w="12700">
            <a:solidFill>
              <a:schemeClr val="lt2"/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B1BD8765-E404-4EF5-92BB-954959A9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6256" y="3054096"/>
            <a:ext cx="21214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144">
            <a:solidFill>
              <a:schemeClr val="accent3"/>
            </a:solidFill>
            <a:prstDash val="solid"/>
            <a:headEnd type="none"/>
            <a:tailEnd type="none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46C42F47-4D84-461A-90B6-579A03CD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2697480"/>
            <a:ext cx="274320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8890">
            <a:solidFill>
              <a:schemeClr val="accent3"/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0DFF2397-2DE7-494C-97F8-A477DDB3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584" y="2706624"/>
            <a:ext cx="2724912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 w="12700">
            <a:solidFill>
              <a:schemeClr val="lt2"/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8112325C-8C70-4961-AE9F-959B81AB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456" y="3054096"/>
            <a:ext cx="24871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144">
            <a:solidFill>
              <a:schemeClr val="accent3"/>
            </a:solidFill>
            <a:prstDash val="solid"/>
            <a:headEnd type="none"/>
            <a:tailEnd type="none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A2D22F45-73F1-4DC6-9CB3-70636B9C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2770632"/>
            <a:ext cx="256032" cy="1741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8" b="1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sz="1008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2447BFBE-630A-44E6-9EDB-43355DA2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2706624"/>
            <a:ext cx="2532888" cy="2487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40" b="1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数据生产</a:t>
            </a:r>
            <a:endParaRPr sz="144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E3BF802-415C-444F-9A11-26F9C3CB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784" y="2770632"/>
            <a:ext cx="256032" cy="1741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8" b="1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1008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99DA3F70-F22E-45C0-93EC-71357840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2706624"/>
            <a:ext cx="1252728" cy="2487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40" b="1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质量筛选</a:t>
            </a:r>
            <a:endParaRPr sz="144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B710188E-5B2A-4C6A-92B5-9181F67B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770632"/>
            <a:ext cx="256032" cy="1741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8" b="1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1008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5BDD8C7D-342D-4CA1-BF10-3E92925F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2706624"/>
            <a:ext cx="1801368" cy="2362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68" b="1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运行与按需训练</a:t>
            </a:r>
            <a:endParaRPr sz="1368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C99FA16C-8C96-4002-94D3-C489A0E7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544" y="2770632"/>
            <a:ext cx="256032" cy="1741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8" b="1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sz="1008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BF961D9A-6290-4616-8097-083BF708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706624"/>
            <a:ext cx="1801368" cy="2362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68" b="1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场景效果评测</a:t>
            </a:r>
            <a:endParaRPr sz="1368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00F58B0A-7824-4D0E-8E35-0B053450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7744" y="2770632"/>
            <a:ext cx="256032" cy="1741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8" b="1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05</a:t>
            </a:r>
            <a:endParaRPr sz="1008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5893031D-445A-41AA-85F6-CFE9F4EB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9496" y="2706624"/>
            <a:ext cx="2167128" cy="2487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40" b="1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交付与复用</a:t>
            </a:r>
            <a:endParaRPr sz="144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16B00F95-DAA6-4041-99B7-67A058B4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3154680"/>
            <a:ext cx="2798064" cy="2362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68" b="1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多模态数据加工</a:t>
            </a:r>
            <a:endParaRPr sz="1368"/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2C44DFD5-E1A0-4ACA-8A51-6B619905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3429000"/>
            <a:ext cx="2798064" cy="1989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2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关联检索 · 数据清洗 · 多模合成</a:t>
            </a:r>
            <a:endParaRPr sz="1152"/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36C3405B-4DDA-4844-BE2A-C4E8E73A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703320"/>
            <a:ext cx="2889504" cy="85953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12700">
            <a:solidFill>
              <a:schemeClr val="accent4"/>
            </a:solidFill>
            <a:prstDash val="solid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12B88896-F670-4D54-B31D-6653830A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703320"/>
            <a:ext cx="27432" cy="85953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22964940-36EC-4CBD-8694-6935752A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3785616"/>
            <a:ext cx="2679192" cy="2487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40" b="1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Agent轨迹合成</a:t>
            </a:r>
            <a:endParaRPr sz="1440"/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C7E21F61-5FFC-401E-B7CA-B7C730AD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087368"/>
            <a:ext cx="2679192" cy="1989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2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任务扩展 · 环境交互 · 分支采样</a:t>
            </a:r>
            <a:endParaRPr sz="1152"/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11AA0912-FAD6-46EF-8875-812E3D22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4315968"/>
            <a:ext cx="2679192" cy="1989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2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多模观察 / 工具调用 / 分叉重试</a:t>
            </a:r>
            <a:endParaRPr sz="1152"/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F39B23F8-20A1-46FE-947F-BD6C6654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928" y="3200400"/>
            <a:ext cx="1517904" cy="1989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2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数据 / 轨迹质检</a:t>
            </a:r>
            <a:endParaRPr sz="1152"/>
          </a:p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31CB6CA9-D1DC-4598-8338-A27DF09E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928" y="3493008"/>
            <a:ext cx="1517904" cy="1989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2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完整性 · 可执行性</a:t>
            </a:r>
            <a:endParaRPr sz="1152"/>
          </a:p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C6521CBB-E062-4D46-9982-FFE4DF78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928" y="3785616"/>
            <a:ext cx="1517904" cy="1989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2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覆盖度 · 场景适配</a:t>
            </a:r>
            <a:endParaRPr sz="1152"/>
          </a:p>
        </p:txBody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5477C3D7-4344-44A0-83A3-3CFDECE6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208" y="4169664"/>
            <a:ext cx="1609344" cy="35661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 w="12700">
            <a:solidFill>
              <a:schemeClr val="lt2"/>
            </a:solidFill>
            <a:prstDash val="solid"/>
          </a:ln>
        </p:spPr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3ED377EE-DFD6-4F87-82A8-4963FC6A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504" y="4261104"/>
            <a:ext cx="1444752" cy="1865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 b="1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分用途分集 / 版本化</a:t>
            </a:r>
            <a:endParaRPr sz="1080"/>
          </a:p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C9E1B02E-9E22-4EC6-AF16-075F279B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200400"/>
            <a:ext cx="2066544" cy="2114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24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Agent沙箱 / 无线仿真</a:t>
            </a:r>
            <a:endParaRPr sz="1224"/>
          </a:p>
        </p:txBody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951563D2-CB5E-44A9-B3B7-5C7786CD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493008"/>
            <a:ext cx="2066544" cy="2114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24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RL框架适配 · 动态奖励</a:t>
            </a:r>
            <a:endParaRPr sz="1224"/>
          </a:p>
        </p:txBody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5B30111F-6AD1-45EB-B478-533B2A21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785616"/>
            <a:ext cx="2066544" cy="2114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24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RL过程可视 · Skill优化</a:t>
            </a:r>
            <a:endParaRPr sz="1224"/>
          </a:p>
        </p:txBody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B2DEEC01-7B45-4231-98D8-88C74C8B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4279392"/>
            <a:ext cx="2066544" cy="1741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8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产出：候选版本 + 运行轨迹</a:t>
            </a:r>
            <a:endParaRPr sz="1008"/>
          </a:p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6A0F17EE-5196-4C42-8CF0-6AAF7B0F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3200400"/>
            <a:ext cx="2066544" cy="2114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24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独立评测集 / 验收规则</a:t>
            </a:r>
            <a:endParaRPr sz="1224"/>
          </a:p>
        </p:txBody>
      </p:sp>
      <p:sp>
        <p:nvSpPr>
          <p:cNvPr id="63" name="Text 61">
            <a:extLst xmlns:a="http://schemas.openxmlformats.org/drawingml/2006/main">
              <a:ext uri="{FF2B5EF4-FFF2-40B4-BE49-F238E27FC236}">
                <a16:creationId xmlns:a16="http://schemas.microsoft.com/office/drawing/2014/main" id="{3ADCFF99-E25D-4E44-814F-8950CAC6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3493008"/>
            <a:ext cx="2066544" cy="2114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24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任务效果 · 约束达成</a:t>
            </a:r>
            <a:endParaRPr sz="1224"/>
          </a:p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A1278BEC-F9F9-4A42-810A-1D3901EF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3785616"/>
            <a:ext cx="2066544" cy="2114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24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轨迹诊断 · 版本比较</a:t>
            </a:r>
            <a:endParaRPr sz="1224"/>
          </a:p>
        </p:txBody>
      </p:sp>
      <p:sp>
        <p:nvSpPr>
          <p:cNvPr id="65" name="Text 63">
            <a:extLst xmlns:a="http://schemas.openxmlformats.org/drawingml/2006/main">
              <a:ext uri="{FF2B5EF4-FFF2-40B4-BE49-F238E27FC236}">
                <a16:creationId xmlns:a16="http://schemas.microsoft.com/office/drawing/2014/main" id="{91BBED4D-9050-4037-8308-1AAA72BC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4087368"/>
            <a:ext cx="2066544" cy="1741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8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产出：验收报告 + 问题清单</a:t>
            </a:r>
            <a:endParaRPr sz="1008"/>
          </a:p>
        </p:txBody>
      </p:sp>
      <p:sp>
        <p:nvSpPr>
          <p:cNvPr id="66" name="Text 64">
            <a:extLst xmlns:a="http://schemas.openxmlformats.org/drawingml/2006/main">
              <a:ext uri="{FF2B5EF4-FFF2-40B4-BE49-F238E27FC236}">
                <a16:creationId xmlns:a16="http://schemas.microsoft.com/office/drawing/2014/main" id="{18381C38-99CB-4D04-9DD1-DFF12E3B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4379976"/>
            <a:ext cx="2066544" cy="1741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8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训练奖励与验收标准分开</a:t>
            </a:r>
            <a:endParaRPr sz="1008"/>
          </a:p>
        </p:txBody>
      </p:sp>
      <p:sp>
        <p:nvSpPr>
          <p:cNvPr id="67" name="Shape 65">
            <a:extLst xmlns:a="http://schemas.openxmlformats.org/drawingml/2006/main">
              <a:ext uri="{FF2B5EF4-FFF2-40B4-BE49-F238E27FC236}">
                <a16:creationId xmlns:a16="http://schemas.microsoft.com/office/drawing/2014/main" id="{BCBE0E88-26DD-44E7-8E61-1290D4FE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7744" y="3182112"/>
            <a:ext cx="80467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12700">
            <a:solidFill>
              <a:schemeClr val="accent4"/>
            </a:solidFill>
            <a:prstDash val="solid"/>
          </a:ln>
        </p:spPr>
      </p:sp>
      <p:sp>
        <p:nvSpPr>
          <p:cNvPr id="68" name="Text 66">
            <a:extLst xmlns:a="http://schemas.openxmlformats.org/drawingml/2006/main">
              <a:ext uri="{FF2B5EF4-FFF2-40B4-BE49-F238E27FC236}">
                <a16:creationId xmlns:a16="http://schemas.microsoft.com/office/drawing/2014/main" id="{59BDFAD2-A60C-476F-8A72-44F08EF2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0" y="3236976"/>
            <a:ext cx="731520" cy="1865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数据包</a:t>
            </a:r>
            <a:endParaRPr sz="1080"/>
          </a:p>
        </p:txBody>
      </p:sp>
      <p:sp>
        <p:nvSpPr>
          <p:cNvPr id="69" name="Text 67">
            <a:extLst xmlns:a="http://schemas.openxmlformats.org/drawingml/2006/main">
              <a:ext uri="{FF2B5EF4-FFF2-40B4-BE49-F238E27FC236}">
                <a16:creationId xmlns:a16="http://schemas.microsoft.com/office/drawing/2014/main" id="{ADD498B5-21B7-4061-B280-F021A37E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1288" y="3246120"/>
            <a:ext cx="1536192" cy="1865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合格数据 / 轨迹集</a:t>
            </a:r>
            <a:endParaRPr sz="1080"/>
          </a:p>
        </p:txBody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01602F11-02A1-49C1-87BE-BA6B177B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7744" y="3630168"/>
            <a:ext cx="80467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 w="12700">
            <a:solidFill>
              <a:schemeClr val="lt2"/>
            </a:solidFill>
            <a:prstDash val="solid"/>
          </a:ln>
        </p:spPr>
      </p:sp>
      <p:sp>
        <p:nvSpPr>
          <p:cNvPr id="71" name="Text 69">
            <a:extLst xmlns:a="http://schemas.openxmlformats.org/drawingml/2006/main">
              <a:ext uri="{FF2B5EF4-FFF2-40B4-BE49-F238E27FC236}">
                <a16:creationId xmlns:a16="http://schemas.microsoft.com/office/drawing/2014/main" id="{F5AAF58C-55BD-4574-A836-E1DDB2C5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0" y="3685032"/>
            <a:ext cx="731520" cy="1865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评测报告</a:t>
            </a:r>
            <a:endParaRPr sz="1080"/>
          </a:p>
        </p:txBody>
      </p:sp>
      <p:sp>
        <p:nvSpPr>
          <p:cNvPr id="72" name="Text 70">
            <a:extLst xmlns:a="http://schemas.openxmlformats.org/drawingml/2006/main">
              <a:ext uri="{FF2B5EF4-FFF2-40B4-BE49-F238E27FC236}">
                <a16:creationId xmlns:a16="http://schemas.microsoft.com/office/drawing/2014/main" id="{501B6379-2666-4076-9A9A-BA8B435D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1288" y="3694176"/>
            <a:ext cx="1536192" cy="1865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问题清单与版本结论</a:t>
            </a:r>
            <a:endParaRPr sz="1080"/>
          </a:p>
        </p:txBody>
      </p:sp>
      <p:sp>
        <p:nvSpPr>
          <p:cNvPr id="73" name="Shape 71">
            <a:extLst xmlns:a="http://schemas.openxmlformats.org/drawingml/2006/main">
              <a:ext uri="{FF2B5EF4-FFF2-40B4-BE49-F238E27FC236}">
                <a16:creationId xmlns:a16="http://schemas.microsoft.com/office/drawing/2014/main" id="{61D0D39F-5951-4880-8E68-3FEBE8B7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7744" y="4078224"/>
            <a:ext cx="80467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 w="12700">
            <a:solidFill>
              <a:schemeClr val="lt2"/>
            </a:solidFill>
            <a:prstDash val="solid"/>
          </a:ln>
        </p:spPr>
      </p:sp>
      <p:sp>
        <p:nvSpPr>
          <p:cNvPr id="74" name="Text 72">
            <a:extLst xmlns:a="http://schemas.openxmlformats.org/drawingml/2006/main">
              <a:ext uri="{FF2B5EF4-FFF2-40B4-BE49-F238E27FC236}">
                <a16:creationId xmlns:a16="http://schemas.microsoft.com/office/drawing/2014/main" id="{BE7F6475-0EF0-456B-B861-3EF9E0F0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0" y="4133088"/>
            <a:ext cx="731520" cy="1865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Agent版本</a:t>
            </a:r>
            <a:endParaRPr sz="1080"/>
          </a:p>
        </p:txBody>
      </p:sp>
      <p:sp>
        <p:nvSpPr>
          <p:cNvPr id="75" name="Text 73">
            <a:extLst xmlns:a="http://schemas.openxmlformats.org/drawingml/2006/main">
              <a:ext uri="{FF2B5EF4-FFF2-40B4-BE49-F238E27FC236}">
                <a16:creationId xmlns:a16="http://schemas.microsoft.com/office/drawing/2014/main" id="{46AD26D3-AF2D-44EE-94D0-97A8448F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1288" y="4142232"/>
            <a:ext cx="1536192" cy="1865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集成发布与资产复用</a:t>
            </a:r>
            <a:endParaRPr sz="1080"/>
          </a:p>
        </p:txBody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E974C061-5FBB-4AB4-9CB8-09C537B3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520440"/>
            <a:ext cx="265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288">
            <a:solidFill>
              <a:schemeClr val="accent1"/>
            </a:solidFill>
            <a:prstDash val="solid"/>
            <a:headEnd type="none"/>
            <a:tailEnd type="triangle"/>
          </a:ln>
        </p:spPr>
      </p:sp>
      <p:sp>
        <p:nvSpPr>
          <p:cNvPr id="77" name="Shape 75">
            <a:extLst xmlns:a="http://schemas.openxmlformats.org/drawingml/2006/main">
              <a:ext uri="{FF2B5EF4-FFF2-40B4-BE49-F238E27FC236}">
                <a16:creationId xmlns:a16="http://schemas.microsoft.com/office/drawing/2014/main" id="{F4B6CDF3-577A-46D1-AB36-BAEF70E5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20440"/>
            <a:ext cx="265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288">
            <a:solidFill>
              <a:schemeClr val="accent1"/>
            </a:solidFill>
            <a:prstDash val="solid"/>
            <a:headEnd type="none"/>
            <a:tailEnd type="triangle"/>
          </a:ln>
        </p:spPr>
      </p:sp>
      <p:sp>
        <p:nvSpPr>
          <p:cNvPr id="78" name="Shape 76">
            <a:extLst xmlns:a="http://schemas.openxmlformats.org/drawingml/2006/main">
              <a:ext uri="{FF2B5EF4-FFF2-40B4-BE49-F238E27FC236}">
                <a16:creationId xmlns:a16="http://schemas.microsoft.com/office/drawing/2014/main" id="{BF55999A-A004-470E-9C95-77FA5C5B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20440"/>
            <a:ext cx="265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288">
            <a:solidFill>
              <a:schemeClr val="accent1"/>
            </a:solidFill>
            <a:prstDash val="solid"/>
            <a:headEnd type="none"/>
            <a:tailEnd type="triangle"/>
          </a:ln>
        </p:spPr>
      </p:sp>
      <p:sp>
        <p:nvSpPr>
          <p:cNvPr id="79" name="Shape 77">
            <a:extLst xmlns:a="http://schemas.openxmlformats.org/drawingml/2006/main">
              <a:ext uri="{FF2B5EF4-FFF2-40B4-BE49-F238E27FC236}">
                <a16:creationId xmlns:a16="http://schemas.microsoft.com/office/drawing/2014/main" id="{56FD9ECD-D71F-4C24-A5AD-6A093B09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0440"/>
            <a:ext cx="265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288">
            <a:solidFill>
              <a:schemeClr val="accent1"/>
            </a:solidFill>
            <a:prstDash val="solid"/>
            <a:headEnd type="none"/>
            <a:tailEnd type="triangle"/>
          </a:ln>
        </p:spPr>
      </p:sp>
      <p:sp>
        <p:nvSpPr>
          <p:cNvPr id="80" name="Shape 78">
            <a:extLst xmlns:a="http://schemas.openxmlformats.org/drawingml/2006/main">
              <a:ext uri="{FF2B5EF4-FFF2-40B4-BE49-F238E27FC236}">
                <a16:creationId xmlns:a16="http://schemas.microsoft.com/office/drawing/2014/main" id="{59161BED-3D51-4845-B9AD-D16B9ED6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87752"/>
            <a:ext cx="0" cy="109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716">
            <a:solidFill>
              <a:schemeClr val="accent2"/>
            </a:solidFill>
            <a:prstDash val="solid"/>
            <a:headEnd type="none"/>
            <a:tailEnd type="none"/>
          </a:ln>
        </p:spPr>
      </p:sp>
      <p:sp>
        <p:nvSpPr>
          <p:cNvPr id="81" name="Shape 79">
            <a:extLst xmlns:a="http://schemas.openxmlformats.org/drawingml/2006/main">
              <a:ext uri="{FF2B5EF4-FFF2-40B4-BE49-F238E27FC236}">
                <a16:creationId xmlns:a16="http://schemas.microsoft.com/office/drawing/2014/main" id="{F32DCE1C-1954-43D0-B988-12725DEE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87752"/>
            <a:ext cx="4892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716">
            <a:solidFill>
              <a:schemeClr val="accent2"/>
            </a:solidFill>
            <a:prstDash val="solid"/>
            <a:headEnd type="none"/>
            <a:tailEnd type="none"/>
          </a:ln>
        </p:spPr>
      </p:sp>
      <p:sp>
        <p:nvSpPr>
          <p:cNvPr id="82" name="Shape 80">
            <a:extLst xmlns:a="http://schemas.openxmlformats.org/drawingml/2006/main">
              <a:ext uri="{FF2B5EF4-FFF2-40B4-BE49-F238E27FC236}">
                <a16:creationId xmlns:a16="http://schemas.microsoft.com/office/drawing/2014/main" id="{9554F5FF-0133-4B3C-BE9E-75D61F03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2587752"/>
            <a:ext cx="0" cy="109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716">
            <a:solidFill>
              <a:schemeClr val="accent2"/>
            </a:solidFill>
            <a:prstDash val="solid"/>
            <a:headEnd type="none"/>
            <a:tailEnd type="triangle"/>
          </a:ln>
        </p:spPr>
      </p:sp>
      <p:sp>
        <p:nvSpPr>
          <p:cNvPr id="83" name="Shape 81">
            <a:extLst xmlns:a="http://schemas.openxmlformats.org/drawingml/2006/main">
              <a:ext uri="{FF2B5EF4-FFF2-40B4-BE49-F238E27FC236}">
                <a16:creationId xmlns:a16="http://schemas.microsoft.com/office/drawing/2014/main" id="{81E097A2-1E2C-4B60-863D-C23180D2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9736"/>
            <a:ext cx="3017520" cy="21031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12700">
            <a:solidFill>
              <a:schemeClr val="lt1"/>
            </a:solidFill>
            <a:prstDash val="solid"/>
          </a:ln>
        </p:spPr>
      </p:sp>
      <p:sp>
        <p:nvSpPr>
          <p:cNvPr id="84" name="Text 82">
            <a:extLst xmlns:a="http://schemas.openxmlformats.org/drawingml/2006/main">
              <a:ext uri="{FF2B5EF4-FFF2-40B4-BE49-F238E27FC236}">
                <a16:creationId xmlns:a16="http://schemas.microsoft.com/office/drawing/2014/main" id="{DC6C31DA-5BF0-420B-BDA3-E0F92100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478024"/>
            <a:ext cx="2889504" cy="1741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8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独立评测集 + 已有Agent版本直入</a:t>
            </a:r>
            <a:endParaRPr sz="1008"/>
          </a:p>
        </p:txBody>
      </p:sp>
      <p:sp>
        <p:nvSpPr>
          <p:cNvPr id="85" name="Shape 83">
            <a:extLst xmlns:a="http://schemas.openxmlformats.org/drawingml/2006/main">
              <a:ext uri="{FF2B5EF4-FFF2-40B4-BE49-F238E27FC236}">
                <a16:creationId xmlns:a16="http://schemas.microsoft.com/office/drawing/2014/main" id="{1C23E0E8-A959-4C6D-AC64-482516CA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4663440"/>
            <a:ext cx="0" cy="2011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716">
            <a:solidFill>
              <a:schemeClr val="accent2"/>
            </a:solidFill>
            <a:prstDash val="solid"/>
            <a:headEnd type="none"/>
            <a:tailEnd type="none"/>
          </a:ln>
        </p:spPr>
      </p:sp>
      <p:sp>
        <p:nvSpPr>
          <p:cNvPr id="86" name="Shape 84">
            <a:extLst xmlns:a="http://schemas.openxmlformats.org/drawingml/2006/main">
              <a:ext uri="{FF2B5EF4-FFF2-40B4-BE49-F238E27FC236}">
                <a16:creationId xmlns:a16="http://schemas.microsoft.com/office/drawing/2014/main" id="{55F0FB98-7C70-40F4-9AD2-7400AD5A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4864608"/>
            <a:ext cx="89245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716">
            <a:solidFill>
              <a:schemeClr val="accent2"/>
            </a:solidFill>
            <a:prstDash val="solid"/>
            <a:headEnd type="none"/>
            <a:tailEnd type="none"/>
          </a:ln>
        </p:spPr>
      </p:sp>
      <p:sp>
        <p:nvSpPr>
          <p:cNvPr id="87" name="Shape 85">
            <a:extLst xmlns:a="http://schemas.openxmlformats.org/drawingml/2006/main">
              <a:ext uri="{FF2B5EF4-FFF2-40B4-BE49-F238E27FC236}">
                <a16:creationId xmlns:a16="http://schemas.microsoft.com/office/drawing/2014/main" id="{65F401D5-EE62-467F-8B2D-7113007C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136" y="4663440"/>
            <a:ext cx="0" cy="2011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716">
            <a:solidFill>
              <a:schemeClr val="accent2"/>
            </a:solidFill>
            <a:prstDash val="solid"/>
            <a:headEnd type="triangle"/>
            <a:tailEnd type="none"/>
          </a:ln>
        </p:spPr>
      </p:sp>
      <p:sp>
        <p:nvSpPr>
          <p:cNvPr id="88" name="Shape 86">
            <a:extLst xmlns:a="http://schemas.openxmlformats.org/drawingml/2006/main">
              <a:ext uri="{FF2B5EF4-FFF2-40B4-BE49-F238E27FC236}">
                <a16:creationId xmlns:a16="http://schemas.microsoft.com/office/drawing/2014/main" id="{473C9DBB-B278-4C97-9D43-20B6136F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4745736"/>
            <a:ext cx="2560320" cy="21031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12700">
            <a:solidFill>
              <a:schemeClr val="lt1"/>
            </a:solidFill>
            <a:prstDash val="solid"/>
          </a:ln>
        </p:spPr>
      </p:sp>
      <p:sp>
        <p:nvSpPr>
          <p:cNvPr id="89" name="Text 87">
            <a:extLst xmlns:a="http://schemas.openxmlformats.org/drawingml/2006/main">
              <a:ext uri="{FF2B5EF4-FFF2-40B4-BE49-F238E27FC236}">
                <a16:creationId xmlns:a16="http://schemas.microsoft.com/office/drawing/2014/main" id="{4B418F1A-82C9-45A6-A8FA-3C764151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64024"/>
            <a:ext cx="2432304" cy="1741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8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合格数据 / 轨迹包可直接交付</a:t>
            </a:r>
            <a:endParaRPr sz="1008"/>
          </a:p>
        </p:txBody>
      </p:sp>
      <p:sp>
        <p:nvSpPr>
          <p:cNvPr id="90" name="Shape 88">
            <a:extLst xmlns:a="http://schemas.openxmlformats.org/drawingml/2006/main">
              <a:ext uri="{FF2B5EF4-FFF2-40B4-BE49-F238E27FC236}">
                <a16:creationId xmlns:a16="http://schemas.microsoft.com/office/drawing/2014/main" id="{5132DAEF-4475-4E0E-841A-450579A8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7312" y="4663440"/>
            <a:ext cx="0" cy="4480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716">
            <a:solidFill>
              <a:schemeClr val="accent2"/>
            </a:solidFill>
            <a:prstDash val="dash"/>
            <a:headEnd type="none"/>
            <a:tailEnd type="none"/>
          </a:ln>
        </p:spPr>
      </p:sp>
      <p:sp>
        <p:nvSpPr>
          <p:cNvPr id="91" name="Shape 89">
            <a:extLst xmlns:a="http://schemas.openxmlformats.org/drawingml/2006/main">
              <a:ext uri="{FF2B5EF4-FFF2-40B4-BE49-F238E27FC236}">
                <a16:creationId xmlns:a16="http://schemas.microsoft.com/office/drawing/2014/main" id="{0960B158-9D51-44F6-8AF2-6830A494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3488" y="5111496"/>
            <a:ext cx="31638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716">
            <a:solidFill>
              <a:schemeClr val="accent2"/>
            </a:solidFill>
            <a:prstDash val="dash"/>
            <a:headEnd type="none"/>
            <a:tailEnd type="none"/>
          </a:ln>
        </p:spPr>
      </p:sp>
      <p:sp>
        <p:nvSpPr>
          <p:cNvPr id="92" name="Shape 90">
            <a:extLst xmlns:a="http://schemas.openxmlformats.org/drawingml/2006/main">
              <a:ext uri="{FF2B5EF4-FFF2-40B4-BE49-F238E27FC236}">
                <a16:creationId xmlns:a16="http://schemas.microsoft.com/office/drawing/2014/main" id="{11D56F31-5387-450C-8BC6-0EE150FE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3488" y="4663440"/>
            <a:ext cx="0" cy="4480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716">
            <a:solidFill>
              <a:schemeClr val="accent2"/>
            </a:solidFill>
            <a:prstDash val="dash"/>
            <a:headEnd type="triangle"/>
            <a:tailEnd type="none"/>
          </a:ln>
        </p:spPr>
      </p:sp>
      <p:sp>
        <p:nvSpPr>
          <p:cNvPr id="93" name="Shape 91">
            <a:extLst xmlns:a="http://schemas.openxmlformats.org/drawingml/2006/main">
              <a:ext uri="{FF2B5EF4-FFF2-40B4-BE49-F238E27FC236}">
                <a16:creationId xmlns:a16="http://schemas.microsoft.com/office/drawing/2014/main" id="{09DE7214-AF75-4C91-B95B-83BCD4D3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36" y="4983480"/>
            <a:ext cx="2551176" cy="21031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12700">
            <a:solidFill>
              <a:schemeClr val="lt1"/>
            </a:solidFill>
            <a:prstDash val="solid"/>
          </a:ln>
        </p:spPr>
      </p:sp>
      <p:sp>
        <p:nvSpPr>
          <p:cNvPr id="94" name="Text 92">
            <a:extLst xmlns:a="http://schemas.openxmlformats.org/drawingml/2006/main">
              <a:ext uri="{FF2B5EF4-FFF2-40B4-BE49-F238E27FC236}">
                <a16:creationId xmlns:a16="http://schemas.microsoft.com/office/drawing/2014/main" id="{D8B016DD-9A0D-4F10-A88B-233F5344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544" y="5001768"/>
            <a:ext cx="2423160" cy="1741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8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策略问题 → Skill / 训练优化</a:t>
            </a:r>
            <a:endParaRPr sz="1008"/>
          </a:p>
        </p:txBody>
      </p:sp>
      <p:sp>
        <p:nvSpPr>
          <p:cNvPr id="95" name="Shape 93">
            <a:extLst xmlns:a="http://schemas.openxmlformats.org/drawingml/2006/main">
              <a:ext uri="{FF2B5EF4-FFF2-40B4-BE49-F238E27FC236}">
                <a16:creationId xmlns:a16="http://schemas.microsoft.com/office/drawing/2014/main" id="{654DDCD3-DEFD-405F-A86A-B94111BE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466344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545">
            <a:solidFill>
              <a:schemeClr val="accent1"/>
            </a:solidFill>
            <a:prstDash val="dash"/>
            <a:headEnd type="none"/>
            <a:tailEnd type="none"/>
          </a:ln>
        </p:spPr>
      </p:sp>
      <p:sp>
        <p:nvSpPr>
          <p:cNvPr id="96" name="Shape 94">
            <a:extLst xmlns:a="http://schemas.openxmlformats.org/drawingml/2006/main">
              <a:ext uri="{FF2B5EF4-FFF2-40B4-BE49-F238E27FC236}">
                <a16:creationId xmlns:a16="http://schemas.microsoft.com/office/drawing/2014/main" id="{360E87DB-CF3D-45C1-91A6-9F8E01E9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816" y="5349240"/>
            <a:ext cx="71414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545">
            <a:solidFill>
              <a:schemeClr val="accent1"/>
            </a:solidFill>
            <a:prstDash val="dash"/>
            <a:headEnd type="none"/>
            <a:tailEnd type="none"/>
          </a:ln>
        </p:spPr>
      </p:sp>
      <p:sp>
        <p:nvSpPr>
          <p:cNvPr id="97" name="Shape 95">
            <a:extLst xmlns:a="http://schemas.openxmlformats.org/drawingml/2006/main">
              <a:ext uri="{FF2B5EF4-FFF2-40B4-BE49-F238E27FC236}">
                <a16:creationId xmlns:a16="http://schemas.microsoft.com/office/drawing/2014/main" id="{AFAB185C-47D5-4D66-9C69-B8531FDE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816" y="466344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545">
            <a:solidFill>
              <a:schemeClr val="accent1"/>
            </a:solidFill>
            <a:prstDash val="dash"/>
            <a:headEnd type="triangle"/>
            <a:tailEnd type="none"/>
          </a:ln>
        </p:spPr>
      </p:sp>
      <p:sp>
        <p:nvSpPr>
          <p:cNvPr id="98" name="Shape 96">
            <a:extLst xmlns:a="http://schemas.openxmlformats.org/drawingml/2006/main">
              <a:ext uri="{FF2B5EF4-FFF2-40B4-BE49-F238E27FC236}">
                <a16:creationId xmlns:a16="http://schemas.microsoft.com/office/drawing/2014/main" id="{AE7FB334-73F3-4176-9A43-442DBEE5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5221224"/>
            <a:ext cx="4005072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12700">
            <a:solidFill>
              <a:schemeClr val="lt1"/>
            </a:solidFill>
            <a:prstDash val="solid"/>
          </a:ln>
        </p:spPr>
      </p:sp>
      <p:sp>
        <p:nvSpPr>
          <p:cNvPr id="99" name="Text 97">
            <a:extLst xmlns:a="http://schemas.openxmlformats.org/drawingml/2006/main">
              <a:ext uri="{FF2B5EF4-FFF2-40B4-BE49-F238E27FC236}">
                <a16:creationId xmlns:a16="http://schemas.microsoft.com/office/drawing/2014/main" id="{BF5A0032-7755-4BA1-820F-0DE11FD1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5239512"/>
            <a:ext cx="3877056" cy="1865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失败场景与覆盖缺口 → 定向数据 / 轨迹合成</a:t>
            </a:r>
            <a:endParaRPr sz="1080"/>
          </a:p>
        </p:txBody>
      </p:sp>
      <p:sp>
        <p:nvSpPr>
          <p:cNvPr id="100" name="Shape 98">
            <a:extLst xmlns:a="http://schemas.openxmlformats.org/drawingml/2006/main">
              <a:ext uri="{FF2B5EF4-FFF2-40B4-BE49-F238E27FC236}">
                <a16:creationId xmlns:a16="http://schemas.microsoft.com/office/drawing/2014/main" id="{2299DABC-EB41-4D7F-A95E-D10E5AE2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550408"/>
            <a:ext cx="1389888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 w="12700">
            <a:solidFill>
              <a:schemeClr val="lt2"/>
            </a:solidFill>
            <a:prstDash val="solid"/>
          </a:ln>
        </p:spPr>
      </p:sp>
      <p:sp>
        <p:nvSpPr>
          <p:cNvPr id="101" name="Text 99">
            <a:extLst xmlns:a="http://schemas.openxmlformats.org/drawingml/2006/main">
              <a:ext uri="{FF2B5EF4-FFF2-40B4-BE49-F238E27FC236}">
                <a16:creationId xmlns:a16="http://schemas.microsoft.com/office/drawing/2014/main" id="{2C2454BA-16BF-4F69-816A-66C180D8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32704"/>
            <a:ext cx="1463040" cy="2114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24" b="1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统一资产底座</a:t>
            </a:r>
            <a:endParaRPr sz="1224"/>
          </a:p>
        </p:txBody>
      </p:sp>
      <p:sp>
        <p:nvSpPr>
          <p:cNvPr id="102" name="Text 100">
            <a:extLst xmlns:a="http://schemas.openxmlformats.org/drawingml/2006/main">
              <a:ext uri="{FF2B5EF4-FFF2-40B4-BE49-F238E27FC236}">
                <a16:creationId xmlns:a16="http://schemas.microsoft.com/office/drawing/2014/main" id="{AFD2A971-ED8A-4DBA-82AE-18DB383E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5641848"/>
            <a:ext cx="12115800" cy="1989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2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关联数据、轨迹（消息 / 工具调用 / 子Agent / 分叉重试）、运行环境、评价规则、版本与评测结果</a:t>
            </a:r>
            <a:endParaRPr sz="1152"/>
          </a:p>
        </p:txBody>
      </p:sp>
      <p:sp>
        <p:nvSpPr>
          <p:cNvPr id="103" name="Shape 101">
            <a:extLst xmlns:a="http://schemas.openxmlformats.org/drawingml/2006/main">
              <a:ext uri="{FF2B5EF4-FFF2-40B4-BE49-F238E27FC236}">
                <a16:creationId xmlns:a16="http://schemas.microsoft.com/office/drawing/2014/main" id="{2BD17E70-8D5D-46B7-A17C-46A51B5F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961888"/>
            <a:ext cx="13898880" cy="3383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 w="12700">
            <a:solidFill>
              <a:schemeClr val="lt2"/>
            </a:solidFill>
            <a:prstDash val="solid"/>
          </a:ln>
        </p:spPr>
      </p:sp>
      <p:sp>
        <p:nvSpPr>
          <p:cNvPr id="104" name="Text 102">
            <a:extLst xmlns:a="http://schemas.openxmlformats.org/drawingml/2006/main">
              <a:ext uri="{FF2B5EF4-FFF2-40B4-BE49-F238E27FC236}">
                <a16:creationId xmlns:a16="http://schemas.microsoft.com/office/drawing/2014/main" id="{A3CFF74A-07DA-4B8A-9F84-51CBF2C7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044184"/>
            <a:ext cx="1463040" cy="2114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24" b="1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执行与运行保障</a:t>
            </a:r>
            <a:endParaRPr sz="1224"/>
          </a:p>
        </p:txBody>
      </p:sp>
      <p:sp>
        <p:nvSpPr>
          <p:cNvPr id="105" name="Text 103">
            <a:extLst xmlns:a="http://schemas.openxmlformats.org/drawingml/2006/main">
              <a:ext uri="{FF2B5EF4-FFF2-40B4-BE49-F238E27FC236}">
                <a16:creationId xmlns:a16="http://schemas.microsoft.com/office/drawing/2014/main" id="{FBCDF3DC-5A91-4420-BA1D-D3307159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6053328"/>
            <a:ext cx="12115800" cy="1989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2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沙箱 / 无线仿真贯穿合成、运行与验证  |  作业编排 · 性能采集 · 故障定位恢复 · 高可用</a:t>
            </a:r>
            <a:endParaRPr sz="1152"/>
          </a:p>
        </p:txBody>
      </p:sp>
      <p:sp>
        <p:nvSpPr>
          <p:cNvPr id="106" name="Text 104">
            <a:extLst xmlns:a="http://schemas.openxmlformats.org/drawingml/2006/main">
              <a:ext uri="{FF2B5EF4-FFF2-40B4-BE49-F238E27FC236}">
                <a16:creationId xmlns:a16="http://schemas.microsoft.com/office/drawing/2014/main" id="{848D499B-4160-432E-872C-1389FC1C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6464808"/>
            <a:ext cx="2194560" cy="2487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40" b="1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阶段交付</a:t>
            </a:r>
            <a:endParaRPr sz="1440"/>
          </a:p>
        </p:txBody>
      </p:sp>
      <p:sp>
        <p:nvSpPr>
          <p:cNvPr id="107" name="Text 105">
            <a:extLst xmlns:a="http://schemas.openxmlformats.org/drawingml/2006/main">
              <a:ext uri="{FF2B5EF4-FFF2-40B4-BE49-F238E27FC236}">
                <a16:creationId xmlns:a16="http://schemas.microsoft.com/office/drawing/2014/main" id="{B6B87CF0-17E3-473C-8191-713504EE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0" y="6519672"/>
            <a:ext cx="2468880" cy="1741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8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按交付结果递进，季度待核</a:t>
            </a:r>
            <a:endParaRPr sz="1008"/>
          </a:p>
        </p:txBody>
      </p:sp>
      <p:sp>
        <p:nvSpPr>
          <p:cNvPr id="108" name="Shape 106">
            <a:extLst xmlns:a="http://schemas.openxmlformats.org/drawingml/2006/main">
              <a:ext uri="{FF2B5EF4-FFF2-40B4-BE49-F238E27FC236}">
                <a16:creationId xmlns:a16="http://schemas.microsoft.com/office/drawing/2014/main" id="{DB3CCC8D-026C-4A2E-8DA4-4BCEAA7A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6775704"/>
            <a:ext cx="3255264" cy="7955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8890">
            <a:solidFill>
              <a:schemeClr val="accent3"/>
            </a:solidFill>
            <a:prstDash val="solid"/>
          </a:ln>
        </p:spPr>
      </p:sp>
      <p:sp>
        <p:nvSpPr>
          <p:cNvPr id="109" name="Shape 107">
            <a:extLst xmlns:a="http://schemas.openxmlformats.org/drawingml/2006/main">
              <a:ext uri="{FF2B5EF4-FFF2-40B4-BE49-F238E27FC236}">
                <a16:creationId xmlns:a16="http://schemas.microsoft.com/office/drawing/2014/main" id="{D913295E-D615-4996-B9E2-D64EE855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6775704"/>
            <a:ext cx="3255264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110" name="Text 108">
            <a:extLst xmlns:a="http://schemas.openxmlformats.org/drawingml/2006/main">
              <a:ext uri="{FF2B5EF4-FFF2-40B4-BE49-F238E27FC236}">
                <a16:creationId xmlns:a16="http://schemas.microsoft.com/office/drawing/2014/main" id="{87EE2935-3423-479A-A9A4-1E6E2061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58000"/>
            <a:ext cx="557784" cy="1741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8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阶段一</a:t>
            </a:r>
            <a:endParaRPr sz="1008"/>
          </a:p>
        </p:txBody>
      </p:sp>
      <p:sp>
        <p:nvSpPr>
          <p:cNvPr id="111" name="Text 109">
            <a:extLst xmlns:a="http://schemas.openxmlformats.org/drawingml/2006/main">
              <a:ext uri="{FF2B5EF4-FFF2-40B4-BE49-F238E27FC236}">
                <a16:creationId xmlns:a16="http://schemas.microsoft.com/office/drawing/2014/main" id="{1254B9E1-BA4A-43EC-9713-C13CDDF2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821424"/>
            <a:ext cx="2340864" cy="2362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68" b="1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基础服务可用</a:t>
            </a:r>
            <a:endParaRPr sz="1368"/>
          </a:p>
        </p:txBody>
      </p:sp>
      <p:sp>
        <p:nvSpPr>
          <p:cNvPr id="112" name="Text 110">
            <a:extLst xmlns:a="http://schemas.openxmlformats.org/drawingml/2006/main">
              <a:ext uri="{FF2B5EF4-FFF2-40B4-BE49-F238E27FC236}">
                <a16:creationId xmlns:a16="http://schemas.microsoft.com/office/drawing/2014/main" id="{BFB5B40B-0191-4498-8017-207FBF2E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132320"/>
            <a:ext cx="2980944" cy="1865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加工 / 轨迹合成治理 / 评测集生成</a:t>
            </a:r>
            <a:endParaRPr sz="1080"/>
          </a:p>
        </p:txBody>
      </p:sp>
      <p:sp>
        <p:nvSpPr>
          <p:cNvPr id="113" name="Text 111">
            <a:extLst xmlns:a="http://schemas.openxmlformats.org/drawingml/2006/main">
              <a:ext uri="{FF2B5EF4-FFF2-40B4-BE49-F238E27FC236}">
                <a16:creationId xmlns:a16="http://schemas.microsoft.com/office/drawing/2014/main" id="{FB534CB9-9B43-4A3B-B11C-5E55CD6F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342632"/>
            <a:ext cx="2980944" cy="1865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RL框架适配</a:t>
            </a:r>
            <a:endParaRPr sz="1080"/>
          </a:p>
        </p:txBody>
      </p:sp>
      <p:sp>
        <p:nvSpPr>
          <p:cNvPr id="114" name="Shape 112">
            <a:extLst xmlns:a="http://schemas.openxmlformats.org/drawingml/2006/main">
              <a:ext uri="{FF2B5EF4-FFF2-40B4-BE49-F238E27FC236}">
                <a16:creationId xmlns:a16="http://schemas.microsoft.com/office/drawing/2014/main" id="{1CED92AD-F1E5-4215-80F3-D3E7B3C0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632" y="6775704"/>
            <a:ext cx="3255264" cy="7955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8890">
            <a:solidFill>
              <a:schemeClr val="accent3"/>
            </a:solidFill>
            <a:prstDash val="solid"/>
          </a:ln>
        </p:spPr>
      </p:sp>
      <p:sp>
        <p:nvSpPr>
          <p:cNvPr id="115" name="Shape 113">
            <a:extLst xmlns:a="http://schemas.openxmlformats.org/drawingml/2006/main">
              <a:ext uri="{FF2B5EF4-FFF2-40B4-BE49-F238E27FC236}">
                <a16:creationId xmlns:a16="http://schemas.microsoft.com/office/drawing/2014/main" id="{42FCBFAA-38D2-4F73-B9F1-59A43117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632" y="6775704"/>
            <a:ext cx="3255264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116" name="Text 114">
            <a:extLst xmlns:a="http://schemas.openxmlformats.org/drawingml/2006/main">
              <a:ext uri="{FF2B5EF4-FFF2-40B4-BE49-F238E27FC236}">
                <a16:creationId xmlns:a16="http://schemas.microsoft.com/office/drawing/2014/main" id="{B0DC5B08-89BE-4D1F-BAA8-7D120BE6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6858000"/>
            <a:ext cx="557784" cy="1741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8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阶段二</a:t>
            </a:r>
            <a:endParaRPr sz="1008"/>
          </a:p>
        </p:txBody>
      </p:sp>
      <p:sp>
        <p:nvSpPr>
          <p:cNvPr id="117" name="Text 115">
            <a:extLst xmlns:a="http://schemas.openxmlformats.org/drawingml/2006/main">
              <a:ext uri="{FF2B5EF4-FFF2-40B4-BE49-F238E27FC236}">
                <a16:creationId xmlns:a16="http://schemas.microsoft.com/office/drawing/2014/main" id="{310CB36C-2B62-4505-BD29-4F734294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6821424"/>
            <a:ext cx="2340864" cy="2362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68" b="1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重点场景贯通</a:t>
            </a:r>
            <a:endParaRPr sz="1368"/>
          </a:p>
        </p:txBody>
      </p:sp>
      <p:sp>
        <p:nvSpPr>
          <p:cNvPr id="118" name="Text 116">
            <a:extLst xmlns:a="http://schemas.openxmlformats.org/drawingml/2006/main">
              <a:ext uri="{FF2B5EF4-FFF2-40B4-BE49-F238E27FC236}">
                <a16:creationId xmlns:a16="http://schemas.microsoft.com/office/drawing/2014/main" id="{A699F376-3A6B-42DF-85CE-9BE5A3F7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7132320"/>
            <a:ext cx="2980944" cy="1865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沙箱 / 无线仿真 / RL过程可视</a:t>
            </a:r>
            <a:endParaRPr sz="1080"/>
          </a:p>
        </p:txBody>
      </p:sp>
      <p:sp>
        <p:nvSpPr>
          <p:cNvPr id="119" name="Text 117">
            <a:extLst xmlns:a="http://schemas.openxmlformats.org/drawingml/2006/main">
              <a:ext uri="{FF2B5EF4-FFF2-40B4-BE49-F238E27FC236}">
                <a16:creationId xmlns:a16="http://schemas.microsoft.com/office/drawing/2014/main" id="{66285E8C-B65A-4904-92A3-8B3E4907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7342632"/>
            <a:ext cx="2980944" cy="1865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智能体评测 / Skill迭代</a:t>
            </a:r>
            <a:endParaRPr sz="1080"/>
          </a:p>
        </p:txBody>
      </p:sp>
      <p:sp>
        <p:nvSpPr>
          <p:cNvPr id="120" name="Shape 118">
            <a:extLst xmlns:a="http://schemas.openxmlformats.org/drawingml/2006/main">
              <a:ext uri="{FF2B5EF4-FFF2-40B4-BE49-F238E27FC236}">
                <a16:creationId xmlns:a16="http://schemas.microsoft.com/office/drawing/2014/main" id="{44D942D9-A4CA-485F-9663-5889BD0E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6775704"/>
            <a:ext cx="3255264" cy="7955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8890">
            <a:solidFill>
              <a:schemeClr val="accent3"/>
            </a:solidFill>
            <a:prstDash val="solid"/>
          </a:ln>
        </p:spPr>
      </p:sp>
      <p:sp>
        <p:nvSpPr>
          <p:cNvPr id="121" name="Shape 119">
            <a:extLst xmlns:a="http://schemas.openxmlformats.org/drawingml/2006/main">
              <a:ext uri="{FF2B5EF4-FFF2-40B4-BE49-F238E27FC236}">
                <a16:creationId xmlns:a16="http://schemas.microsoft.com/office/drawing/2014/main" id="{E36F0645-15DA-42A5-B061-ADC5C474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6775704"/>
            <a:ext cx="3255264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122" name="Text 120">
            <a:extLst xmlns:a="http://schemas.openxmlformats.org/drawingml/2006/main">
              <a:ext uri="{FF2B5EF4-FFF2-40B4-BE49-F238E27FC236}">
                <a16:creationId xmlns:a16="http://schemas.microsoft.com/office/drawing/2014/main" id="{3EC752AE-3116-4F6E-8466-6586DBE9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664" y="6858000"/>
            <a:ext cx="557784" cy="1741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8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阶段三</a:t>
            </a:r>
            <a:endParaRPr sz="1008"/>
          </a:p>
        </p:txBody>
      </p:sp>
      <p:sp>
        <p:nvSpPr>
          <p:cNvPr id="123" name="Text 121">
            <a:extLst xmlns:a="http://schemas.openxmlformats.org/drawingml/2006/main">
              <a:ext uri="{FF2B5EF4-FFF2-40B4-BE49-F238E27FC236}">
                <a16:creationId xmlns:a16="http://schemas.microsoft.com/office/drawing/2014/main" id="{EBECE760-B08F-43FC-9ED3-714565BC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744" y="6821424"/>
            <a:ext cx="2340864" cy="2362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68" b="1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稳定交付</a:t>
            </a:r>
            <a:endParaRPr sz="1368"/>
          </a:p>
        </p:txBody>
      </p:sp>
      <p:sp>
        <p:nvSpPr>
          <p:cNvPr id="124" name="Text 122">
            <a:extLst xmlns:a="http://schemas.openxmlformats.org/drawingml/2006/main">
              <a:ext uri="{FF2B5EF4-FFF2-40B4-BE49-F238E27FC236}">
                <a16:creationId xmlns:a16="http://schemas.microsoft.com/office/drawing/2014/main" id="{3B2FA09F-EC72-41C9-865D-70F41DA0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664" y="7132320"/>
            <a:ext cx="2980944" cy="1865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动态奖励 / 性能诊断恢复 / 高可用</a:t>
            </a:r>
            <a:endParaRPr sz="1080"/>
          </a:p>
        </p:txBody>
      </p:sp>
      <p:sp>
        <p:nvSpPr>
          <p:cNvPr id="125" name="Text 123">
            <a:extLst xmlns:a="http://schemas.openxmlformats.org/drawingml/2006/main">
              <a:ext uri="{FF2B5EF4-FFF2-40B4-BE49-F238E27FC236}">
                <a16:creationId xmlns:a16="http://schemas.microsoft.com/office/drawing/2014/main" id="{CDD99831-2CFE-409C-B6AA-A1A31FCD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664" y="7342632"/>
            <a:ext cx="2980944" cy="1865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智能体集成发布</a:t>
            </a:r>
            <a:endParaRPr sz="1080"/>
          </a:p>
        </p:txBody>
      </p:sp>
      <p:sp>
        <p:nvSpPr>
          <p:cNvPr id="126" name="Shape 124">
            <a:extLst xmlns:a="http://schemas.openxmlformats.org/drawingml/2006/main">
              <a:ext uri="{FF2B5EF4-FFF2-40B4-BE49-F238E27FC236}">
                <a16:creationId xmlns:a16="http://schemas.microsoft.com/office/drawing/2014/main" id="{2524D1EE-6918-4215-9B8A-B8675684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9376" y="6775704"/>
            <a:ext cx="3255264" cy="7955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8890">
            <a:solidFill>
              <a:schemeClr val="accent3"/>
            </a:solidFill>
            <a:prstDash val="solid"/>
          </a:ln>
        </p:spPr>
      </p:sp>
      <p:sp>
        <p:nvSpPr>
          <p:cNvPr id="127" name="Shape 125">
            <a:extLst xmlns:a="http://schemas.openxmlformats.org/drawingml/2006/main">
              <a:ext uri="{FF2B5EF4-FFF2-40B4-BE49-F238E27FC236}">
                <a16:creationId xmlns:a16="http://schemas.microsoft.com/office/drawing/2014/main" id="{7AE7296E-35E4-4F07-9791-CBD5BA27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9376" y="6775704"/>
            <a:ext cx="3255264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128" name="Text 126">
            <a:extLst xmlns:a="http://schemas.openxmlformats.org/drawingml/2006/main">
              <a:ext uri="{FF2B5EF4-FFF2-40B4-BE49-F238E27FC236}">
                <a16:creationId xmlns:a16="http://schemas.microsoft.com/office/drawing/2014/main" id="{AB82E1A6-0B60-4754-A448-22139CC6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536" y="6858000"/>
            <a:ext cx="557784" cy="1741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8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阶段四</a:t>
            </a:r>
            <a:endParaRPr sz="1008"/>
          </a:p>
        </p:txBody>
      </p:sp>
      <p:sp>
        <p:nvSpPr>
          <p:cNvPr id="129" name="Text 127">
            <a:extLst xmlns:a="http://schemas.openxmlformats.org/drawingml/2006/main">
              <a:ext uri="{FF2B5EF4-FFF2-40B4-BE49-F238E27FC236}">
                <a16:creationId xmlns:a16="http://schemas.microsoft.com/office/drawing/2014/main" id="{8B90D332-5A7F-40CA-8E15-64B70B48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821424"/>
            <a:ext cx="2340864" cy="2362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68" b="1">
                <a:solidFill>
                  <a:schemeClr val="dk2"/>
                </a:solidFill>
                <a:latin typeface="Microsoft YaHei"/>
                <a:ea typeface="Microsoft YaHei"/>
                <a:cs typeface="Microsoft YaHei"/>
              </a:rPr>
              <a:t>全流程自动化</a:t>
            </a:r>
            <a:endParaRPr sz="1368"/>
          </a:p>
        </p:txBody>
      </p:sp>
      <p:sp>
        <p:nvSpPr>
          <p:cNvPr id="130" name="Text 128">
            <a:extLst xmlns:a="http://schemas.openxmlformats.org/drawingml/2006/main">
              <a:ext uri="{FF2B5EF4-FFF2-40B4-BE49-F238E27FC236}">
                <a16:creationId xmlns:a16="http://schemas.microsoft.com/office/drawing/2014/main" id="{CAD9B84D-A3BE-4A2F-A45E-B0DA0F49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536" y="7132320"/>
            <a:ext cx="2980944" cy="1865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贯通数据、运行、评测与发布</a:t>
            </a:r>
            <a:endParaRPr sz="1080"/>
          </a:p>
        </p:txBody>
      </p:sp>
      <p:sp>
        <p:nvSpPr>
          <p:cNvPr id="131" name="Text 129">
            <a:extLst xmlns:a="http://schemas.openxmlformats.org/drawingml/2006/main">
              <a:ext uri="{FF2B5EF4-FFF2-40B4-BE49-F238E27FC236}">
                <a16:creationId xmlns:a16="http://schemas.microsoft.com/office/drawing/2014/main" id="{CE7AF6EE-095C-4496-9587-A4D9A076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536" y="7342632"/>
            <a:ext cx="2980944" cy="1865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覆盖Agentic RL端到端流水线</a:t>
            </a:r>
            <a:endParaRPr sz="1080"/>
          </a:p>
        </p:txBody>
      </p:sp>
      <p:sp>
        <p:nvSpPr>
          <p:cNvPr id="132" name="Shape 130">
            <a:extLst xmlns:a="http://schemas.openxmlformats.org/drawingml/2006/main">
              <a:ext uri="{FF2B5EF4-FFF2-40B4-BE49-F238E27FC236}">
                <a16:creationId xmlns:a16="http://schemas.microsoft.com/office/drawing/2014/main" id="{67A5098D-9454-49A3-A48B-91C6153C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7680960"/>
            <a:ext cx="13898880" cy="30175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 w="12700">
            <a:solidFill>
              <a:schemeClr val="lt2"/>
            </a:solidFill>
            <a:prstDash val="solid"/>
          </a:ln>
        </p:spPr>
      </p:sp>
      <p:sp>
        <p:nvSpPr>
          <p:cNvPr id="133" name="Shape 131">
            <a:extLst xmlns:a="http://schemas.openxmlformats.org/drawingml/2006/main">
              <a:ext uri="{FF2B5EF4-FFF2-40B4-BE49-F238E27FC236}">
                <a16:creationId xmlns:a16="http://schemas.microsoft.com/office/drawing/2014/main" id="{23F36A88-C377-458D-8E64-C8CF6102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7680960"/>
            <a:ext cx="1389888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134" name="Text 132">
            <a:extLst xmlns:a="http://schemas.openxmlformats.org/drawingml/2006/main">
              <a:ext uri="{FF2B5EF4-FFF2-40B4-BE49-F238E27FC236}">
                <a16:creationId xmlns:a16="http://schemas.microsoft.com/office/drawing/2014/main" id="{D86497BD-5AB1-4BC6-ADAF-FEC461D4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754112"/>
            <a:ext cx="932688" cy="1989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2" b="1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商用成效</a:t>
            </a:r>
            <a:endParaRPr sz="1152"/>
          </a:p>
        </p:txBody>
      </p:sp>
      <p:sp>
        <p:nvSpPr>
          <p:cNvPr id="135" name="Text 133">
            <a:extLst xmlns:a="http://schemas.openxmlformats.org/drawingml/2006/main">
              <a:ext uri="{FF2B5EF4-FFF2-40B4-BE49-F238E27FC236}">
                <a16:creationId xmlns:a16="http://schemas.microsoft.com/office/drawing/2014/main" id="{D02FD7EA-40BF-4F5C-8542-D6093C89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7763256"/>
            <a:ext cx="10149840" cy="1989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2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接入产品 / 场景数   |   合格数据与轨迹供给   |   数据生产周期   |   产品迭代周期</a:t>
            </a:r>
            <a:endParaRPr sz="1152"/>
          </a:p>
        </p:txBody>
      </p:sp>
      <p:sp>
        <p:nvSpPr>
          <p:cNvPr id="136" name="Text 134">
            <a:extLst xmlns:a="http://schemas.openxmlformats.org/drawingml/2006/main">
              <a:ext uri="{FF2B5EF4-FFF2-40B4-BE49-F238E27FC236}">
                <a16:creationId xmlns:a16="http://schemas.microsoft.com/office/drawing/2014/main" id="{481F0728-50D9-493A-96A7-38B3C388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0" y="7772400"/>
            <a:ext cx="1920240" cy="1741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8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目标值待基线确认</a:t>
            </a:r>
            <a:endParaRPr sz="1008"/>
          </a:p>
        </p:txBody>
      </p:sp>
      <p:sp>
        <p:nvSpPr>
          <p:cNvPr id="137" name="Text 135">
            <a:extLst xmlns:a="http://schemas.openxmlformats.org/drawingml/2006/main">
              <a:ext uri="{FF2B5EF4-FFF2-40B4-BE49-F238E27FC236}">
                <a16:creationId xmlns:a16="http://schemas.microsoft.com/office/drawing/2014/main" id="{22096B0B-EE44-4E1C-A789-69F7EE2D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8055864"/>
            <a:ext cx="13853160" cy="149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64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注：场景为说明示例；场景化基准、版本关联、产物交接与失败回流为本版建议补齐项。</a:t>
            </a:r>
            <a:endParaRPr sz="864"/>
          </a:p>
        </p:txBody>
      </p:sp>
    </p:spTree>
    <p:extLst>
      <p:ext uri="{BB962C8B-B14F-4D97-AF65-F5344CB8AC3E}">
        <p14:creationId xmlns:p14="http://schemas.microsoft.com/office/powerpoint/2010/main" val="1191417655"/>
      </p:ext>
    </p:extLst>
  </p:cSld>
</p:sld>
</file>

<file path=ppt/theme/theme1.xml><?xml version="1.0" encoding="utf-8"?>
<a:theme xmlns:a="http://schemas.openxmlformats.org/drawingml/2006/main" name="Huawei-inspired Red White Gray">
  <a:themeElements>
    <a:clrScheme name="Huawei-inspired Red White Gray">
      <a:dk1>
        <a:srgbClr val="333333"/>
      </a:dk1>
      <a:lt1>
        <a:srgbClr val="FFFFFF"/>
      </a:lt1>
      <a:dk2>
        <a:srgbClr val="262626"/>
      </a:dk2>
      <a:lt2>
        <a:srgbClr val="F5F5F5"/>
      </a:lt2>
      <a:accent1>
        <a:srgbClr val="C7000B"/>
      </a:accent1>
      <a:accent2>
        <a:srgbClr val="666666"/>
      </a:accent2>
      <a:accent3>
        <a:srgbClr val="D9D9D9"/>
      </a:accent3>
      <a:accent4>
        <a:srgbClr val="FCEBEC"/>
      </a:accent4>
      <a:accent5>
        <a:srgbClr val="999999"/>
      </a:accent5>
      <a:accent6>
        <a:srgbClr val="8C0008"/>
      </a:accent6>
      <a:hlink>
        <a:srgbClr val="C7000B"/>
      </a:hlink>
      <a:folHlink>
        <a:srgbClr val="8C0008"/>
      </a:folHlink>
    </a:clrScheme>
    <a:fontScheme name="Microsoft YaHei">
      <a:majorFont>
        <a:latin typeface="Microsoft YaHei"/>
        <a:ea typeface="Microsoft YaHei"/>
        <a:cs typeface=""/>
        <a:font script="Jpan" typeface="游ゴシック Light"/>
        <a:font script="Hang" typeface="맑은 고딕"/>
        <a:font script="Hans" typeface="Microsoft YaHe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Microsoft YaHei"/>
        <a:cs typeface=""/>
        <a:font script="Jpan" typeface="游ゴシック"/>
        <a:font script="Hang" typeface="맑은 고딕"/>
        <a:font script="Hans" typeface="Microsoft YaHe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Huawei-inspired Red White Gray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2026-10-21T05:49:45.1060000Z</dcterms:created>
  <dcterms:modified xsi:type="dcterms:W3CDTF">2026-10-21T05:49:45.1060000Z</dcterms:modified>
</coreProperties>
</file>