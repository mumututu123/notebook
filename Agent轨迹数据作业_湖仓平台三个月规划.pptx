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3078db42ee41c1" /><Relationship Type="http://schemas.openxmlformats.org/officeDocument/2006/relationships/extended-properties" Target="/docProps/app.xml" Id="R02e55a3ba8604111" /><Relationship Type="http://schemas.openxmlformats.org/officeDocument/2006/relationships/officeDocument" Target="/ppt/presentation.xml" Id="R25ae65a6f51d4f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eb5f0f6f624fd1"/>
  </p:sldMasterIdLst>
  <p:notesMasterIdLst>
    <p:notesMasterId xmlns:r="http://schemas.openxmlformats.org/officeDocument/2006/relationships" r:id="R1c5612151cb04174"/>
  </p:notesMasterIdLst>
  <p:sldIdLst>
    <p:sldId xmlns:r="http://schemas.openxmlformats.org/officeDocument/2006/relationships" id="256" r:id="R6735a51f75564186"/>
    <p:sldId xmlns:r="http://schemas.openxmlformats.org/officeDocument/2006/relationships" id="257" r:id="R9b80d9e4d9de4f37"/>
    <p:sldId xmlns:r="http://schemas.openxmlformats.org/officeDocument/2006/relationships" id="258" r:id="Re3c8a381956445f2"/>
    <p:sldId xmlns:r="http://schemas.openxmlformats.org/officeDocument/2006/relationships" id="259" r:id="R013158be325843f6"/>
    <p:sldId xmlns:r="http://schemas.openxmlformats.org/officeDocument/2006/relationships" id="260" r:id="R69e1a4fe24654dcb"/>
    <p:sldId xmlns:r="http://schemas.openxmlformats.org/officeDocument/2006/relationships" id="261" r:id="R084c4a915b1c47da"/>
    <p:sldId xmlns:r="http://schemas.openxmlformats.org/officeDocument/2006/relationships" id="262" r:id="Rf8e70fcde58f480b"/>
    <p:sldId xmlns:r="http://schemas.openxmlformats.org/officeDocument/2006/relationships" id="263" r:id="R587f5e81464d4d70"/>
    <p:sldId xmlns:r="http://schemas.openxmlformats.org/officeDocument/2006/relationships" id="264" r:id="R08da1eea2df743ee"/>
    <p:sldId xmlns:r="http://schemas.openxmlformats.org/officeDocument/2006/relationships" id="265" r:id="Rf348b6fd4c5343fb"/>
    <p:sldId xmlns:r="http://schemas.openxmlformats.org/officeDocument/2006/relationships" id="266" r:id="Ra1e5d99e59cd47fb"/>
    <p:sldId xmlns:r="http://schemas.openxmlformats.org/officeDocument/2006/relationships" id="267" r:id="R5304d2e655254e4a"/>
    <p:sldId xmlns:r="http://schemas.openxmlformats.org/officeDocument/2006/relationships" id="268" r:id="Re7bfa27f5c5e49d3"/>
    <p:sldId xmlns:r="http://schemas.openxmlformats.org/officeDocument/2006/relationships" id="269" r:id="Reb6f48642a184df6"/>
    <p:sldId xmlns:r="http://schemas.openxmlformats.org/officeDocument/2006/relationships" id="270" r:id="Raa1ee80221724d09"/>
    <p:sldId xmlns:r="http://schemas.openxmlformats.org/officeDocument/2006/relationships" id="271" r:id="R4d3ea14ae4b347b5"/>
    <p:sldId xmlns:r="http://schemas.openxmlformats.org/officeDocument/2006/relationships" id="272" r:id="R9716579d15a14b2c"/>
    <p:sldId xmlns:r="http://schemas.openxmlformats.org/officeDocument/2006/relationships" id="273" r:id="R1a1a7619ed7d4b6a"/>
    <p:sldId xmlns:r="http://schemas.openxmlformats.org/officeDocument/2006/relationships" id="274" r:id="Ra841102193e3473d"/>
    <p:sldId xmlns:r="http://schemas.openxmlformats.org/officeDocument/2006/relationships" id="275" r:id="R2d3a7abb7ed7482f"/>
    <p:sldId xmlns:r="http://schemas.openxmlformats.org/officeDocument/2006/relationships" id="276" r:id="R95d72746ffd44221"/>
    <p:sldId xmlns:r="http://schemas.openxmlformats.org/officeDocument/2006/relationships" id="277" r:id="Rb68280b1ab984785"/>
    <p:sldId xmlns:r="http://schemas.openxmlformats.org/officeDocument/2006/relationships" id="278" r:id="R032d9606307a4b16"/>
    <p:sldId xmlns:r="http://schemas.openxmlformats.org/officeDocument/2006/relationships" id="279" r:id="R978ced4c0fac46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a6516ff9be4cd3" /><Relationship Type="http://schemas.openxmlformats.org/officeDocument/2006/relationships/slideMaster" Target="/ppt/slideMasters/slideMaster1.xml" Id="Ra1eb5f0f6f624fd1" /><Relationship Type="http://schemas.openxmlformats.org/officeDocument/2006/relationships/notesMaster" Target="/ppt/notesMasters/notesMaster1.xml" Id="R1c5612151cb04174" /><Relationship Type="http://schemas.openxmlformats.org/officeDocument/2006/relationships/presProps" Target="/ppt/presProps.xml" Id="R5455b60c4f0641e9" /><Relationship Type="http://schemas.openxmlformats.org/officeDocument/2006/relationships/tableStyles" Target="/ppt/tableStyles.xml" Id="R7925f53f61e246d2" /><Relationship Type="http://schemas.openxmlformats.org/officeDocument/2006/relationships/slide" Target="/ppt/slides/slide1.xml" Id="R6735a51f75564186" /><Relationship Type="http://schemas.openxmlformats.org/officeDocument/2006/relationships/slide" Target="/ppt/slides/slide2.xml" Id="R9b80d9e4d9de4f37" /><Relationship Type="http://schemas.openxmlformats.org/officeDocument/2006/relationships/slide" Target="/ppt/slides/slide3.xml" Id="Re3c8a381956445f2" /><Relationship Type="http://schemas.openxmlformats.org/officeDocument/2006/relationships/slide" Target="/ppt/slides/slide4.xml" Id="R013158be325843f6" /><Relationship Type="http://schemas.openxmlformats.org/officeDocument/2006/relationships/slide" Target="/ppt/slides/slide5.xml" Id="R69e1a4fe24654dcb" /><Relationship Type="http://schemas.openxmlformats.org/officeDocument/2006/relationships/slide" Target="/ppt/slides/slide6.xml" Id="R084c4a915b1c47da" /><Relationship Type="http://schemas.openxmlformats.org/officeDocument/2006/relationships/slide" Target="/ppt/slides/slide7.xml" Id="Rf8e70fcde58f480b" /><Relationship Type="http://schemas.openxmlformats.org/officeDocument/2006/relationships/slide" Target="/ppt/slides/slide8.xml" Id="R587f5e81464d4d70" /><Relationship Type="http://schemas.openxmlformats.org/officeDocument/2006/relationships/slide" Target="/ppt/slides/slide9.xml" Id="R08da1eea2df743ee" /><Relationship Type="http://schemas.openxmlformats.org/officeDocument/2006/relationships/slide" Target="/ppt/slides/slide10.xml" Id="Rf348b6fd4c5343fb" /><Relationship Type="http://schemas.openxmlformats.org/officeDocument/2006/relationships/slide" Target="/ppt/slides/slide11.xml" Id="Ra1e5d99e59cd47fb" /><Relationship Type="http://schemas.openxmlformats.org/officeDocument/2006/relationships/slide" Target="/ppt/slides/slide12.xml" Id="R5304d2e655254e4a" /><Relationship Type="http://schemas.openxmlformats.org/officeDocument/2006/relationships/slide" Target="/ppt/slides/slide13.xml" Id="Re7bfa27f5c5e49d3" /><Relationship Type="http://schemas.openxmlformats.org/officeDocument/2006/relationships/slide" Target="/ppt/slides/slide14.xml" Id="Reb6f48642a184df6" /><Relationship Type="http://schemas.openxmlformats.org/officeDocument/2006/relationships/slide" Target="/ppt/slides/slide15.xml" Id="Raa1ee80221724d09" /><Relationship Type="http://schemas.openxmlformats.org/officeDocument/2006/relationships/slide" Target="/ppt/slides/slide16.xml" Id="R4d3ea14ae4b347b5" /><Relationship Type="http://schemas.openxmlformats.org/officeDocument/2006/relationships/slide" Target="/ppt/slides/slide17.xml" Id="R9716579d15a14b2c" /><Relationship Type="http://schemas.openxmlformats.org/officeDocument/2006/relationships/slide" Target="/ppt/slides/slide18.xml" Id="R1a1a7619ed7d4b6a" /><Relationship Type="http://schemas.openxmlformats.org/officeDocument/2006/relationships/slide" Target="/ppt/slides/slide19.xml" Id="Ra841102193e3473d" /><Relationship Type="http://schemas.openxmlformats.org/officeDocument/2006/relationships/slide" Target="/ppt/slides/slide20.xml" Id="R2d3a7abb7ed7482f" /><Relationship Type="http://schemas.openxmlformats.org/officeDocument/2006/relationships/slide" Target="/ppt/slides/slide21.xml" Id="R95d72746ffd44221" /><Relationship Type="http://schemas.openxmlformats.org/officeDocument/2006/relationships/slide" Target="/ppt/slides/slide22.xml" Id="Rb68280b1ab984785" /><Relationship Type="http://schemas.openxmlformats.org/officeDocument/2006/relationships/slide" Target="/ppt/slides/slide23.xml" Id="R032d9606307a4b16" /><Relationship Type="http://schemas.openxmlformats.org/officeDocument/2006/relationships/slide" Target="/ppt/slides/slide24.xml" Id="R978ced4c0fac46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18621ae20f42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4f8d04934d4ce9" /><Relationship Type="http://schemas.openxmlformats.org/officeDocument/2006/relationships/notesMaster" Target="/ppt/notesMasters/notesMaster1.xml" Id="R9e83594a218f4f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e807280cff4324" /><Relationship Type="http://schemas.openxmlformats.org/officeDocument/2006/relationships/notesMaster" Target="/ppt/notesMasters/notesMaster1.xml" Id="Rf574d79bb6e544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c75958dea647b5" /><Relationship Type="http://schemas.openxmlformats.org/officeDocument/2006/relationships/notesMaster" Target="/ppt/notesMasters/notesMaster1.xml" Id="R6134ce536ab342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556900b7e24ceb" /><Relationship Type="http://schemas.openxmlformats.org/officeDocument/2006/relationships/notesMaster" Target="/ppt/notesMasters/notesMaster1.xml" Id="R035b49532cc74b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ad7c1357b44e8b" /><Relationship Type="http://schemas.openxmlformats.org/officeDocument/2006/relationships/notesMaster" Target="/ppt/notesMasters/notesMaster1.xml" Id="R85aa62a90bfb41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8916f3950f484e" /><Relationship Type="http://schemas.openxmlformats.org/officeDocument/2006/relationships/notesMaster" Target="/ppt/notesMasters/notesMaster1.xml" Id="R4b8c0476c7d54d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a38b90a006481c" /><Relationship Type="http://schemas.openxmlformats.org/officeDocument/2006/relationships/notesMaster" Target="/ppt/notesMasters/notesMaster1.xml" Id="Rb1200a65862841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98f5d54f5c47a1" /><Relationship Type="http://schemas.openxmlformats.org/officeDocument/2006/relationships/notesMaster" Target="/ppt/notesMasters/notesMaster1.xml" Id="Ra52e54abd3d546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94fa0798124cb2" /><Relationship Type="http://schemas.openxmlformats.org/officeDocument/2006/relationships/notesMaster" Target="/ppt/notesMasters/notesMaster1.xml" Id="R0fa20e16417844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0455f3e1654615" /><Relationship Type="http://schemas.openxmlformats.org/officeDocument/2006/relationships/notesMaster" Target="/ppt/notesMasters/notesMaster1.xml" Id="R190e9a2434234a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b174f0b6c2465e" /><Relationship Type="http://schemas.openxmlformats.org/officeDocument/2006/relationships/notesMaster" Target="/ppt/notesMasters/notesMaster1.xml" Id="R809afa9c806a47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6b659035cd478d" /><Relationship Type="http://schemas.openxmlformats.org/officeDocument/2006/relationships/notesMaster" Target="/ppt/notesMasters/notesMaster1.xml" Id="R67c276213edb4f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3dae2bdc214a9a" /><Relationship Type="http://schemas.openxmlformats.org/officeDocument/2006/relationships/notesMaster" Target="/ppt/notesMasters/notesMaster1.xml" Id="R5630db81f1fc47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96a162dd834b5b" /><Relationship Type="http://schemas.openxmlformats.org/officeDocument/2006/relationships/notesMaster" Target="/ppt/notesMasters/notesMaster1.xml" Id="Rf3bca1e972e943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18959ebdfa048e8" /><Relationship Type="http://schemas.openxmlformats.org/officeDocument/2006/relationships/notesMaster" Target="/ppt/notesMasters/notesMaster1.xml" Id="R17821dcd2f3243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a25ca60a314851" /><Relationship Type="http://schemas.openxmlformats.org/officeDocument/2006/relationships/notesMaster" Target="/ppt/notesMasters/notesMaster1.xml" Id="Rc63d1b48cca44a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8541f06e294139" /><Relationship Type="http://schemas.openxmlformats.org/officeDocument/2006/relationships/notesMaster" Target="/ppt/notesMasters/notesMaster1.xml" Id="R17ba38fdb94e4b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ba8019193c4c49" /><Relationship Type="http://schemas.openxmlformats.org/officeDocument/2006/relationships/notesMaster" Target="/ppt/notesMasters/notesMaster1.xml" Id="R35614cfbc78548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c402fad7ea438f" /><Relationship Type="http://schemas.openxmlformats.org/officeDocument/2006/relationships/notesMaster" Target="/ppt/notesMasters/notesMaster1.xml" Id="Rd767cf5a32da4d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98e6927c25d4916" /><Relationship Type="http://schemas.openxmlformats.org/officeDocument/2006/relationships/notesMaster" Target="/ppt/notesMasters/notesMaster1.xml" Id="Rce958158840f45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c8fa5ce3bf412c" /><Relationship Type="http://schemas.openxmlformats.org/officeDocument/2006/relationships/notesMaster" Target="/ppt/notesMasters/notesMaster1.xml" Id="Rfa74c4948ce34c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b6e444303a3426b" /><Relationship Type="http://schemas.openxmlformats.org/officeDocument/2006/relationships/notesMaster" Target="/ppt/notesMasters/notesMaster1.xml" Id="Rd9b1037dcf2542d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401b2b648945be" /><Relationship Type="http://schemas.openxmlformats.org/officeDocument/2006/relationships/notesMaster" Target="/ppt/notesMasters/notesMaster1.xml" Id="R6d93c32f5e9548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edff4808ad34d63" /><Relationship Type="http://schemas.openxmlformats.org/officeDocument/2006/relationships/notesMaster" Target="/ppt/notesMasters/notesMaster1.xml" Id="Ra6283c45c60747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面向数据平台负责人、架构团队及Agent业务负责人。基于用户现状形成规划建议。正文按四个指定章节组织；图表为方案示意和规划数据，不代表已实施。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飞轮为规划架构。数据生产和模型训练执行由业务与训练平台负责，湖仓承担中间数据生命周期和训练供给。未审核数据保留在隔离区，不进入发布数据集。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场景颗粒度以一个端到端业务作业为边界，不按某个中间件部署任务拆分。主试点为一个业务域，平台支撑数据进入、使用、再生产及退出。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ATIF通常指Agent Trajectory Interchange Format。当前未确认用户ATFI是否为内部规范，不自动将其视为标准拼写错误。本方案保留原始轨迹和schema_version；具体Harbor版本对各多模字段的支持必须进行契约测试。跨事件资产可能共享，图中0:N表示单事件引用关系，并不表示全局树状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https://github.com/laude-institute/harbor</a:t>
            </a:r>
          </a:p>
          <a:p xmlns:a="http://schemas.openxmlformats.org/drawingml/2006/main">
            <a:r>
              <a:t>https://harborframework.com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趋势为基于稳定开源架构能力的分析性判断。官方资料入口列于附录；本次网络读取未成功，因此不宣称核验了2026年最新版本、原生连接器或性能。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https://iceberg.apache.org/docs/latest/maintenance/</a:t>
            </a:r>
          </a:p>
          <a:p xmlns:a="http://schemas.openxmlformats.org/drawingml/2006/main">
            <a:r>
              <a:t>https://docs.opensearch.org/latest/vector-search/ai-search/hybrid-search/</a:t>
            </a:r>
          </a:p>
          <a:p xmlns:a="http://schemas.openxmlformats.org/drawingml/2006/main">
            <a:r>
              <a:t>https://github.com/open-metadata/OpenMetadata</a:t>
            </a:r>
          </a:p>
          <a:p xmlns:a="http://schemas.openxmlformats.org/drawingml/2006/main">
            <a:r>
              <a:t>https://github.com/datahub-project/datahub</a:t>
            </a:r>
          </a:p>
          <a:p xmlns:a="http://schemas.openxmlformats.org/drawingml/2006/main">
            <a:r>
              <a:t>https://github.com/laude-institute/harbor</a:t>
            </a:r>
          </a:p>
          <a:p xmlns:a="http://schemas.openxmlformats.org/drawingml/2006/main">
            <a:r>
              <a:t>https://docs.litellm.ai/docs/simple_proxy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此图为建议参考架构。Index generation通过版本化发布清单驱动，并记录索引水位与schema版本。OpenMetadata需要自定义轨迹/多模字段适配；未假定公司已部署对象存储、目录或实时CDC。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https://iceberg.apache.org/docs/latest/maintenance/</a:t>
            </a:r>
          </a:p>
          <a:p xmlns:a="http://schemas.openxmlformats.org/drawingml/2006/main">
            <a:r>
              <a:t>https://docs.opensearch.org/latest/vector-search/ai-search/hybrid-search/</a:t>
            </a:r>
          </a:p>
          <a:p xmlns:a="http://schemas.openxmlformats.org/drawingml/2006/main">
            <a:r>
              <a:t>https://github.com/open-metadata/OpenMetadata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Harbor为Agent任务运行与评测框架；本次选择符合用户指定开源要求。不能视为Docker Harbor镜像仓库。统一运行时限于离线评测/数据生产，Harbor的具体沙箱/Agent适配/导出能力按选定版本验证。Airflow、Ray、Iceberg接入为本项目外围适配，不宣称原生连接器。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https://github.com/laude-institute/harbor</a:t>
            </a:r>
          </a:p>
          <a:p xmlns:a="http://schemas.openxmlformats.org/drawingml/2006/main">
            <a:r>
              <a:t>https://harborframework.com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用户确认airflow、iceberg、spark、ray、starrocks、superset BI均支持且打通。此表是复用职责映射，未断言其版本、现有SLA或功能已达到轨迹生产要求。对象存储、IAM/KMS、审计、目录和GPU资源均待盘点。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“缺口”依据用户初步判断，非现场审计结果。多模预览、审批工作台、样本/数据集管理、算子注册均需应用服务层补齐。对象存储、现有IAM/KMS、GPU配额与模型供应商授权是前置依赖。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范围为建议，待首周与业务确认。音视频先选一种；大规模全量向量化、全公司所有Agent框架统一运行、自动认定法律合规和训练平台建设不纳入本期。预训练仅提供合规语料与资产清单样例；主验收格式为一种后训练数据集。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组件和应用服务为规划逻辑分层。对象存储及IAM/KMS状态用户未提供，需盘点。图中共享服务需经自建API与作业适配集成，不能等同组件开箱即可连通。OpenMetadata可由公司既有目录替代，LiteLLM可由满足接口的已有MaaS网关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https://github.com/laude-institute/harbor</a:t>
            </a:r>
          </a:p>
          <a:p xmlns:a="http://schemas.openxmlformats.org/drawingml/2006/main">
            <a:r>
              <a:t>https://github.com/open-metadata/OpenMetadata</a:t>
            </a:r>
          </a:p>
          <a:p xmlns:a="http://schemas.openxmlformats.org/drawingml/2006/main">
            <a:r>
              <a:t>https://docs.opensearch.org/latest/vector-search/ai-search/hybrid-search/</a:t>
            </a:r>
          </a:p>
          <a:p xmlns:a="http://schemas.openxmlformats.org/drawingml/2006/main">
            <a:r>
              <a:t>https://docs.litellm.ai/docs/simple_proxy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签名或短时上传凭据、大小限制、MIME与压缩包安全检查在上传服务实现。原始数据进入受控隔离区，脱敏生成派生版本，不修改证据原件。Presidio仅作为PII识别可选基础，中文、图像/音视频需额外规则和OCR/ASR；恶意内容扫描与隐私授权核验为独立步骤。自动扫描不能替代全部隐私合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https://microsoft.github.io/presidio/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Search是候选热集混合索引。全量亿级事件元数据目标与热集语义召回分开验证，不假设每个event都需向量化。索引按tenant及发布状态过滤，防止查询和预览造成跨租户数据泄漏。语义检索记录分块规则、embedding模型版本、向量维度和索引generation。训练用途授权在策展发布与训练交付时再次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https://docs.opensearch.org/latest/vector-search/ai-search/hybrid-search/</a:t>
            </a:r>
          </a:p>
          <a:p xmlns:a="http://schemas.openxmlformats.org/drawingml/2006/main">
            <a:r>
              <a:t>https://github.com/open-metadata/OpenMetadata</a:t>
            </a:r>
          </a:p>
          <a:p xmlns:a="http://schemas.openxmlformats.org/drawingml/2006/main">
            <a:r>
              <a:t>https://iceberg.apache.org/docs/latest/maintenance/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bor输出轨迹原件及可用标准化轨迹，企业导出适配器校验ATIF和对象引用并落湖。工具网络访问不通过模型网关，单独受沙箱工具权限和网络策略控制。MaaS网关日志默认记录元数据/计量，敏感输入输出按策略采样与脱敏。冻结配置能支持可比性，不能保证LLM逐token确定性。指标至少包括运行完成率、任务成功率/评分、延迟、tokens和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https://github.com/laude-institute/harbor</a:t>
            </a:r>
          </a:p>
          <a:p xmlns:a="http://schemas.openxmlformats.org/drawingml/2006/main">
            <a:r>
              <a:t>https://harborframework.com</a:t>
            </a:r>
          </a:p>
          <a:p xmlns:a="http://schemas.openxmlformats.org/drawingml/2006/main">
            <a:r>
              <a:t>https://docs.litellm.ai/docs/simple_proxy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训练首期固定一种SFT格式，偏好对/DPO及更复杂多模格式在数据质量稳定后扩展。预训练供给需去重、许可及与评测集隔离，不将高敏完整轨迹默认送预训练。训练执行不在湖仓本期范围。已交付数据由接收方确认撤回/删除，已训练模型的影响处置另设策略；数据删除不等于模型遗忘。Iceberg历史快照、对象版本与备份按保留策略清理，法定保留例外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https://iceberg.apache.org/docs/latest/maintenance/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子注册/镜像版本、单元回归样本和资源声明是新增控制服务，不能因Spark/Ray已部署而视为已完成。Airflow只传对象引用和任务标识，避免在XCom中传大规模轨迹payload。采用batch_id与分片输出manifest使失败可重跑，发布做幂等提交。Harbor为独立执行后端，不假定原生Ray调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https://airflow.apache.org/docs/</a:t>
            </a:r>
          </a:p>
          <a:p xmlns:a="http://schemas.openxmlformats.org/drawingml/2006/main">
            <a:r>
              <a:t>https://docs.ray.io/en/latest/data/data.html</a:t>
            </a:r>
          </a:p>
          <a:p xmlns:a="http://schemas.openxmlformats.org/drawingml/2006/main">
            <a:r>
              <a:t>https://github.com/laude-institute/harbor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型不是声称独家最优，也不是多套平台同步建设。首月复用评估优先。LiteLLM的企业SSO、细粒度RBAC、审计和预算等须核对版本与许可证，缺口由已有网关/IAM补齐。Presidio不是恶意文件、内容安全和隐私合规的统一替代。所有选型均需安全、依赖和许可证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https://docs.opensearch.org/latest/vector-search/ai-search/hybrid-search/</a:t>
            </a:r>
          </a:p>
          <a:p xmlns:a="http://schemas.openxmlformats.org/drawingml/2006/main">
            <a:r>
              <a:t>https://github.com/open-metadata/OpenMetadata</a:t>
            </a:r>
          </a:p>
          <a:p xmlns:a="http://schemas.openxmlformats.org/drawingml/2006/main">
            <a:r>
              <a:t>https://github.com/datahub-project/datahub</a:t>
            </a:r>
          </a:p>
          <a:p xmlns:a="http://schemas.openxmlformats.org/drawingml/2006/main">
            <a:r>
              <a:t>https://github.com/laude-institute/harbor</a:t>
            </a:r>
          </a:p>
          <a:p xmlns:a="http://schemas.openxmlformats.org/drawingml/2006/main">
            <a:r>
              <a:t>https://docs.litellm.ai/docs/simple_proxy</a:t>
            </a:r>
          </a:p>
          <a:p xmlns:a="http://schemas.openxmlformats.org/drawingml/2006/main">
            <a:r>
              <a:t>https://microsoft.github.io/presidio/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关的失败重试受费用上限与幂等风险约束，工具重试不直接沿用模型请求重试策略。模型供应商留存、地域和训练使用条款由公司安全/合规团队确认。单一网关不实现全部工具治理；受控环境另做网络/文件/资源限制。权限和授权用途需向索引、缓存、数据集版本及训练交付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https://docs.litellm.ai/docs/simple_proxy</a:t>
            </a:r>
          </a:p>
          <a:p xmlns:a="http://schemas.openxmlformats.org/drawingml/2006/main">
            <a:r>
              <a:t>https://github.com/laude-institute/harbor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周期自项目启动起算，不依赖某自然月。Harbor、模型网关与训练格式首月并行验证，避免后期才发现数据/模型契约不兼容。W4确认规模、负载、硬件资源与SLO；W8后控制新增范围；W12交付基于真实样本的容量与成本报告。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公式：100,000,000×2,000 bytes=200GB。10,000,000×2,000,000 bytes=20TB。10,000,000×768×2 bytes=15.36GB。向量索引引擎实际精度、图结构、metadata、复制及内存策略增加开销，不能用原始向量体积估算整套资源。压测应分结构过滤、全文、语义和混合类型报告p50/p95/p99、吞吐与错误率。日增量不足以由存量推断。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小时为候选可见性失效目标，并非无条件物理删除承诺。物理清理覆盖当前数据文件、历史快照、对象版本、备份和交付副本，受法定保留例外及备份清理窗口约束。安全扫描召回率应以本公司中文/多模标注集分别测量，不能虚构统一100%检出。吞吐、RPO/RTO在首月基于平台现有SLA和资源盘点冻结。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–10核心成员为工作量粗估建议，不是公司已批准编制或预算。5–6+2+1–2=8–10，业务/安全/法务/训练协同不计入核心全职数。费用先按资源池计量，不编造人民币预算。若前置资源不足，优先保证四类作业的小范围闭环，缩小模态和热集，再以压测报告决定全量扩容。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官方网页本次因环境网络和自动审批服务异常未成功读取。参考入口基于项目稳定官方地址和已有知识提供，不能作为最新版本在线核验记录。规划不虚构功能GA状态、性能、许可证边界或部署事实。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本页为官方参考入口清单，非本次成功在线读取的证据。DataHub补充入口、Harbor官网、Airflow与Ray文档如下。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官方参考入口（用于组件定位，具体版本及授权边界需在首月验证）：</a:t>
            </a:r>
          </a:p>
          <a:p xmlns:a="http://schemas.openxmlformats.org/drawingml/2006/main">
            <a:r>
              <a:t>https://iceberg.apache.org/docs/latest/maintenance/</a:t>
            </a:r>
          </a:p>
          <a:p xmlns:a="http://schemas.openxmlformats.org/drawingml/2006/main">
            <a:r>
              <a:t>https://docs.opensearch.org/latest/vector-search/ai-search/hybrid-search/</a:t>
            </a:r>
          </a:p>
          <a:p xmlns:a="http://schemas.openxmlformats.org/drawingml/2006/main">
            <a:r>
              <a:t>https://github.com/open-metadata/OpenMetadata</a:t>
            </a:r>
          </a:p>
          <a:p xmlns:a="http://schemas.openxmlformats.org/drawingml/2006/main">
            <a:r>
              <a:t>https://github.com/datahub-project/datahub</a:t>
            </a:r>
          </a:p>
          <a:p xmlns:a="http://schemas.openxmlformats.org/drawingml/2006/main">
            <a:r>
              <a:t>https://github.com/laude-institute/harbor</a:t>
            </a:r>
          </a:p>
          <a:p xmlns:a="http://schemas.openxmlformats.org/drawingml/2006/main">
            <a:r>
              <a:t>https://harborframework.com</a:t>
            </a:r>
          </a:p>
          <a:p xmlns:a="http://schemas.openxmlformats.org/drawingml/2006/main">
            <a:r>
              <a:t>https://docs.litellm.ai/docs/simple_proxy</a:t>
            </a:r>
          </a:p>
          <a:p xmlns:a="http://schemas.openxmlformats.org/drawingml/2006/main">
            <a:r>
              <a:t>https://microsoft.github.io/presidio/</a:t>
            </a:r>
          </a:p>
          <a:p xmlns:a="http://schemas.openxmlformats.org/drawingml/2006/main">
            <a:r>
              <a:t>https://airflow.apache.org/docs/</a:t>
            </a:r>
          </a:p>
          <a:p xmlns:a="http://schemas.openxmlformats.org/drawingml/2006/main">
            <a:r>
              <a:t>https://docs.ray.io/en/latest/data/data.html</a:t>
            </a:r>
          </a:p>
          <a:p xmlns:a="http://schemas.openxmlformats.org/drawingml/2006/main">
            <a:r>
              <a:t>规划口径：用户提供的现状仅包括六组件已部署且互通。方案、范围、资源与SLO均为建议，不能作为现有能力实测。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45fea55bd40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d96a719c7542e9" /><Relationship Type="http://schemas.openxmlformats.org/officeDocument/2006/relationships/slideLayout" Target="/ppt/slideLayouts/slideLayout1.xml" Id="Rb29fd46a10fe40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9fd46a10fe40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534cf01104213" /><Relationship Type="http://schemas.openxmlformats.org/officeDocument/2006/relationships/notesSlide" Target="/ppt/notesSlides/notesSlide1.xml" Id="R3b1a862a038746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ac004a31c4f55" /><Relationship Type="http://schemas.openxmlformats.org/officeDocument/2006/relationships/notesSlide" Target="/ppt/notesSlides/notesSlide2.xml" Id="Rba31eb95e11e44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10c9a91b749b8" /><Relationship Type="http://schemas.openxmlformats.org/officeDocument/2006/relationships/notesSlide" Target="/ppt/notesSlides/notesSlide3.xml" Id="R8f837ef84afc49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96df8a02948c1" /><Relationship Type="http://schemas.openxmlformats.org/officeDocument/2006/relationships/notesSlide" Target="/ppt/notesSlides/notesSlide4.xml" Id="R22d2517ae91749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99faec8754cc5" /><Relationship Type="http://schemas.openxmlformats.org/officeDocument/2006/relationships/notesSlide" Target="/ppt/notesSlides/notesSlide5.xml" Id="R47e99b423b5247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a703851fd4ba8" /><Relationship Type="http://schemas.openxmlformats.org/officeDocument/2006/relationships/notesSlide" Target="/ppt/notesSlides/notesSlide6.xml" Id="Rb7fbb7668a3944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fb136ea254f06" /><Relationship Type="http://schemas.openxmlformats.org/officeDocument/2006/relationships/notesSlide" Target="/ppt/notesSlides/notesSlide7.xml" Id="R3fe961f6eb4d42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79f37b17a4979" /><Relationship Type="http://schemas.openxmlformats.org/officeDocument/2006/relationships/notesSlide" Target="/ppt/notesSlides/notesSlide8.xml" Id="R92abf02d518e44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b63b3bdc343f8" /><Relationship Type="http://schemas.openxmlformats.org/officeDocument/2006/relationships/notesSlide" Target="/ppt/notesSlides/notesSlide9.xml" Id="R12094930ff8d41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4cdd05e13407b" /><Relationship Type="http://schemas.openxmlformats.org/officeDocument/2006/relationships/notesSlide" Target="/ppt/notesSlides/notesSlide10.xml" Id="Ra729738430284e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74d595df543b3" /><Relationship Type="http://schemas.openxmlformats.org/officeDocument/2006/relationships/notesSlide" Target="/ppt/notesSlides/notesSlide11.xml" Id="Ra534f1e439f64c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1d3cac4604447" /><Relationship Type="http://schemas.openxmlformats.org/officeDocument/2006/relationships/notesSlide" Target="/ppt/notesSlides/notesSlide12.xml" Id="R2acc95514a0b46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126a237294d9c" /><Relationship Type="http://schemas.openxmlformats.org/officeDocument/2006/relationships/notesSlide" Target="/ppt/notesSlides/notesSlide13.xml" Id="Re303ed6818244d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6d64249404c11" /><Relationship Type="http://schemas.openxmlformats.org/officeDocument/2006/relationships/notesSlide" Target="/ppt/notesSlides/notesSlide14.xml" Id="Re81d0c38b57846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d249ff22a4933" /><Relationship Type="http://schemas.openxmlformats.org/officeDocument/2006/relationships/notesSlide" Target="/ppt/notesSlides/notesSlide15.xml" Id="Rc8918821c2ea42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3d8abe1514dba" /><Relationship Type="http://schemas.openxmlformats.org/officeDocument/2006/relationships/notesSlide" Target="/ppt/notesSlides/notesSlide16.xml" Id="R43eafde21df248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ae8c955094e4d" /><Relationship Type="http://schemas.openxmlformats.org/officeDocument/2006/relationships/notesSlide" Target="/ppt/notesSlides/notesSlide17.xml" Id="R4369d2d1a41f469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f0ee2251244fc" /><Relationship Type="http://schemas.openxmlformats.org/officeDocument/2006/relationships/notesSlide" Target="/ppt/notesSlides/notesSlide18.xml" Id="Re8293a5c4b3c4b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b64f3580b43d5" /><Relationship Type="http://schemas.openxmlformats.org/officeDocument/2006/relationships/notesSlide" Target="/ppt/notesSlides/notesSlide19.xml" Id="R74a18bd85b054c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9df3e94b449f9" /><Relationship Type="http://schemas.openxmlformats.org/officeDocument/2006/relationships/notesSlide" Target="/ppt/notesSlides/notesSlide20.xml" Id="Rfba8c73bd9d342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3852bb7404d46" /><Relationship Type="http://schemas.openxmlformats.org/officeDocument/2006/relationships/notesSlide" Target="/ppt/notesSlides/notesSlide21.xml" Id="Rbb713c64b54c4be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88e94d8c24544" /><Relationship Type="http://schemas.openxmlformats.org/officeDocument/2006/relationships/notesSlide" Target="/ppt/notesSlides/notesSlide22.xml" Id="Rfee5d24a925141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6f5f0bf124774" /><Relationship Type="http://schemas.openxmlformats.org/officeDocument/2006/relationships/notesSlide" Target="/ppt/notesSlides/notesSlide23.xml" Id="R58b7840fcc014c8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32555764b4559" /><Relationship Type="http://schemas.openxmlformats.org/officeDocument/2006/relationships/hyperlink" Target="https://iceberg.apache.org/docs/latest/maintenance/" TargetMode="External" Id="R99d0bb51c05d4d4a" /><Relationship Type="http://schemas.openxmlformats.org/officeDocument/2006/relationships/hyperlink" Target="https://docs.opensearch.org/latest/vector-search/" TargetMode="External" Id="Rb3bf88a429824b17" /><Relationship Type="http://schemas.openxmlformats.org/officeDocument/2006/relationships/hyperlink" Target="https://github.com/open-metadata/OpenMetadata" TargetMode="External" Id="R4dc3b43183404f24" /><Relationship Type="http://schemas.openxmlformats.org/officeDocument/2006/relationships/hyperlink" Target="https://github.com/laude-institute/harbor" TargetMode="External" Id="R95351a0a6593466b" /><Relationship Type="http://schemas.openxmlformats.org/officeDocument/2006/relationships/hyperlink" Target="https://docs.litellm.ai/docs/simple_proxy" TargetMode="External" Id="R560ef12785dc4238" /><Relationship Type="http://schemas.openxmlformats.org/officeDocument/2006/relationships/hyperlink" Target="https://microsoft.github.io/presidio/" TargetMode="External" Id="Rcb8ea15b180946f2" /><Relationship Type="http://schemas.openxmlformats.org/officeDocument/2006/relationships/notesSlide" Target="/ppt/notesSlides/notesSlide24.xml" Id="R7bb31beba8bf43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E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77355-F77C-4164-8F8D-B9D70B44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7CB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7CBDD"/>
                </a:solidFill>
                <a:latin typeface="Microsoft YaHei"/>
                <a:ea typeface="Microsoft YaHei"/>
                <a:cs typeface="Microsoft YaHei"/>
              </a:rPr>
              <a:t>湖仓平台规划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39607-CA4C-4EFC-8F72-6EA24793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858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轨迹数据作业</a:t>
            </a:r>
          </a:p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三个月场景与 IT 能力规划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18290-5C7E-4A09-9563-10D8CF93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6DF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6DFDC"/>
                </a:solidFill>
                <a:latin typeface="Microsoft YaHei"/>
                <a:ea typeface="Microsoft YaHei"/>
                <a:cs typeface="Microsoft YaHei"/>
              </a:rPr>
              <a:t>合规入湖　检索策展　Harbor 评测　训练交付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F0747-AA31-471B-8807-78E47F14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规划周期：项目启动后 12 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6CC9B-F9AC-4528-8E93-A851FF6A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34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7CB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7CBD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563727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7DF145-0FD3-47BD-B999-17D359A6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01  Agent 相关数据作业飞轮及重点场景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524FF-A87D-49EC-B3AF-DD77DB49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84653-78C0-4AEC-8F9E-9F1B04D2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Agent 数据作业飞轮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3FF2E-33BF-4A57-AA54-342FA67D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评测发现问题，策展形成数据，模型迭代产生新的轨迹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92CE9-808F-48DE-8A08-CDEEDDE3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3C358-E4CF-43AC-B574-D974D3B5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01  数据产生与接入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3E0E1-B5AB-46D9-9AF8-87EDEDEA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Agent 运行、导出、上传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14718-397C-499B-8DB7-92CF91F7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0ABAA-1E66-4D3E-B636-931089AC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193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02  治理与发布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12743-5869-4F15-A91F-BF8AC5B0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2890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脱敏、扫描、人工审查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9F579-D39F-4EED-A9FB-9AD7B98C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1E1E9-FFF8-4FCA-A978-91F871DA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193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03  检索与策展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440F3-A4A5-48BB-BD56-12D1D120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2890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找问题、标注、数据集版本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B2F43-87A6-42AA-9717-6146BF05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47739-5EFB-41EB-A9FC-99EED33B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06  模型与应用迭代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73A4B-4557-4BA9-B797-C8A3A3DB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预训练 / 后训练供给、回归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72CF9-1759-4DA4-92C2-F9B9AAC6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D8FB3-E5E9-49AF-BCF5-63F52F14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624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05  训练交付与归档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25ED2-47CA-48F2-B99A-5AD4C960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导出、授权、保留与撤回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CB974-0154-4294-9E7B-5813835C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38650"/>
            <a:ext cx="323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9A097-49B2-4FD2-AF80-9C72AC21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624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04  评测与分析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08A1B-1C16-46BD-9B6F-245F38C6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7205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Harbor 运行、轨迹回流、BI</a:t>
            </a:r>
          </a:p>
        </p:txBody>
      </p:sp>
      <p:cxnSp>
        <p:nvCxnSpPr>
          <p:cNvPr id="53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26574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15250" y="26574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001250" y="3219450"/>
            <a:ext cx="0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20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7715250" y="5000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7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3810000" y="50006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4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2190750" y="3219450"/>
            <a:ext cx="0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DCDB3-657A-4083-8B46-59F88D55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90925"/>
            <a:ext cx="942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作业底座：版本化数据集、脚本算子、Airflow 编排、全链路血缘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116474-960B-4B68-8D4C-B0189AD4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每次发布都绑定数据、算子、策略与评测版本；“可用数据”同时具备质量证据与使用授权。</a:t>
            </a:r>
          </a:p>
        </p:txBody>
      </p:sp>
    </p:spTree>
    <p:extLst>
      <p:ext uri="{BB962C8B-B14F-4D97-AF65-F5344CB8AC3E}">
        <p14:creationId xmlns:p14="http://schemas.microsoft.com/office/powerpoint/2010/main" val="12801461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848B3-7816-4808-87E2-106DB4BA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01  Agent 相关数据作业飞轮及重点场景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53263-2A6D-4275-A178-661F9C1B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A7066-7922-4803-939C-07DBCB1D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首期支持四类大颗粒作业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D439B-2FBD-4F88-AE55-7EA5DBE3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每类作业均有明确使用者、触发条件与可交付产物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8900"/>
                <a:gridCol w="3943350"/>
                <a:gridCol w="447675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作业场景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谁在何时使用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交付产物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多模轨迹合规入湖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数据运营：新来源或新批次接入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可发布轨迹分区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扫描证据与审查记录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检索与数据集策展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 / 运营：定位失败与覆盖缺口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可复现数据集版本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标签与样本清单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Harbor 评测与回流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团队：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模型、提示词或工具变更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对比评测报告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标准轨迹与失败样本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训练交付与归档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训练团队：申请授权数据与冻结版本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训练文件和资产清单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质量报告与归档记录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865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1C5DA-22E3-4D94-A701-C65AAD1C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01  Agent 相关数据作业飞轮及重点场景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F5591-0A6E-4098-824E-84DCD451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4BD29-7A5E-4ACB-885A-2F3B584F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多模轨迹的数据组织与规模口径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6C39F-DF46-46FA-8028-54CAE095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trace、event 与 asset 分开计量；首期“亿级”指 event 元数据验证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34863-1072-400B-991C-E9871C10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4F778-83DB-4B9A-8ED1-315E7562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Trace /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7441F-4BF3-419C-9B2E-87C108C7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一次 Agent 运行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任务、版本、终止状态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077B4-3575-478E-AAA9-22ACEDDF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8158C-9880-4FBC-822B-CBFE9A62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717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Event /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20D0C-C3FB-4ED3-8BB6-0AB9183B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消息、工具调用及返回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顺序、父子关系、时间戳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2072A-56BD-4FAE-BF47-C6DCB451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2F83D-C657-4041-B53F-8102E163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717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Asset / Segment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AC497-180A-466A-B86F-0048CD1E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2933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图像、音频、视频、文件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URI、哈希、MIME、时间区间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31051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15250" y="31051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A0354-1A3D-4389-8578-AD531587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9557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 : 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C4322-649B-41E7-A8D0-D3C1462E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95575"/>
            <a:ext cx="552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 : 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FBC74-804D-414B-8D2F-167EA72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Iceberg 保存关联 Manifest 与治理事实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071E2-540B-437C-95B0-C11E98AD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对象存储保存媒体原件，索引保存可检索的派生字段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FF3389-D734-4B9A-BE25-0F4F9D3F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格式口径：暂按 Harbor ATIF 规划（原需求称 ATFI）；若为内部标准，首月交付双向字段映射。</a:t>
            </a:r>
          </a:p>
        </p:txBody>
      </p:sp>
    </p:spTree>
    <p:extLst>
      <p:ext uri="{BB962C8B-B14F-4D97-AF65-F5344CB8AC3E}">
        <p14:creationId xmlns:p14="http://schemas.microsoft.com/office/powerpoint/2010/main" val="302569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E2730-8D10-4F65-BCF6-77AE022C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02  场景对应的数据湖仓业界趋势洞察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D4EAA-A297-4205-A6F3-487A94B8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27B63-4132-4F14-B5E6-13A712B3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湖仓趋势：处理对象与服务方式共同扩展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C36BE-5CE9-4514-981C-822FE82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依据开放组件能力作架构归纳，不以市场占有率或未验证性能作依据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886200"/>
                <a:gridCol w="430530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趋势判断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开源能力参照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对本平台的启示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多模资产与湖表分层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Iceberg 快照 / 演进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对象引用式 Manifest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媒体外置；表内保留关联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版本与使用授权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分析与混合检索并存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OpenSearch 关键词 / 向量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StarRocks 聚合分析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按条件找样本与按意图找问题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分别优化访问路径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目录延伸至数据证据链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OpenMetadata / DataHub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目录、标签、血缘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管理数据集及版本关系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细粒度事件仍保存在湖内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评测产出可复用训练资产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Harbor 任务运行与评测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统一模型调用网关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绑定环境、数据和评分版本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形成失败样本回流闭环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485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BCDF58-ABA3-4636-893D-CF353BC1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02  场景对应的数据湖仓业界趋势洞察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3A56F-1AAB-40B0-B02B-ACEA9BA7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D8851-B9CA-42A1-BF38-2E4B821A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参考模式：权威数据与服务索引分层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B110F-FB66-4B28-BE48-FCE8B076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原始资产、细粒度事实、企业目录各有存储边界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FE4D1-FA68-4603-A261-6455BF6F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33909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E44"/>
          </a:solidFill>
          <a:ln xmlns:a="http://schemas.openxmlformats.org/drawingml/2006/main" w="9525">
            <a:solidFill>
              <a:srgbClr val="142E4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083F7-70A2-4FCA-94A7-3AC5DBF9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308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权威数据层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A8B2E-E2AB-4762-9585-1D7E2A39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0861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对象存储：原件与附件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Iceberg：事件、资产 Manifest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数据集快照、治理及评测事实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A0232-1C75-47AA-8BF6-BC471A29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95500"/>
            <a:ext cx="3286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88C31-2B9C-4B01-B909-752EE3AE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19325"/>
            <a:ext cx="298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检索服务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B79B6-11BA-4696-862D-E4030EFB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8900"/>
            <a:ext cx="298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OpenSearch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热集全文、条件过滤、局部向量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4D8FC-7D4D-4A1C-949F-C2EE0475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29100"/>
            <a:ext cx="3286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26D75-2D3E-46CE-A832-DB4EED91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52925"/>
            <a:ext cx="298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分析服务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C0C35-F1B5-442D-A9C4-3B8AC583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29813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StarRocks + Superset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质量、成本、评测、运营看板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FDE9C-B1C8-492F-9F7B-62B13AD7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8098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DA943-97A0-4C69-A2C7-4E16D6AB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95575"/>
            <a:ext cx="2505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资产目录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8E256-CED9-4EFB-B2C9-4D4786E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05150"/>
            <a:ext cx="2505075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OpenMetadata</a:t>
            </a:r>
          </a:p>
          <a:p xmlns:a="http://schemas.openxmlformats.org/drawingml/2006/main">
            <a:pPr algn="l">
              <a:def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数据集、负责人</a:t>
            </a:r>
          </a:p>
          <a:p xmlns:a="http://schemas.openxmlformats.org/drawingml/2006/main">
            <a:pPr algn="l">
              <a:def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用途与血缘</a:t>
            </a:r>
          </a:p>
          <a:p xmlns:a="http://schemas.openxmlformats.org/drawingml/2006/main">
            <a:pPr algn="l">
              <a:def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关联湖内版本与明细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962400" y="2809875"/>
            <a:ext cx="933450" cy="928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962400" y="3738563"/>
            <a:ext cx="933450" cy="1204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181975" y="2809875"/>
            <a:ext cx="628650" cy="928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7888"/>
            </a:solidFill>
            <a:prstDash val="dash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181975" y="3738563"/>
            <a:ext cx="628650" cy="1204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37888"/>
            </a:solidFill>
            <a:prstDash val="dash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423C3-041E-498F-A9B7-2E1100BA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索引按发布快照增量更新且可重建；目录系统不承载亿级 event / frame 事实。</a:t>
            </a:r>
          </a:p>
        </p:txBody>
      </p:sp>
    </p:spTree>
    <p:extLst>
      <p:ext uri="{BB962C8B-B14F-4D97-AF65-F5344CB8AC3E}">
        <p14:creationId xmlns:p14="http://schemas.microsoft.com/office/powerpoint/2010/main" val="522304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0E483-0BC6-4219-B18D-4B2B38CE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02  场景对应的数据湖仓业界趋势洞察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07E75-D671-4F15-8ADC-3E13177E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50C53-28D2-4B46-9B95-783AE250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Harbor 的定位与企业接入边界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5822D-5CD5-4389-8F7A-D39982B1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选用开源 Harbor，建设离线 Agent 任务运行与评测服务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A724B-48D1-4A9D-83DF-036F8323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2762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6E3C9-37AC-4B27-8783-9B7B8446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冻结输入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41B5B-09BD-44B5-A274-6F604646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457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任务集、Agent 版本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环境镜像、评分器配置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A0F9A-63C2-47A9-9E67-0B45E801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33650"/>
            <a:ext cx="3714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E44"/>
          </a:solidFill>
          <a:ln xmlns:a="http://schemas.openxmlformats.org/drawingml/2006/main" w="9525">
            <a:solidFill>
              <a:srgbClr val="142E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6AD54-AC55-45CB-9989-63929360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57475"/>
            <a:ext cx="3409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Harbor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F3D0B-880F-4366-B6CA-80854375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67050"/>
            <a:ext cx="3409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任务执行与评测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评分、日志、轨迹产出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F994A-3037-494C-BFE0-11C3DA18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3048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3A915-A2E1-49C3-B042-07BBE4FC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574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回湖产物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08628-4B58-48D8-AEB6-5BD3BB4E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2743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结果与轨迹原件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ATIF 适配、资产关联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3333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10500" y="3333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F1270-61C3-4968-A771-21C0B2EC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企业接入层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5DCC2-8422-471E-9F4A-33887FB2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720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Airflow 触发、租户配额、沙箱策略、MaaS 网关、治理及导出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FE89B-7640-411B-A391-A2D2544C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首月锁定源码版本并验证 ATIF、多模附件、环境隔离及出口格式；生产在线 Agent 运行纳入后续规划。</a:t>
            </a:r>
          </a:p>
        </p:txBody>
      </p:sp>
    </p:spTree>
    <p:extLst>
      <p:ext uri="{BB962C8B-B14F-4D97-AF65-F5344CB8AC3E}">
        <p14:creationId xmlns:p14="http://schemas.microsoft.com/office/powerpoint/2010/main" val="413370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30FC0-5F49-4287-A49B-76DA8D96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03  当前湖仓平台能力现状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56930-2AFB-4D5A-BA23-EA37D88C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6B11F-DF55-41A2-AD81-47BE83A5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现状：六组件已打通，可复用作业主链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70A23-D96C-414B-AFEB-70969A72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以下“已具备”仅依据用户说明；轨迹专用算子与服务仍需建设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4152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00500"/>
                <a:gridCol w="45720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既有组件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可复用的底座职责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本次补充工作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Airflow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统一作业编排、依赖和重试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作业模板、审批状态与回调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Iceberg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湖表、快照与结构化事实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轨迹模型、Manifest、发布清单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Spark / Ray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批量清洗与分布式计算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多模算子、GPU 资源与版本管理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StarRocks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交互分析与聚合服务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质量、评测、成本主题模型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Superset BI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可视化分析与运营看板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四类场景指标与下钻链接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93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31527-E503-46D4-97B0-F6E65874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03  当前湖仓平台能力现状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02BF6-7EBA-4093-A3C6-03D8473E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90D83-7C31-48BB-8F33-C16527F0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缺口：四项新增能力与跨层治理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DBBE8-0FBF-4E15-B756-2013EF0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缺少的是端到端服务契约、运营入口和规模验证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2028825"/>
          <a:ext xmlns:a="http://schemas.openxmlformats.org/drawingml/2006/main" cx="110490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3429000"/>
                <a:gridCol w="4619625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新增能力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当前判断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本期建设出口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海量轨迹索引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待新增 / 选型验证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权限过滤、混合检索、增量重建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多模元数据与数据集服务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待新增 / 复用目录待盘点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轨迹资产关系、版本与血缘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运行与评测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待新增，指定 Harbor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离线任务 API、隔离执行、回流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MaaS 网关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待新增 / 复用网关待盘点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路由、凭据托管、配额与计量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9ACEC-C3BC-4417-82D7-A48B284E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跨层补齐：上传隔离、扫描与人审、脚本算子注册、权限用途、审计和删除传播</a:t>
            </a:r>
          </a:p>
        </p:txBody>
      </p:sp>
    </p:spTree>
    <p:extLst>
      <p:ext uri="{BB962C8B-B14F-4D97-AF65-F5344CB8AC3E}">
        <p14:creationId xmlns:p14="http://schemas.microsoft.com/office/powerpoint/2010/main" val="12336206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E323E-A1F3-40D4-A0AF-1BBD981D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764D8-CD8E-4861-96C6-595505FD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881BF-44A0-4BDC-A71B-338427BB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三个月交付组合与试点范围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F7402-D7C6-40D7-925B-DC4F7759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一个业务域、两类来源、一个代表性 Agent，完成可运营闭环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81200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81500"/>
                <a:gridCol w="428625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本期业务交付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主增量 IT 能力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合规入湖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 + 图像 + 一种音视频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发布、隔离和人工复核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上传与契约服务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扫描算子及审查工作台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检索策展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亿级事件元数据基准验证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 / 全文 / 热集语义检索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索引服务、多模元数据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轨迹查看与数据集版本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评测回流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Harbor 批评测、两路模型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固定评测集回归与成本报告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离线运行适配层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MaaS 网关与结果回湖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训练归档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一种 SFT 主格式、预训练样例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归档、撤回与删除演练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训练发布 API / Manifest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生命周期及交付回执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617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7359E4-EA88-4BEF-B0AE-4A09547F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C3D17-7B1D-474D-A116-E9CE4D34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4B3FF-4DB6-47BA-864A-FE9FBDF7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目标架构：复用湖仓底座，补齐轨迹服务层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6873F-D71F-484A-AF40-9D759D95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浅灰为复用底座，绿色为新增服务；对象存储等依赖需先盘点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42AD4-C012-4E5D-AF98-B11690C7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11049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97945-9D30-4905-B154-6722DB3F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0782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数据运营 / 算法研发 / Agent 团队 / 训练团队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DCF41-BF16-489D-B2AE-77AE790E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26193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5397A-0255-4557-A08C-C0E2DB2D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314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合规入湖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336C0-F834-4867-A45D-1915C6B6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上传、扫描、人审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A8434-A5F8-49BB-AA5D-353DE6A5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47950"/>
            <a:ext cx="26193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C26DD-0EF2-4D17-826B-EF389945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71775"/>
            <a:ext cx="2314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检索策展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879C9-D4CE-48A5-960D-29CFA0C0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81350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检索、预览、版本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F37EB-ADFC-4220-85BE-E40D1797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6193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6C907-BE35-4325-9A9C-87792511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71775"/>
            <a:ext cx="2314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评测回流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9049B-0DDA-47E0-8FEC-51C4216B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Harbor、轨迹导出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D125B-1951-4AC6-BB49-32B595C5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47950"/>
            <a:ext cx="26193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FC719-1D9C-4422-8670-B6D3E571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71775"/>
            <a:ext cx="2314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训练归档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DDEC9-E2E0-4B3F-B6D1-5B2A49DB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81350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发布、交付、撤回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33A7E-A411-4564-B26E-81153E4C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1104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6B851-BB06-45C9-9500-BD69705A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52875"/>
            <a:ext cx="1078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共享新增服务：轨迹 / 数据集 API　OpenMetadata　OpenSearch　LiteLLM 网关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89321-A8D0-42EE-963C-CE63AA16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34290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58F0C5-4DFB-4A34-96A8-C3C11302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Airflow 统一编排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FBB9C-A693-4A9A-9A7D-655146B6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0175"/>
            <a:ext cx="3124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Spark / Ray 算子执行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9B486-D33B-4591-96CF-FA5D650B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76775"/>
            <a:ext cx="34290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E9873-A827-4CBA-BA71-6BA474B6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Iceberg 权威事实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AE73A6-12F0-4797-82D0-AEE2505A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10175"/>
            <a:ext cx="3124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对象存储原件（待盘点）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E8AF1-86B7-47D2-BFA2-DCFB7B40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76775"/>
            <a:ext cx="34290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BA8D04-1E9B-4397-A2DF-AC710ED0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006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StarRocks / Superset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44FE13-575C-42BE-84E3-E5A45A70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10175"/>
            <a:ext cx="3124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质量、成本与评测分析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7C4C8-81D2-4729-8BFB-2E1AAF13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贯穿各层：IAM / KMS、用途授权、审计、沙箱网络策略、生命周期删除；已有能力优先复用。</a:t>
            </a:r>
          </a:p>
        </p:txBody>
      </p:sp>
    </p:spTree>
    <p:extLst>
      <p:ext uri="{BB962C8B-B14F-4D97-AF65-F5344CB8AC3E}">
        <p14:creationId xmlns:p14="http://schemas.microsoft.com/office/powerpoint/2010/main" val="15555362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65D7BA-A219-4C7F-A570-2CE07D02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DFF5A-3AF4-4C5B-B04C-F383516B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4CA5F-0B06-466B-B021-41083EB6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场景一：多模轨迹合规入湖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F9F8A-0F96-4C34-B9C4-9D6C71FC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每个新批次产生发布结果或可处理的隔离结果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A5764-B875-432E-9D80-7552B288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2286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8E293-F299-459D-A84A-1D397408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导出与上传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A1109-2F15-4FBD-A2F3-F0311A3C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98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分片续传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哈希 / 幂等校验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B13B1-34BF-4B38-8A3E-7F1A53EC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2476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76601-DD96-4E84-91EE-9D5BB37A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38375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解析与提取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CAA04-5977-4F46-A4BF-014E1A59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轨迹格式适配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OCR / ASR / 元数据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D164D-950F-43D1-86E8-2B11F210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2476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4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D5399-D0B7-43AC-AF3D-039EF8A3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38375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分层扫描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130BC-F709-4D9B-B232-E0B2ABBA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恶意文件 / 密钥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内容安全 / 隐私用途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46C2E-3EAF-4CF3-9B72-6513CD82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14550"/>
            <a:ext cx="2095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B3ED4-1F79-4340-9D89-8B3BF8CD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3837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发布闸门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C9090-750D-4FEE-82D0-40EC7079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47950"/>
            <a:ext cx="179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策略判定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证据留存</a:t>
            </a:r>
          </a:p>
        </p:txBody>
      </p:sp>
      <p:cxnSp>
        <p:nvCxnSpPr>
          <p:cNvPr id="4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57500" y="2800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05500" y="2800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953500" y="28003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F18F4-BEA1-4789-AA52-C8B03150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2476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4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316F2-2FB0-48DA-81B3-B2E08377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86275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隔离与人工审查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130EA-9C78-42B3-9A64-F832D4B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95850"/>
            <a:ext cx="2171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脱敏修复与复扫</a:t>
            </a:r>
          </a:p>
          <a:p xmlns:a="http://schemas.openxmlformats.org/drawingml/2006/main">
            <a:pPr algn="l">
              <a:def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审批与证据留存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31A73-420C-443B-8FE4-9EEB68B6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62450"/>
            <a:ext cx="2095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6DE35-6A3B-4E0A-9477-A8223C47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8627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已发布湖表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A63B0-2CB8-486D-A992-D04335E0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95850"/>
            <a:ext cx="179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可检索、可策展</a:t>
            </a:r>
          </a:p>
        </p:txBody>
      </p:sp>
      <p:cxnSp>
        <p:nvCxnSpPr>
          <p:cNvPr id="58" name=""/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7715250" y="3486150"/>
            <a:ext cx="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7339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953500" y="2800350"/>
            <a:ext cx="571500" cy="2247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E7339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572750" y="3486150"/>
            <a:ext cx="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C89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5B56C8-2A13-4778-B86E-1D04B363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4332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E73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E7339"/>
                </a:solidFill>
                <a:latin typeface="Microsoft YaHei"/>
                <a:ea typeface="Microsoft YaHei"/>
                <a:cs typeface="Microsoft YaHei"/>
              </a:rPr>
              <a:t>风险命中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1E812A-6E5D-47DF-A7B9-198EE1C8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743325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放行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5F16EA-5E38-43A2-8C70-B45A7FE3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5143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每个批次保留扫描版本、风险标签、</a:t>
            </a:r>
          </a:p>
          <a:p xmlns:a="http://schemas.openxmlformats.org/drawingml/2006/main">
            <a:pPr algn="l">
              <a:def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脱敏映射与审查决定，失败可重跑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67D446-0066-4A25-9978-9D75EB5B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验收：重复上传不重复发布；缺失 / 损坏可定位；所有发布样本具备来源、用途、策略和审查状态。</a:t>
            </a:r>
          </a:p>
        </p:txBody>
      </p:sp>
    </p:spTree>
    <p:extLst>
      <p:ext uri="{BB962C8B-B14F-4D97-AF65-F5344CB8AC3E}">
        <p14:creationId xmlns:p14="http://schemas.microsoft.com/office/powerpoint/2010/main" val="4925787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FB3E9-1EF8-439E-B2C6-D86945A7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FEA85-CB9E-40C3-B4DB-AECDD5A9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4A46C-613F-4118-A11E-9FCC401E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场景二：亿级检索与版本化策展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E8A4C-F720-4337-A256-B1828964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按业务条件缩小范围，再结合全文或语义召回问题样本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41F16-A6B6-42EF-A47D-0F6E777E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257175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5A3A7-49B1-4020-BB09-9297F823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查询入口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045D9-77BA-4888-919B-5BC37929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266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租户 / 用途 / 模态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时间 / 工具 / 失败原因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A5723-B81D-4CAB-9FBB-C2D3F235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333375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6B466-13A1-410A-9933-02E42AE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622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检索与预览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8F01A-1F1B-4F2D-A4D5-5467455E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71775"/>
            <a:ext cx="3028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条件 + 全文 + 热集向量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事件时间线与媒体引用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9AC65-3B12-48FE-A25D-C068210C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40005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10590-CC05-46EC-B4FD-FEC08633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622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抽样与标注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88FB5-9C9D-4F03-B87E-B5B77AD8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71775"/>
            <a:ext cx="3695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去重 / 配额抽样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人工标签与质量规则</a:t>
            </a:r>
          </a:p>
        </p:txBody>
      </p:sp>
      <p:cxnSp>
        <p:nvCxnSpPr>
          <p:cNvPr id="3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43250" y="30051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048500" y="30051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700DF-3CE5-4B41-81E2-C0192FE2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7905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E44"/>
          </a:solidFill>
          <a:ln xmlns:a="http://schemas.openxmlformats.org/drawingml/2006/main" w="9525">
            <a:solidFill>
              <a:srgbClr val="142E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3FB9E-05A1-4057-8C0F-AD3A4414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00575"/>
            <a:ext cx="760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冻结数据集版本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55633-F45A-452E-97D2-41731E63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10150"/>
            <a:ext cx="760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 ID 清单 + Iceberg 快照 + 资产哈希 + 用途授权</a:t>
            </a:r>
          </a:p>
        </p:txBody>
      </p:sp>
      <p:cxnSp>
        <p:nvCxnSpPr>
          <p:cNvPr id="40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7667625" y="3771900"/>
            <a:ext cx="195262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8E6EA-155D-4332-9350-254CEB2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26193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索引增量水位</a:t>
            </a:r>
          </a:p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按发布清单重建</a:t>
            </a:r>
          </a:p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预览链接二次鉴权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B12D3-A51F-42AA-B3D9-EFA81EBE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验收：检索、预览和导出权限一致；数据集版本可复现；索引重建与删除传播通过演练。</a:t>
            </a:r>
          </a:p>
        </p:txBody>
      </p:sp>
    </p:spTree>
    <p:extLst>
      <p:ext uri="{BB962C8B-B14F-4D97-AF65-F5344CB8AC3E}">
        <p14:creationId xmlns:p14="http://schemas.microsoft.com/office/powerpoint/2010/main" val="1376213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63B1E-93E6-4CEB-90CF-84D0AFDC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13464-6EB2-4A52-A753-C1E9C84B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C4F50-80D0-4041-B193-3DD80E8E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场景三：Harbor 评测与轨迹回流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13E03-F533-4856-A648-64A4B40D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对固定任务集运行基线与候选版本，区分任务成绩与系统运行质量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AA182-8BEE-4F5E-B0E8-21278FF5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2714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D74D4-C5D6-4A6A-BB74-D3C70923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2409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评测集快照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02566-6BE6-4ECE-9CE8-17C9B449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24098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任务 / 评分器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环境镜像 / Agent 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ADA7E-EBA2-4449-8048-7A57278B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14575"/>
            <a:ext cx="2190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1BFDF-AF54-4CBB-B3E7-404CF65D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38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Airflow 触发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31AE5-C068-4EF7-B154-1C9B9FF8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47975"/>
            <a:ext cx="18859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作业 ID、配额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批次与重试关联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78FF6-B781-49C8-80C9-899A3F2F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14575"/>
            <a:ext cx="2333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1332D-BB5E-4867-A8EC-CBDA394B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384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Harbor 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96494-AE3B-4212-A537-3E17168D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47975"/>
            <a:ext cx="20288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沙箱 / Agent 适配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任务结果与轨迹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4DD8B-67B2-4AE3-948F-4007660A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14575"/>
            <a:ext cx="2095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396F8-1BDC-466E-9C6D-2519344D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3840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回湖与分析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6F26A-DC18-40AF-B971-01F6E0FA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47975"/>
            <a:ext cx="1790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轨迹导出适配</a:t>
            </a:r>
          </a:p>
          <a:p xmlns:a="http://schemas.openxmlformats.org/drawingml/2006/main">
            <a:pPr algn="l">
              <a:def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结果 / 成本 / 失败标签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86125" y="30527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48375" y="30527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953500" y="30527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5E537-08AF-42DC-B1DD-81A45449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43425"/>
            <a:ext cx="5429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E44"/>
          </a:solidFill>
          <a:ln xmlns:a="http://schemas.openxmlformats.org/drawingml/2006/main" w="9525">
            <a:solidFill>
              <a:srgbClr val="142E4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170F4-BD47-4642-AA29-6C0C1166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67250"/>
            <a:ext cx="512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 MaaS 网关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50414-B5A4-4246-BCBB-420A9A51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76825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LiteLLM：模型路由、凭据、限流、调用计量</a:t>
            </a:r>
          </a:p>
        </p:txBody>
      </p:sp>
      <p:cxnSp>
        <p:nvCxnSpPr>
          <p:cNvPr id="48" name=""/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7667625" y="3790950"/>
            <a:ext cx="119063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68C89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72730C-B905-463A-8C77-A1FA5E79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3476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反馈作业</a:t>
            </a:r>
          </a:p>
          <a:p xmlns:a="http://schemas.openxmlformats.org/drawingml/2006/main">
            <a:pPr algn="l">
              <a:def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失败样本进入策展</a:t>
            </a:r>
          </a:p>
          <a:p xmlns:a="http://schemas.openxmlformats.org/drawingml/2006/main">
            <a:pPr algn="l">
              <a:def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再生成回归任务集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1CD752-98B2-408C-8FE5-F3149CCF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验收：至少完成一次“失败筛选、策展、再评测”闭环；记录全部试次、模型路由和随机性。</a:t>
            </a:r>
          </a:p>
        </p:txBody>
      </p:sp>
    </p:spTree>
    <p:extLst>
      <p:ext uri="{BB962C8B-B14F-4D97-AF65-F5344CB8AC3E}">
        <p14:creationId xmlns:p14="http://schemas.microsoft.com/office/powerpoint/2010/main" val="13427882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DEFDC9-513C-4A97-996E-3E29D6E4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E691F-2004-4AF9-9240-BC2CC1C1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EEEDF-20E2-456D-B8B2-50DFF16E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场景四：训练交付与数据生命周期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A1295-35F1-4EA2-BD8C-ED623915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授权用途与版本清单随数据交付，训练方回执进入血缘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AF294-CFB4-4D85-988B-B98551E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3238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4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FAD7B-3B5B-4544-B107-C750B874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训练发布闸门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7069A-9CDB-46B4-A8A8-5A03BE8D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用途许可、质量评估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去重与评测污染检查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50F46-AFFE-46A8-8C87-E9B1071A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3238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A4C56-A4EF-4BBA-B498-4A02B365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955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交付包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4BFC0-6BD6-4949-8539-2A098B70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0510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数据文件、资产 Manifest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schema、校验和、质量报告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93FBF-EAF2-44A7-B324-F1FC9F66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3238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250F3-5F44-4380-A8F4-32CC371C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955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训练消费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F449E-5711-42B8-BCAF-766D6693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0510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后训练：SFT 主格式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预训练：语料与资产样例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10000" y="28384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15250" y="28384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DEE21-69B3-4BF4-A0A5-FF223AAC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4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BEEB2-B8C9-4397-8B03-B5B39DBD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删除与失效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37492-74BA-4066-A65B-29E7B7DB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源对象、快照、索引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派生集及导出副本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2CA63-1D40-4574-B70D-410F7B5A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0DC97-0AD8-4772-BD6F-571CB2F4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386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归档与保留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B71D0-D85B-428A-8757-661393C0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482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冷热分层、到期策略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恢复验证与审计证据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4FA9B-BD96-4D69-9ADD-1CBAC4EE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31814-C436-434D-9B50-6C02CD8D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3867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交付回执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E9AB0-0014-45BC-A75B-B0CB5623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48250"/>
            <a:ext cx="293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版本、目的地、消费状态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拒收原因与责任方</a:t>
            </a:r>
          </a:p>
        </p:txBody>
      </p:sp>
      <p:cxnSp>
        <p:nvCxnSpPr>
          <p:cNvPr id="53" name=""/>
          <p:cNvCxnSpPr>
            <a:stCxn xmlns:a="http://schemas.openxmlformats.org/drawingml/2006/main" id="1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001250" y="350520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2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7715250" y="51339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9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3810000" y="51339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B07C2-DCEC-4D4C-9C4D-6BD0B63A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验收：训练团队可验证交付包；完成一次端到端撤回演练；归档副本可按权限恢复。</a:t>
            </a:r>
          </a:p>
        </p:txBody>
      </p:sp>
    </p:spTree>
    <p:extLst>
      <p:ext uri="{BB962C8B-B14F-4D97-AF65-F5344CB8AC3E}">
        <p14:creationId xmlns:p14="http://schemas.microsoft.com/office/powerpoint/2010/main" val="6036108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962C0-B4B7-4ACD-91D7-058256CB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37AE5-589F-4C10-A809-5D5A2586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C4AC8-3C76-4272-B117-AA98CC20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脚本算子与作业流的开发运营方式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87D00-EE1A-415D-992A-73470F6B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开发者交付版本化算子，业务人员复用四类作业模板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8EF82-7021-4C17-9966-4E03F6B0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3190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CBEDF-E4BA-4C14-9A03-05DDC1D3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算子开发与注册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1650D-CC7B-45BA-822D-F88103C8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28860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Python / SQL、依赖锁定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镜像摘要、输入输出 schema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资源声明与回归样本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B671D-7E69-4255-8399-E30057CA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95525"/>
            <a:ext cx="31908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E44"/>
          </a:solidFill>
          <a:ln xmlns:a="http://schemas.openxmlformats.org/drawingml/2006/main" w="9525">
            <a:solidFill>
              <a:srgbClr val="142E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5D467-9B75-4C11-922E-2A6F3DFF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19350"/>
            <a:ext cx="2886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Airflow 控制面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BF3FA-CC8E-404D-946A-888003A9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28925"/>
            <a:ext cx="28860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模板参数、数据版本、依赖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状态机、检查点、重试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审批回调与审计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1A0ED-6BEE-4B41-979B-E133D53B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95525"/>
            <a:ext cx="31813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0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768CC-1E53-4BB0-A63F-D2EA576A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193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执行与服务面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46362-937E-4572-BBA3-0274847B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28925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Spark：解析、去重、批处理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Ray：OCR / ASR / embedding</a:t>
            </a:r>
          </a:p>
          <a:p xmlns:a="http://schemas.openxmlformats.org/drawingml/2006/main">
            <a:pPr algn="l">
              <a:def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Harbor：Agent 任务与评测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62375" y="32861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96200" y="32861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3788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10E0D-CB46-4E87-9A5F-FCD538CA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统一产物契约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16333-CF78-4D54-9ADF-2B954AC8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10125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产物 URI、行数 / 资产数、失败清单、算子版本、质量指标、计算成本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D25B1-74C5-414D-8A3E-8B4D83DE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大批处理以分区 / 分片作为任务单元；人工审查通过回调推进，避免长期占用计算 worker。</a:t>
            </a:r>
          </a:p>
        </p:txBody>
      </p:sp>
    </p:spTree>
    <p:extLst>
      <p:ext uri="{BB962C8B-B14F-4D97-AF65-F5344CB8AC3E}">
        <p14:creationId xmlns:p14="http://schemas.microsoft.com/office/powerpoint/2010/main" val="3878694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D30A3-334E-44C0-889C-52D5D248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F7892-A541-4589-8CFF-52C26851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03692-98B6-4F3F-A389-112E436F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新增组件选型与首月验证项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5F6CE-95BA-40BE-94FB-C1224E45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Harbor 按要求选用；其余组件作为建议选型，优先复用公司等效服务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4152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3762375"/>
                <a:gridCol w="447675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 / 候选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采用理由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首月必须验证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检索：OpenSearch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同链路组合全文、属性、向量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权限过滤、亿级扩展成本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对比现有 StarRocks 适用范围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目录：OpenMetadata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资产目录、标签、负责人、血缘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 Manifest 自定义适配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已有目录或 DataHub 可替代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运行评测：Harbor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开源任务执行与 Agent 评测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 Agent、沙箱、ATIF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轨迹导出完整性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MaaS：LiteLLM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统一已适配模型 API 与路由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两路模型的多模 / 工具调用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开源版功能及凭据策略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PII：Presidio + 扩展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敏感信息识别与脱敏基础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中文及公司标识召回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 / 音视频与人审衔接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8355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48B70-01CD-4619-9392-E3579115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42D4F-BA12-4C21-B83C-1538394B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A44E6-ED17-4693-9F99-05FE57A7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共享治理：模型入口与数据权限共同受控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791EB-5EAD-4EF3-802A-4FC7001D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MaaS 网关控制模型调用，运行沙箱控制工具执行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70953-9BCF-4E2A-B7E4-ED5BC909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模型调用控制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0F99C-7E91-4202-A3B6-60632728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57475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统一路由与模型别名</a:t>
            </a:r>
          </a:p>
          <a:p xmlns:a="http://schemas.openxmlformats.org/drawingml/2006/main">
            <a:pPr algn="l">
              <a:def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凭据托管、租户配额、重试限额</a:t>
            </a:r>
          </a:p>
          <a:p xmlns:a="http://schemas.openxmlformats.org/drawingml/2006/main">
            <a:pPr algn="l">
              <a:def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记录 tokens、延迟、费用与版本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7877E-E92D-4E76-A6CB-70E1D144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数据与工具控制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E0210-EF43-4049-BD17-E8CBB576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57475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用途授权覆盖检索、预览和导出</a:t>
            </a:r>
          </a:p>
          <a:p xmlns:a="http://schemas.openxmlformats.org/drawingml/2006/main">
            <a:pPr algn="l">
              <a:def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沙箱网络白名单与工具凭据隔离</a:t>
            </a:r>
          </a:p>
          <a:p xmlns:a="http://schemas.openxmlformats.org/drawingml/2006/main">
            <a:pPr algn="l">
              <a:def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轨迹内容按不可信输入处理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F2729-60EC-49FE-912A-BA0A78F3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81B27-7840-4B10-8E1C-62E085FD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104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D9B37-9BD0-4EDE-B416-5BEDEED2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跨层审计关联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0CB3D-18AB-445E-8C67-E5BC5E07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3B4D"/>
                </a:solidFill>
                <a:latin typeface="Microsoft YaHei"/>
                <a:ea typeface="Microsoft YaHei"/>
                <a:cs typeface="Microsoft YaHei"/>
              </a:rPr>
              <a:t>tenant_id / run_id / dataset_version / policy_version / model_route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361E3A-D1DA-4DF7-9D14-90D75EC1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模型网关日志默认最小化留存；查看权限与训练使用权限分开授权，发布和导出分别校验。</a:t>
            </a:r>
          </a:p>
        </p:txBody>
      </p:sp>
    </p:spTree>
    <p:extLst>
      <p:ext uri="{BB962C8B-B14F-4D97-AF65-F5344CB8AC3E}">
        <p14:creationId xmlns:p14="http://schemas.microsoft.com/office/powerpoint/2010/main" val="13168659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B4AA7-6F21-4E41-A8A0-5C1516B5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D3A04-8EF2-46F0-9E9D-4825D652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0AFC9-9FEE-437E-8124-1DCECAA9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12 周路线图与阶段出口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02B00-3EF8-486D-AEBE-74B024A0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四条场景并行推进，依赖关系通过契约、发布闸门和版本清单收敛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933575"/>
          <a:ext xmlns:a="http://schemas.openxmlformats.org/drawingml/2006/main" cx="11049000" cy="3848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3048000"/>
                <a:gridCol w="3048000"/>
                <a:gridCol w="304800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工作流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1–4 周：贯通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5–8 周：可用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9–12 周：验收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合规入湖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两类来源与契约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隔离、扫描样例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多模扫描、人审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发布状态闭环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幂等与漏检验证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治理回归集签收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检索策展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 / 热集定义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小规模索引样例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权限、预览、标注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版本化策展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亿级元数据压测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重建 / 删除演练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Harbor 评测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版本锁定与冒烟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模型网关接通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批量评测与回湖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固定任务集对比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失败回流再评测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成本与稳定性报告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训练归档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训练接口约定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样例导出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 发布与回执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 / 撤回作业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业务数据集签收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恢复与撤回演练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E54D4-34AE-44BB-B716-103122F1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阶段出口：W4 最小闭环；W8 试点用户自助运行；W12 规模报告、业务签收与运维交接。</a:t>
            </a:r>
          </a:p>
        </p:txBody>
      </p:sp>
    </p:spTree>
    <p:extLst>
      <p:ext uri="{BB962C8B-B14F-4D97-AF65-F5344CB8AC3E}">
        <p14:creationId xmlns:p14="http://schemas.microsoft.com/office/powerpoint/2010/main" val="17795149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E46C0-21BF-46DA-8DE8-F849BD39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1FB77-B02F-4C9A-B837-314E950B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6957B-676F-435D-93B9-A688C71B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亿级验证的容量与性能口径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BACEA-F1F1-4EBC-B5DA-AE4D0413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下列为压测起点与算例，首月依据真实分布和资源预算冻结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971675"/>
          <a:ext xmlns:a="http://schemas.openxmlformats.org/drawingml/2006/main" cx="110490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857625"/>
                <a:gridCol w="485775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建议压测口径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 / 指标解释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事件元数据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亿 event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假设平均 2 KB / event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原始元数据约 200 GB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不含索引、副本、快照与压缩影响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多模原件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 1,000 万 asset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假设平均 2 MB / asset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原件约 20 TB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需另计派生件、对象版本与备份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局部向量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 1,000 万条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768 维、FP16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原始向量约 15.36 GB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不代表实际索引驻留与存储开销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组合检索 SLO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候选：50 QPS，p95 ≤ 3 秒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返回前 100 条并启用权限过滤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条件检索与混合检索分别测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固定硬件、选择率、热集与查询集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5E104-8825-49D7-9B89-18845AA2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十进制容量算例；trace 数、日增量、保留期与每模态大小分位数另列实测。性能数字均为目标，非承诺。</a:t>
            </a:r>
          </a:p>
        </p:txBody>
      </p:sp>
    </p:spTree>
    <p:extLst>
      <p:ext uri="{BB962C8B-B14F-4D97-AF65-F5344CB8AC3E}">
        <p14:creationId xmlns:p14="http://schemas.microsoft.com/office/powerpoint/2010/main" val="14161842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92140-0785-4EB8-A2E0-B06690DD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3DA0E-151E-4BF8-8951-6AEDCCE2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DA883-8FA3-4C78-BD92-42FD57C5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验收按业务结果、规模与治理证据签收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2CAAE-D005-4C1E-B10B-1EADDEA9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数值目标为建议验收草案，W4 由平台与试点负责人共同冻结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33575"/>
          <a:ext xmlns:a="http://schemas.openxmlformats.org/drawingml/2006/main" cx="11049000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619625"/>
                <a:gridCol w="4048125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验收项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建议验收口径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签收证据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全链路闭环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两类来源完成四类作业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一个评测坏例回流并再次运行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数据集、作业及评测版本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训练交付回执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发布可追溯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发布记录来源 / 用途 / 版本齐全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高危命中未处理不得发布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治理回归集、审查记录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质量规则与抽检报告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检索与恢复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亿级元数据负载报告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权限负例、增量及重建通过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 / QPS / 资源曲线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按查询类型报告结果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撤回与删除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候选：在线可见性失效 ≤ 24 小时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物理清理按批准保留窗口执行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对象、快照、索引、导出清单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接收方回执与例外记录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运行与成本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失败可定位，任务重试可关联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每百万事件与每次评测可计量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运行报告、告警与运维手册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 / GPU / 存储成本分项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0176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179BC-ECE0-4825-BAB4-EC43399D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04  湖仓平台新规划支持的作业场景和 IT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9365A-910A-4088-B9F3-29DC0AB0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05B1D-BE3F-4C63-8621-4DF450C0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交付组织、资源与前置决策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3C227-9864-44B2-A46A-13F93266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建议以 8–10 名核心成员组织一个 12 周试点，实际投入按复用情况调整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81200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114800"/>
                <a:gridCol w="4314825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责任域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建议投入 / 责任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首周需落实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平台与应用开发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5–6 人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接入、数据服务、索引、目录、UI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试点业务域与两类数据源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对象存储、IAM / KMS 复用清单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 / 模型工程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人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Harbor、Agent 适配、模型网关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代表性 Agent 与两个模型入口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评测任务集和评分负责人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SRE / 测试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1–2 人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容量、可靠性、权限和回归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/ GPU / 检索资源配额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压测窗口与模型费用上限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/ 安全 / 训练协同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指定责任人，投入另计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人审策略、数据授权与签收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审查人员排班、训练主格式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保留策略及撤回责任边界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84989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F941A-48D0-4BF1-A8BF-8EE93B8F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附录 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97958-0846-4F3B-ACA3-20A3BE92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B1C90-B982-426A-ACBC-04883695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规划假设与首月风险消减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EE4E6-F225-4188-9C92-19E243C7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需要在 W4 出口前形成书面结论的关键事项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81200"/>
          <a:ext xmlns:a="http://schemas.openxmlformats.org/drawingml/2006/main" cx="11049000" cy="4152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000500"/>
                <a:gridCol w="4381500"/>
              </a:tblGrid>
              <a:tr h="5334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当前口径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首月动作</a:t>
                      </a:r>
                    </a:p>
                  </a:txBody>
                  <a:tcPr marL="142875" marR="142875" marT="95250" marB="95250" anchor="ctr">
                    <a:solidFill>
                      <a:srgbClr val="142E4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ATFI / ATIF 命名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暂按 Harbor ATIF，保留原始格式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确认是否内部 ATFI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提交映射、兼容性与损失报告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组件版本与许可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官方入口作参考，版本能力待核实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固定源码 / 镜像版本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 OSS 功能及依赖许可证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资源与数据分布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本期按亿级 event 压测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trace 数另盘点，向量限热集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 trace / event / asset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测算日增量、模态分布与成本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合规与训练使用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扫描结果属于治理证据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明确授权用途、地域和保留期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建立人审、撤回及交付责任</a:t>
                      </a:r>
                    </a:p>
                  </a:txBody>
                  <a:tcPr marL="142875" marR="142875" marT="95250" marB="9525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范围控制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离线评测与训练供给优先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确认一个业务域与主交付格式</a:t>
                      </a:r>
                    </a:p>
                    <a:p>
                      <a:r>
                        <a:rPr sz="1725" b="0">
                          <a:solidFill>
                            <a:srgbClr val="213B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 Agent 运行和训练执行后续评估</a:t>
                      </a:r>
                    </a:p>
                  </a:txBody>
                  <a:tcPr marL="142875" marR="142875" marT="95250" marB="95250" anchor="ctr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8967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4ED09-051C-4CFC-846C-61C09E82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9"/>
                </a:solidFill>
                <a:latin typeface="Microsoft YaHei"/>
                <a:ea typeface="Microsoft YaHei"/>
                <a:cs typeface="Microsoft YaHei"/>
              </a:rPr>
              <a:t>附录 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45329-D928-4FDF-9B36-B24D92C8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667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8F78D-EBBF-4A82-80F5-12B409F9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开源组件官方参考入口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058C0-8953-43FC-9BD3-00B8C391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链接用于架构依据与首月选型验证；各技术页备注保留对应引用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40410-39DE-40C0-8922-A1F21F55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Apache Iceberg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52E20-9C16-4EE3-AE25-DCBA9DD5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19300"/>
            <a:ext cx="738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9d0bb51c05d4d4a"/>
              </a:rPr>
              <a:t>iceberg.apache.org/docs/latest/maintenance/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4C914-C0B1-4AB4-AAF6-303F969F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860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F5770-D74B-4EFC-95FE-F0B80653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0325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OpenSearch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0D4DE-9A5C-4F4F-81B6-BF6D8840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738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3bf88a429824b17"/>
              </a:rPr>
              <a:t>docs.opensearch.org/latest/vector-search/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8315B-60F5-4C62-A9FB-3E1102D3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877BA-4C98-4897-8865-8B6F2F3A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OpenMetadata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35DF6-BBAE-4F85-8DB6-C4B05244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81350"/>
            <a:ext cx="738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c3b43183404f24"/>
              </a:rPr>
              <a:t>github.com/open-metadata/OpenMetadata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08114-DC0D-448B-8E50-F1E9BE90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3C183-6106-4AB6-8102-DDDE60EF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Harbor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07788-1BC7-4185-92A0-A42AA0E4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62375"/>
            <a:ext cx="738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5351a0a6593466b"/>
              </a:rPr>
              <a:t>github.com/laude-institute/harbor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004E4-CF8B-45CC-B55E-0BC23516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4FC5A-AAEC-49F4-B46E-C8EBBA49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LiteLLM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E1B69-EAF7-485E-8485-6E18B0CF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43400"/>
            <a:ext cx="738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0ef12785dc4238"/>
              </a:rPr>
              <a:t>docs.litellm.ai/docs/simple_proxy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307EF-8FC3-498D-8A74-867FDBFC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0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BE907F-0E32-4E86-94D6-67515044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24425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E44"/>
                </a:solidFill>
                <a:latin typeface="Microsoft YaHei"/>
                <a:ea typeface="Microsoft YaHei"/>
                <a:cs typeface="Microsoft YaHei"/>
              </a:rPr>
              <a:t>Microsoft Presidio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47674-B8C4-4EB6-A5E1-95907846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24425"/>
            <a:ext cx="738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269A0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b8ea15b180946f2"/>
              </a:rPr>
              <a:t>microsoft.github.io/presidio/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B74A3-F95B-4787-A3EB-008E1DBC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888"/>
                </a:solidFill>
                <a:latin typeface="Microsoft YaHei"/>
                <a:ea typeface="Microsoft YaHei"/>
                <a:cs typeface="Microsoft YaHei"/>
              </a:rPr>
              <a:t>参考状态：截至 2026-09-21，未完成本次在线核验；具体版本、功能边界和许可在首月验收中确认。</a:t>
            </a:r>
          </a:p>
        </p:txBody>
      </p:sp>
    </p:spTree>
    <p:extLst>
      <p:ext uri="{BB962C8B-B14F-4D97-AF65-F5344CB8AC3E}">
        <p14:creationId xmlns:p14="http://schemas.microsoft.com/office/powerpoint/2010/main" val="1564111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2026-09-21T13:58:39.5630000Z</dcterms:created>
  <dcterms:modified xsi:type="dcterms:W3CDTF">2026-09-21T13:58:39.5630000Z</dcterms:modified>
</coreProperties>
</file>