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149432909430e" /><Relationship Type="http://schemas.openxmlformats.org/officeDocument/2006/relationships/extended-properties" Target="/docProps/app.xml" Id="R56e55bd36ae64c4f" /><Relationship Type="http://schemas.openxmlformats.org/officeDocument/2006/relationships/officeDocument" Target="/ppt/presentation.xml" Id="R74c3a99e134d4b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114b9a9e4443f"/>
  </p:sldMasterIdLst>
  <p:notesMasterIdLst>
    <p:notesMasterId xmlns:r="http://schemas.openxmlformats.org/officeDocument/2006/relationships" r:id="Rf85eec12483542db"/>
  </p:notesMasterIdLst>
  <p:sldIdLst>
    <p:sldId xmlns:r="http://schemas.openxmlformats.org/officeDocument/2006/relationships" id="256" r:id="Rc5caf7d42a914a4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fb748510f4079" /><Relationship Type="http://schemas.openxmlformats.org/officeDocument/2006/relationships/slideMaster" Target="/ppt/slideMasters/slideMaster1.xml" Id="R134114b9a9e4443f" /><Relationship Type="http://schemas.openxmlformats.org/officeDocument/2006/relationships/notesMaster" Target="/ppt/notesMasters/notesMaster1.xml" Id="Rf85eec12483542db" /><Relationship Type="http://schemas.openxmlformats.org/officeDocument/2006/relationships/presProps" Target="/ppt/presProps.xml" Id="R9f6a082fd035405d" /><Relationship Type="http://schemas.openxmlformats.org/officeDocument/2006/relationships/tableStyles" Target="/ppt/tableStyles.xml" Id="Rc7602f2bcbca42b0" /><Relationship Type="http://schemas.openxmlformats.org/officeDocument/2006/relationships/slide" Target="/ppt/slides/slide1.xml" Id="Rc5caf7d42a91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63f5c278f6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e4601bbe14189" /><Relationship Type="http://schemas.openxmlformats.org/officeDocument/2006/relationships/notesMaster" Target="/ppt/notesMasters/notesMaster1.xml" Id="R6067ae64e143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2027及未来：数据＋AI平台业界洞察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信息截至2026年10月13日（Asia/Shanghai）。未来一年指2026年10月至2027年10月，长期方向延伸至其后。采用全球视角，主要场景为企业知识助手、分析和流程自动化。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核心判断与口径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数据的重要增量包括多模态内容及其派生数据、持续更新的业务事件与状态，以及Agent执行过程。文档、视频和事件并非到2027年才出现；变化在于更多内容进入可计算流程，持续产生新的片段、实体、向量、时间定位、质量标签和运行反馈。数据＋AI平台需要将其与业务定义、实时状态和访问权限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总判断、所需能力及差异化方向为基于下列公开证据的综合研判。竞品部分列举截至研究日已发布或已在官方文档中提供的能力，不能理解为厂商完整、确定的2027产品路线图。本研究未找到Databricks或Snowflake公开承诺的完整2027路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三类数据与处理能力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多模态内容：文档中的表格、图表、签名与布局，视频的画面、音轨、字幕，以及抽取所得片段、实体、向量与置信度。平台需保留来源定位，支持内容解析、批量加工和跨模态检索，将派生数据与原始内容的权限及生命周期连接。</a:t>
            </a:r>
          </a:p>
          <a:p xmlns:a="http://schemas.openxmlformats.org/drawingml/2006/main">
            <a:r>
              <a:t>2. 实时业务变化：数据库CDC、交易和应用事件、在线状态与特征。平台需弹性接入、流批协同、增量更新，处理乱序和重复事件，并为分析新鲜度、操作响应、事务读写分别设置延迟和成本目标。不同竞品功能不代表同一端到端SLA。</a:t>
            </a:r>
          </a:p>
          <a:p xmlns:a="http://schemas.openxmlformats.org/drawingml/2006/main">
            <a:r>
              <a:t>3. Agent过程：模型和工具调用、可观察的执行步骤、检索依据、记忆操作、任务状态、人工反馈和评价。平台需将任务、调用、业务实体、质量及资源成本关联。不推断或声称采集模型私有思维过程，轨迹本身也不保证确定性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[1] Databricks：增量管道、在线状态与轨迹入湖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Lakeflow Connect官方文档覆盖数据库CDC、结构化/非结构化文件及消息流。连接器状态各异，不能将整个连接器集合统称GA。</a:t>
            </a:r>
          </a:p>
          <a:p xmlns:a="http://schemas.openxmlformats.org/drawingml/2006/main">
            <a:r>
              <a:t>来源：https://docs.databricks.com/aws/en/ingestion/overview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Lakebase官方文档描述托管Postgres、Unity Catalog表同步、在线特征及Agent state store，支持实时事务应用与湖仓数据并行使用。本研究不为其推断统一首次GA日期，也不将其等同单一引擎HTAP。</a:t>
            </a:r>
          </a:p>
          <a:p xmlns:a="http://schemas.openxmlformats.org/drawingml/2006/main">
            <a:r>
              <a:t>来源：https://docs.databricks.com/aws/en/oltp/projects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MLflow trace storage in Unity Catalog tables于2026-07-16正式可用。轨迹以OpenTelemetry格式保存在Delta表中，包含annotations、logs、metrics、spans，支持SQL查询、统一权限及与业务数据联结。页面的“联查业务数据与评测结果”指利用这些表能力开展关联分析。</a:t>
            </a:r>
          </a:p>
          <a:p xmlns:a="http://schemas.openxmlformats.org/drawingml/2006/main">
            <a:r>
              <a:t>来源：https://docs.databricks.com/aws/en/release-notes/product/2026/july</a:t>
            </a:r>
          </a:p>
          <a:p xmlns:a="http://schemas.openxmlformats.org/drawingml/2006/main">
            <a:r>
              <a:t>来源：https://docs.databricks.com/aws/en/mlflow3/genai/tracing/trace-unity-catalog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多模态及实时旁证：ai_parse_document于2026-04-16正式可用，2026-10-05新增图表数值JSON抽取。Lakeflow real-time mode于2026-05-27公开预览，截至本次核验仍保留该状态。Zerobus向streaming tables写入于2026-08-26正式可用。因此页面没有把所有实时子功能统称正式可用。</a:t>
            </a:r>
          </a:p>
          <a:p xmlns:a="http://schemas.openxmlformats.org/drawingml/2006/main">
            <a:r>
              <a:t>来源：https://docs.databricks.com/aws/en/release-notes/product/2026/april</a:t>
            </a:r>
          </a:p>
          <a:p xmlns:a="http://schemas.openxmlformats.org/drawingml/2006/main">
            <a:r>
              <a:t>来源：https://docs.databricks.com/aws/en/release-notes/product/2026/may</a:t>
            </a:r>
          </a:p>
          <a:p xmlns:a="http://schemas.openxmlformats.org/drawingml/2006/main">
            <a:r>
              <a:t>来源：https://docs.databricks.com/aws/en/release-notes/product/2026/august</a:t>
            </a:r>
          </a:p>
          <a:p xmlns:a="http://schemas.openxmlformats.org/drawingml/2006/main">
            <a:r>
              <a:t>来源：https://docs.databricks.com/aws/en/release-notes/product/2026/october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2027方向研判：Databricks正将内容加工、持续接入、低延迟应用状态及AI质量数据纳入统一平台，客户将更多按跨工作负载的联通程度评估产品。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[2] Snowflake：数据接入、视频检索、语义与Agent血缘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Openflow为基于Apache NiFi的数据集成服务，覆盖结构化和非结构化文本、图像、音频、视频及传感器数据，支持批与流。平台已GA，各连接器/配置能力需分别核验状态。Gen 2 deployments/runtimes于2026-09-08正式可用，Gen 2 connector configuration仍公开预览。</a:t>
            </a:r>
          </a:p>
          <a:p xmlns:a="http://schemas.openxmlformats.org/drawingml/2006/main">
            <a:r>
              <a:t>来源：https://docs.snowflake.com/en/user-guide/data-integration/openflow/about</a:t>
            </a:r>
          </a:p>
          <a:p xmlns:a="http://schemas.openxmlformats.org/drawingml/2006/main">
            <a:r>
              <a:t>来源：https://docs.snowflake.com/en/release-notes/2026/other/2026-09-08-openflow-gen2-deployment-runtime-ga.md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AI_MULTI_EMBED大视频多模态嵌入与语义检索于2026-08-10正式可用，组合视觉、音频和转写信号，可检索场景、引述、动作与品牌。</a:t>
            </a:r>
          </a:p>
          <a:p xmlns:a="http://schemas.openxmlformats.org/drawingml/2006/main">
            <a:r>
              <a:t>来源：https://docs.snowflake.com/en/release-notes/2026/other/2026-08-10-ai-multi-embed-large-video-files-ga.md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2026-09-02发布Cortex Agent lineage，支持追踪table、semantic view、agent之间的数据依赖。此处“血缘”指Agent specification所声明的依赖关系，并非每次运行实际访问数据的完整审计轨迹。</a:t>
            </a:r>
          </a:p>
          <a:p xmlns:a="http://schemas.openxmlformats.org/drawingml/2006/main">
            <a:r>
              <a:t>来源：https://docs.snowflake.com/en/release-notes/2026/other/2026-09-02-cortex-agent-lineage.md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明确产品方向信号：2026-08-28官方建议从独立Cortex Analyst API转向Cortex Agents，并说明新的自然语言分析能力将加入Cortex Agents，原API继续可用。Cortex Agents基础能力于2025-11-04正式可用，Agent evaluations于2026-03-13正式可用。</a:t>
            </a:r>
          </a:p>
          <a:p xmlns:a="http://schemas.openxmlformats.org/drawingml/2006/main">
            <a:r>
              <a:t>来源：https://docs.snowflake.com/en/release-notes/2026/other/2026-08-28-cortex-analyst-transition-cortex-agents.md</a:t>
            </a:r>
          </a:p>
          <a:p xmlns:a="http://schemas.openxmlformats.org/drawingml/2006/main">
            <a:r>
              <a:t>来源：https://docs.snowflake.com/en/release-notes/2026/other/2026-03-13-cortex-agent-evaluations.md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实时旁证：Snowpipe Streaming Elastic Channels于2026-09-15正式可用，支持多生产者弹性写入。2026-09-24新增对分区Snowflake-managed Iceberg表的流式写入支持。Elastic Channels是at-least-once，不能将其等同exactly-once。</a:t>
            </a:r>
          </a:p>
          <a:p xmlns:a="http://schemas.openxmlformats.org/drawingml/2006/main">
            <a:r>
              <a:t>来源：https://docs.snowflake.com/en/release-notes/2026/other/2026-09-15-snowpipe-streaming-elastic-channels-ga.md</a:t>
            </a:r>
          </a:p>
          <a:p xmlns:a="http://schemas.openxmlformats.org/drawingml/2006/main">
            <a:r>
              <a:t>来源：https://docs.snowflake.com/en/release-notes/2026/other/2026-09-24-snowpipe-streaming-partitioned-iceberg-ga.md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2027方向研判：Snowflake将多模态与流接入、语义分析、Agent执行和统一治理进一步组合，产品边界继续超出传统仓库分析。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[3] 大云厂商补充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Fabric Real-Time Intelligence官方文档覆盖事件接入、转换、存储、时序分析及动作触发；Eventstreams、Eventhouse、Activator连接持续变化的数据与业务动作。部分子能力如Digital twin builder仍为预览，页面没有统一宣称全部GA。</a:t>
            </a:r>
          </a:p>
          <a:p xmlns:a="http://schemas.openxmlformats.org/drawingml/2006/main">
            <a:r>
              <a:t>来源：https://learn.microsoft.com/en-us/fabric/real-time-intelligence/overview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AWS Bedrock AgentCore提供运行配套能力、短期/长期Memory及Observability，后者将OpenTelemetry兼容的traces、metrics、logs交给CloudWatch，支持查看执行路径、时延、Token和错误。这里描述能力，不推断统一首次GA日期。</a:t>
            </a:r>
          </a:p>
          <a:p xmlns:a="http://schemas.openxmlformats.org/drawingml/2006/main">
            <a:r>
              <a:t>来源：https://docs.aws.amazon.com/bedrock-agentcore/latest/devguide/observability.html</a:t>
            </a:r>
          </a:p>
          <a:p xmlns:a="http://schemas.openxmlformats.org/drawingml/2006/main">
            <a:r>
              <a:t>来源：https://docs.aws.amazon.com/bedrock-agentcore/latest/devguide/memory.html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[4] Forrester：AI-ready data、语义与运行上下文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Forrester《Microsoft FabCon 2026: Enterprise AI Needs A Governed Context Layer, Not Just Data》，2026-10-06。公开分析强调semantic models、ontologies、knowledge graphs、documents、real-time signals、retrieval与policy controls。例子指出回答收入问题的Agent需要知道适用指标、客户交易关系以及被允许使用的信息。</a:t>
            </a:r>
          </a:p>
          <a:p xmlns:a="http://schemas.openxmlformats.org/drawingml/2006/main">
            <a:r>
              <a:t>来源：https://www.forrester.com/blogs/microsoft-fabcon-2026-enterprise-ai-needs-a-governed-context-layer-not-just-data/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Forrester《The Next Evolution Of AI Will Rely On Context Layers》，2026-08-20。定义持续吸纳events、decisions、actions、outcomes的runtime context，结合业务含义、政策和流程。文中公开计划在2026年Q4末发布Semantic Layer Landscape，之后开展Wave评估；此为计划，本报告不将这些未发布报告当作已读材料。</a:t>
            </a:r>
          </a:p>
          <a:p xmlns:a="http://schemas.openxmlformats.org/drawingml/2006/main">
            <a:r>
              <a:t>来源：https://www.forrester.com/blogs/the-next-evolution-of-ai-will-rely-on-context-layers/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Forrester《Can Security Enforce What Data Governance Defines?》，2026-10-07。明确指出数据治理决策与政策必须转为可执行控制，并关联《From Silos To Synergy: AI Demands Aligning Data Governance And Data Security》研究。引用依据为公开文章，未读取该付费报告全文。</a:t>
            </a:r>
          </a:p>
          <a:p xmlns:a="http://schemas.openxmlformats.org/drawingml/2006/main">
            <a:r>
              <a:t>来源：https://www.forrester.com/blogs/can-security-enforce-what-data-governance-defines/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[5] Gartner：运营、治理、安全与成本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Gartner《What the 2026 Hype Cycle for Agentic AI Reveals》，官方正文日期2026-04-15。公开摘要将agentic AI governance、agentic AI security、FinOps for agentic AI纳入研究范围，同时讨论Agent开发生命周期、上下文图谱、管理、编排及通信。页面的“进入评估重点”是对研究覆盖的概括，不代表所有技术已经成熟。</a:t>
            </a:r>
          </a:p>
          <a:p xmlns:a="http://schemas.openxmlformats.org/drawingml/2006/main">
            <a:r>
              <a:t>来源：https://www.gartner.com/en/articles/hype-cycle-for-agentic-ai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本报告使用Gartner官方公开页面摘要（通过Reader读取官方页面文本），未引用或推测付费Hype Cycle报告未公开的详细结论。FinOps在本页指AI资源与使用成本的管理、归因和优化。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[6] OpenTelemetry GenAI：语义范围扩大，成熟度仍为Development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采用截至2026-10-13之前的官方固定commit 5293effb97f18ddb0602da884dadee6119d67679（2026-10-12）。该规范覆盖模型、Agent、工具、计划、记忆操作和评价事件，整体仍标Development。OTel基础追踪成熟不等于GenAI字段已稳定。</a:t>
            </a:r>
          </a:p>
          <a:p xmlns:a="http://schemas.openxmlformats.org/drawingml/2006/main">
            <a:r>
              <a:t>总览：https://github.com/open-telemetry/semantic-conventions-genai/blob/5293effb97f18ddb0602da884dadee6119d67679/docs/gen-ai/README.md</a:t>
            </a:r>
          </a:p>
          <a:p xmlns:a="http://schemas.openxmlformats.org/drawingml/2006/main">
            <a:r>
              <a:t>计划与工具：https://github.com/open-telemetry/semantic-conventions-genai/blob/5293effb97f18ddb0602da884dadee6119d67679/docs/gen-ai/gen-ai-agent-spans.md</a:t>
            </a:r>
          </a:p>
          <a:p xmlns:a="http://schemas.openxmlformats.org/drawingml/2006/main">
            <a:r>
              <a:t>记忆：https://github.com/open-telemetry/semantic-conventions-genai/blob/5293effb97f18ddb0602da884dadee6119d67679/docs/gen-ai/gen-ai-spans.md</a:t>
            </a:r>
          </a:p>
          <a:p xmlns:a="http://schemas.openxmlformats.org/drawingml/2006/main">
            <a:r>
              <a:t>评价：https://github.com/open-telemetry/semantic-conventions-genai/blob/5293effb97f18ddb0602da884dadee6119d67679/docs/gen-ai/gen-ai-events.md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 span仅适用于可被区分的规划/任务分解，不能把一般推理当作规划事件。gen_ai.evaluation.result关联被评价的operation，评价分数须保留名称与含义。OpenInference是另一套兼容OTel的开放约定，传输兼容不意味着语义完全相同。</a:t>
            </a:r>
          </a:p>
          <a:p xmlns:a="http://schemas.openxmlformats.org/drawingml/2006/main">
            <a:r>
              <a:t>OpenInference：https://github.com/Arize-ai/openinference/blob/1198ec9584961640cb8fd78439e643bdb072e01d/spec/semantic_conventions.md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规范还建议生产环境将内容外置、span保存引用，敏感输入输出默认不采集。平台应将运行元数据、内容、访问权限与保留策略分层管理。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[7] MCP与A2A：运行互通及下一步路线图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2026-07-28负责连接外部数据和工具，已加入traceparent、tracestate、baggage上下文传播约定；它不定义统一的Agent轨迹存储格式。</a:t>
            </a:r>
          </a:p>
          <a:p xmlns:a="http://schemas.openxmlformats.org/drawingml/2006/main">
            <a:r>
              <a:t>来源：https://github.com/modelcontextprotocol/modelcontextprotocol/releases/tag/2026-07-28</a:t>
            </a:r>
          </a:p>
          <a:p xmlns:a="http://schemas.openxmlformats.org/drawingml/2006/main">
            <a:r>
              <a:t>来源：https://github.com/modelcontextprotocol/modelcontextprotocol/blob/2026-07-28/docs/specification/2026-07-28/changelog.mdx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A2A仓库发布v1.0.1（2026-05-28），规范属于1.x，提供独立Agent间的任务、消息、产物与上下文协作，并允许参与方不暴露内部状态、记忆或工具。因此“互通”不能推断为完整内部轨迹可迁移。</a:t>
            </a:r>
          </a:p>
          <a:p xmlns:a="http://schemas.openxmlformats.org/drawingml/2006/main">
            <a:r>
              <a:t>来源：https://github.com/a2aproject/A2A/blob/v1.0.1/docs/specification.md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MCP官方路线图（2026-08-22更新，固定到截止日之前commit 3778656b2e0ba6725035e816fe3085374cbaa736）描述未来6–12月方向：异步消息、长任务、推送事件，以及Agent身份、用户委托和子Agent权限收窄。官方明确这是current thinking而非firm commitments，页面将其标为“MCP规划”。</a:t>
            </a:r>
          </a:p>
          <a:p xmlns:a="http://schemas.openxmlformats.org/drawingml/2006/main">
            <a:r>
              <a:t>来源：https://github.com/modelcontextprotocol/modelcontextprotocol/blob/3778656b2e0ba6725035e816fe3085374cbaa736/docs/development/roadmap.mdx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差异化能力建议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统一多模态与实时数据生命周期：让原始内容、派生实体/向量和持续业务变化共享对象标识、来源、质量与删除/保留规则，避免多套独立加工流程。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语义、状态与权限联合服务：同一业务定义同时服务BI和AI，将实时状态和身份约束纳入上下文生成，使模型在调用时获得新鲜、相关且被授权的数据。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框架轨迹与业务结果联评：保留原始字段及规范版本，适配OTel/OpenInference/厂商扩展，关联任务、调用与晚到反馈，同时评价成本、过程质量和实际业务结果。它是建议建设方向，不是本报告已经证明竞品不具备的独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面向2027优先形成可用的接入、语义和关联基础；更长期沉淀可跨平台迁移的上下文数据与评测口径。具体投入次序需按客户工作负载验证，本文不虚构任何自家平台现状或性能承诺。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ca3f7d1d64b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ae952dad49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7194dca9d48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e98ac4b794e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b23552d1f4b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8cebf7dd64b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D5C3D1-6128-45A3-B6ED-D4655DE31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AC9490-07C5-4C63-AD92-D35C863619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5DF2C6-FF3B-490B-ACFE-0ABB6532F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3BF05A-D11E-4BB8-952D-5DEBADF58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534DC2-4D96-458F-ADE7-A4771923C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C66D7D-79A6-4118-B78F-99C27F122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EC8B57-2F25-4D1B-B4D7-7A30F50C1A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81691E-B9F4-4288-B543-B4ED44A705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01D249-6ACF-4987-8260-87C5DE2A5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A5DCEE-DCF9-48E5-88BD-0ECB5DBD4D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0700d4b30421f" /><Relationship Type="http://schemas.openxmlformats.org/officeDocument/2006/relationships/slideLayout" Target="/ppt/slideLayouts/slideLayout1.xml" Id="Rc32e43d3bdc5491c" /><Relationship Type="http://schemas.openxmlformats.org/officeDocument/2006/relationships/slideLayout" Target="/ppt/slideLayouts/slideLayout2.xml" Id="Rd29c05cb3f5e4341" /><Relationship Type="http://schemas.openxmlformats.org/officeDocument/2006/relationships/slideLayout" Target="/ppt/slideLayouts/slideLayout3.xml" Id="R394b0cb111fd4253" /><Relationship Type="http://schemas.openxmlformats.org/officeDocument/2006/relationships/slideLayout" Target="/ppt/slideLayouts/slideLayout4.xml" Id="R9f07177f4b7947e0" /><Relationship Type="http://schemas.openxmlformats.org/officeDocument/2006/relationships/slideLayout" Target="/ppt/slideLayouts/slideLayout5.xml" Id="R1c16b22a729c497a" /><Relationship Type="http://schemas.openxmlformats.org/officeDocument/2006/relationships/slideLayout" Target="/ppt/slideLayouts/slideLayout6.xml" Id="R9c9ed0f994af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2e43d3bdc5491c"/>
    <p:sldLayoutId xmlns:r="http://schemas.openxmlformats.org/officeDocument/2006/relationships" id="2147483650" r:id="Rd29c05cb3f5e4341"/>
    <p:sldLayoutId xmlns:r="http://schemas.openxmlformats.org/officeDocument/2006/relationships" id="2147483651" r:id="R394b0cb111fd4253"/>
    <p:sldLayoutId xmlns:r="http://schemas.openxmlformats.org/officeDocument/2006/relationships" id="2147483652" r:id="R9f07177f4b7947e0"/>
    <p:sldLayoutId xmlns:r="http://schemas.openxmlformats.org/officeDocument/2006/relationships" id="2147483653" r:id="R1c16b22a729c497a"/>
    <p:sldLayoutId xmlns:r="http://schemas.openxmlformats.org/officeDocument/2006/relationships" id="2147483654" r:id="R9c9ed0f994af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96bd2106b4999" /><Relationship Type="http://schemas.openxmlformats.org/officeDocument/2006/relationships/notesSlide" Target="/ppt/notesSlides/notesSlide1.xml" Id="R2e2316063ca14c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ECDD37A2-9688-4F1B-925A-8551098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419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2027及未来：数据＋AI平台业界洞察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961B4530-3CB0-4C2D-A6ED-31D288D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1414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rPr>
              <a:t>全球视角，面向企业知识助手、分析与流程自动化     信息截至2026年10月13日</a:t>
            </a:r>
          </a:p>
        </p:txBody>
      </p:sp>
      <p:sp>
        <p:nvSpPr>
          <p:cNvPr id="3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A2504F14-9D92-4B13-B126-9EC42C1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4173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E45"/>
          </a:solidFill>
          <a:ln xmlns:a="http://schemas.openxmlformats.org/drawingml/2006/main" w="0">
            <a:noFill/>
          </a:ln>
        </p:spPr>
      </p:sp>
      <p:sp>
        <p:nvSpPr>
          <p:cNvPr id="4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75BD1057-EFCF-4A0B-9F34-F0E6D28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8ED9E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ED9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ED9E1"/>
                </a:solidFill>
                <a:latin typeface="Microsoft YaHei"/>
                <a:ea typeface="Microsoft YaHei"/>
                <a:cs typeface="Microsoft YaHei"/>
              </a:rPr>
              <a:t>总判断</a:t>
            </a:r>
          </a:p>
          <a:p xmlns:a="http://schemas.openxmlformats.org/drawingml/2006/main">
            <a:pPr>
              <a:defRPr sz="1800" b="1">
                <a:solidFill>
                  <a:srgbClr val="8ED9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ED9E1"/>
                </a:solidFill>
                <a:latin typeface="Microsoft YaHei"/>
                <a:ea typeface="Microsoft YaHei"/>
                <a:cs typeface="Microsoft YaHei"/>
              </a:rPr>
              <a:t>未来一年</a:t>
            </a:r>
          </a:p>
        </p:txBody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CDE1F784-49BF-4E71-AFC1-03306197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1195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重要增量来自多模态内容、实时业务变化与Agent执行过程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平台需将其转为有业务语义、及时更新、按权限可用的AI上下文</a:t>
            </a:r>
          </a:p>
        </p:txBody>
      </p:sp>
      <p:sp>
        <p:nvSpPr>
          <p:cNvPr id="6" name="section-number-01">
            <a:extLst xmlns:a="http://schemas.openxmlformats.org/drawingml/2006/main">
              <a:ext uri="{FF2B5EF4-FFF2-40B4-BE49-F238E27FC236}">
                <a16:creationId xmlns:a16="http://schemas.microsoft.com/office/drawing/2014/main" id="{28ACA3CE-3D87-4241-86DE-8952D456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ection-title-01">
            <a:extLst xmlns:a="http://schemas.openxmlformats.org/drawingml/2006/main">
              <a:ext uri="{FF2B5EF4-FFF2-40B4-BE49-F238E27FC236}">
                <a16:creationId xmlns:a16="http://schemas.microsoft.com/office/drawing/2014/main" id="{3B8F8BE0-421A-476E-902A-5B7310D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28875"/>
            <a:ext cx="629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新数据与处理能力</a:t>
            </a:r>
          </a:p>
        </p:txBody>
      </p:sp>
      <p:sp>
        <p:nvSpPr>
          <p:cNvPr id="8" name="section-number-02">
            <a:extLst xmlns:a="http://schemas.openxmlformats.org/drawingml/2006/main">
              <a:ext uri="{FF2B5EF4-FFF2-40B4-BE49-F238E27FC236}">
                <a16:creationId xmlns:a16="http://schemas.microsoft.com/office/drawing/2014/main" id="{E0F919EC-26B3-4E53-A5D8-7270B6F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ection-title-02">
            <a:extLst xmlns:a="http://schemas.openxmlformats.org/drawingml/2006/main">
              <a:ext uri="{FF2B5EF4-FFF2-40B4-BE49-F238E27FC236}">
                <a16:creationId xmlns:a16="http://schemas.microsoft.com/office/drawing/2014/main" id="{7D8D6520-F4B7-4506-A9D2-C8CE4A6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28875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竞品正在补齐的能力</a:t>
            </a:r>
          </a:p>
        </p:txBody>
      </p:sp>
      <p:sp>
        <p:nvSpPr>
          <p:cNvPr id="10" name="section-number-03">
            <a:extLst xmlns:a="http://schemas.openxmlformats.org/drawingml/2006/main">
              <a:ext uri="{FF2B5EF4-FFF2-40B4-BE49-F238E27FC236}">
                <a16:creationId xmlns:a16="http://schemas.microsoft.com/office/drawing/2014/main" id="{BE7B6203-5F34-4636-98FC-B03F4F4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922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ection-title-03">
            <a:extLst xmlns:a="http://schemas.openxmlformats.org/drawingml/2006/main">
              <a:ext uri="{FF2B5EF4-FFF2-40B4-BE49-F238E27FC236}">
                <a16:creationId xmlns:a16="http://schemas.microsoft.com/office/drawing/2014/main" id="{B9DEDAA3-0BEE-4ECF-BECA-2C8FEE2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29225"/>
            <a:ext cx="629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权威机构研究侧重</a:t>
            </a:r>
          </a:p>
        </p:txBody>
      </p:sp>
      <p:sp>
        <p:nvSpPr>
          <p:cNvPr id="12" name="section-number-04">
            <a:extLst xmlns:a="http://schemas.openxmlformats.org/drawingml/2006/main">
              <a:ext uri="{FF2B5EF4-FFF2-40B4-BE49-F238E27FC236}">
                <a16:creationId xmlns:a16="http://schemas.microsoft.com/office/drawing/2014/main" id="{7B8E6922-6A8A-4C01-8586-CB928821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2922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ection-title-04">
            <a:extLst xmlns:a="http://schemas.openxmlformats.org/drawingml/2006/main">
              <a:ext uri="{FF2B5EF4-FFF2-40B4-BE49-F238E27FC236}">
                <a16:creationId xmlns:a16="http://schemas.microsoft.com/office/drawing/2014/main" id="{2A67D307-CB08-416E-97F4-8152EB32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29225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Agent轨迹标准演进</a:t>
            </a:r>
          </a:p>
        </p:txBody>
      </p:sp>
      <p:sp>
        <p:nvSpPr>
          <p:cNvPr id="14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60A0E096-615D-49E2-8164-9363FA5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28875"/>
            <a:ext cx="12383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E0"/>
          </a:solidFill>
          <a:ln xmlns:a="http://schemas.openxmlformats.org/drawingml/2006/main" w="0">
            <a:noFill/>
          </a:ln>
        </p:spPr>
      </p:sp>
      <p:sp>
        <p:nvSpPr>
          <p:cNvPr id="15" name="middle-divider-left">
            <a:extLst xmlns:a="http://schemas.openxmlformats.org/drawingml/2006/main">
              <a:ext uri="{FF2B5EF4-FFF2-40B4-BE49-F238E27FC236}">
                <a16:creationId xmlns:a16="http://schemas.microsoft.com/office/drawing/2014/main" id="{B62031F4-357C-43B4-A0C3-040839B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68008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E0"/>
          </a:solidFill>
          <a:ln xmlns:a="http://schemas.openxmlformats.org/drawingml/2006/main" w="0">
            <a:noFill/>
          </a:ln>
        </p:spPr>
      </p:sp>
      <p:sp>
        <p:nvSpPr>
          <p:cNvPr id="16" name="middle-divider-right">
            <a:extLst xmlns:a="http://schemas.openxmlformats.org/drawingml/2006/main">
              <a:ext uri="{FF2B5EF4-FFF2-40B4-BE49-F238E27FC236}">
                <a16:creationId xmlns:a16="http://schemas.microsoft.com/office/drawing/2014/main" id="{24F84457-3555-41D1-A28B-3A0C0A37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38725"/>
            <a:ext cx="67437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E0"/>
          </a:solidFill>
          <a:ln xmlns:a="http://schemas.openxmlformats.org/drawingml/2006/main" w="0">
            <a:noFill/>
          </a:ln>
        </p:spPr>
      </p:sp>
      <p:sp>
        <p:nvSpPr>
          <p:cNvPr id="17" name="data-head-0">
            <a:extLst xmlns:a="http://schemas.openxmlformats.org/drawingml/2006/main">
              <a:ext uri="{FF2B5EF4-FFF2-40B4-BE49-F238E27FC236}">
                <a16:creationId xmlns:a16="http://schemas.microsoft.com/office/drawing/2014/main" id="{8C9DC58E-7693-4CA6-917C-0A4B21D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多模态：文档、音视频及派生片段、向量与实体</a:t>
            </a:r>
          </a:p>
        </p:txBody>
      </p:sp>
      <p:sp>
        <p:nvSpPr>
          <p:cNvPr id="18" name="data-body-0">
            <a:extLst xmlns:a="http://schemas.openxmlformats.org/drawingml/2006/main">
              <a:ext uri="{FF2B5EF4-FFF2-40B4-BE49-F238E27FC236}">
                <a16:creationId xmlns:a16="http://schemas.microsoft.com/office/drawing/2014/main" id="{E7A3ADDF-9329-4F13-A1A9-B4EFCEE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所需能力：内容解析、跨模态检索、来源与权限继承</a:t>
            </a:r>
          </a:p>
        </p:txBody>
      </p:sp>
      <p:sp>
        <p:nvSpPr>
          <p:cNvPr id="19" name="data-head-1">
            <a:extLst xmlns:a="http://schemas.openxmlformats.org/drawingml/2006/main">
              <a:ext uri="{FF2B5EF4-FFF2-40B4-BE49-F238E27FC236}">
                <a16:creationId xmlns:a16="http://schemas.microsoft.com/office/drawing/2014/main" id="{F9D00893-E0D8-4FFA-B6CF-1E47B60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实时业务变化：变更数据、事件流、状态与特征</a:t>
            </a:r>
          </a:p>
        </p:txBody>
      </p:sp>
      <p:sp>
        <p:nvSpPr>
          <p:cNvPr id="20" name="data-body-1">
            <a:extLst xmlns:a="http://schemas.openxmlformats.org/drawingml/2006/main">
              <a:ext uri="{FF2B5EF4-FFF2-40B4-BE49-F238E27FC236}">
                <a16:creationId xmlns:a16="http://schemas.microsoft.com/office/drawing/2014/main" id="{DC2CE976-0AEF-45FA-A934-69A72D9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所需能力：流批协同、增量更新、低延迟读写与服务</a:t>
            </a:r>
          </a:p>
        </p:txBody>
      </p:sp>
      <p:sp>
        <p:nvSpPr>
          <p:cNvPr id="21" name="data-head-2">
            <a:extLst xmlns:a="http://schemas.openxmlformats.org/drawingml/2006/main">
              <a:ext uri="{FF2B5EF4-FFF2-40B4-BE49-F238E27FC236}">
                <a16:creationId xmlns:a16="http://schemas.microsoft.com/office/drawing/2014/main" id="{66C5944C-5E66-41D1-B93B-7047E5D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8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Agent过程：工具调用、执行步骤、记忆与反馈</a:t>
            </a:r>
          </a:p>
        </p:txBody>
      </p:sp>
      <p:sp>
        <p:nvSpPr>
          <p:cNvPr id="22" name="data-body-2">
            <a:extLst xmlns:a="http://schemas.openxmlformats.org/drawingml/2006/main">
              <a:ext uri="{FF2B5EF4-FFF2-40B4-BE49-F238E27FC236}">
                <a16:creationId xmlns:a16="http://schemas.microsoft.com/office/drawing/2014/main" id="{40B64100-9559-4656-B762-81A9197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所需能力：任务关联、过程追溯、评测回流与成本归因</a:t>
            </a:r>
          </a:p>
        </p:txBody>
      </p:sp>
      <p:sp>
        <p:nvSpPr>
          <p:cNvPr id="23" name="competitor-head-0">
            <a:extLst xmlns:a="http://schemas.openxmlformats.org/drawingml/2006/main">
              <a:ext uri="{FF2B5EF4-FFF2-40B4-BE49-F238E27FC236}">
                <a16:creationId xmlns:a16="http://schemas.microsoft.com/office/drawing/2014/main" id="{C8CE36FA-6C95-4EF0-811A-D7BF683B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Databricks：Lakeflow＋Lakebase＋MLflow [1]</a:t>
            </a:r>
          </a:p>
        </p:txBody>
      </p:sp>
      <p:sp>
        <p:nvSpPr>
          <p:cNvPr id="24" name="competitor-body-0">
            <a:extLst xmlns:a="http://schemas.openxmlformats.org/drawingml/2006/main">
              <a:ext uri="{FF2B5EF4-FFF2-40B4-BE49-F238E27FC236}">
                <a16:creationId xmlns:a16="http://schemas.microsoft.com/office/drawing/2014/main" id="{712227C8-9640-4582-8012-6138419B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674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增量数据管道与在线状态库并进</a:t>
            </a:r>
          </a:p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2026.07轨迹入湖正式可用，支持SQL联查</a:t>
            </a:r>
          </a:p>
        </p:txBody>
      </p:sp>
      <p:sp>
        <p:nvSpPr>
          <p:cNvPr id="25" name="competitor-head-1">
            <a:extLst xmlns:a="http://schemas.openxmlformats.org/drawingml/2006/main">
              <a:ext uri="{FF2B5EF4-FFF2-40B4-BE49-F238E27FC236}">
                <a16:creationId xmlns:a16="http://schemas.microsoft.com/office/drawing/2014/main" id="{6D8D3002-7C70-4482-8D48-913002C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7190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Snowflake：Openflow＋多模态AI＋Cortex [2]</a:t>
            </a:r>
          </a:p>
        </p:txBody>
      </p:sp>
      <p:sp>
        <p:nvSpPr>
          <p:cNvPr id="26" name="competitor-body-1">
            <a:extLst xmlns:a="http://schemas.openxmlformats.org/drawingml/2006/main">
              <a:ext uri="{FF2B5EF4-FFF2-40B4-BE49-F238E27FC236}">
                <a16:creationId xmlns:a16="http://schemas.microsoft.com/office/drawing/2014/main" id="{E7E6FD5C-08E0-4019-9C85-C8C56DE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674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扩展数据接入，2026.08视频语义检索正式可用</a:t>
            </a:r>
          </a:p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2026.09血缘联通数据表、语义视图与Agent</a:t>
            </a:r>
          </a:p>
        </p:txBody>
      </p:sp>
      <p:sp>
        <p:nvSpPr>
          <p:cNvPr id="27" name="clouds">
            <a:extLst xmlns:a="http://schemas.openxmlformats.org/drawingml/2006/main">
              <a:ext uri="{FF2B5EF4-FFF2-40B4-BE49-F238E27FC236}">
                <a16:creationId xmlns:a16="http://schemas.microsoft.com/office/drawing/2014/main" id="{E585B25A-C6D1-42FB-9C0B-8D958C87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76775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1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rPr>
              <a:t>云厂商：微软Fabric实时智能，AWS AgentCore运行与观测 [3]</a:t>
            </a:r>
          </a:p>
        </p:txBody>
      </p:sp>
      <p:sp>
        <p:nvSpPr>
          <p:cNvPr id="28" name="analyst-head-0">
            <a:extLst xmlns:a="http://schemas.openxmlformats.org/drawingml/2006/main">
              <a:ext uri="{FF2B5EF4-FFF2-40B4-BE49-F238E27FC236}">
                <a16:creationId xmlns:a16="http://schemas.microsoft.com/office/drawing/2014/main" id="{F325B884-C445-4644-8772-9469767F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Forrester：AI-ready data重在语义与上下文 [4]</a:t>
            </a:r>
          </a:p>
        </p:txBody>
      </p:sp>
      <p:sp>
        <p:nvSpPr>
          <p:cNvPr id="29" name="analyst-body-0">
            <a:extLst xmlns:a="http://schemas.openxmlformats.org/drawingml/2006/main">
              <a:ext uri="{FF2B5EF4-FFF2-40B4-BE49-F238E27FC236}">
                <a16:creationId xmlns:a16="http://schemas.microsoft.com/office/drawing/2014/main" id="{B9EA053D-DB34-426A-936B-E81D858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关注文档、实时信号、业务定义及可执行治理</a:t>
            </a:r>
          </a:p>
        </p:txBody>
      </p:sp>
      <p:sp>
        <p:nvSpPr>
          <p:cNvPr id="30" name="analyst-head-1">
            <a:extLst xmlns:a="http://schemas.openxmlformats.org/drawingml/2006/main">
              <a:ext uri="{FF2B5EF4-FFF2-40B4-BE49-F238E27FC236}">
                <a16:creationId xmlns:a16="http://schemas.microsoft.com/office/drawing/2014/main" id="{368CE2DC-1D2A-4F64-B427-14F5873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680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Gartner：治理、安全、FinOps进入评估重点 [5]</a:t>
            </a:r>
          </a:p>
        </p:txBody>
      </p:sp>
      <p:sp>
        <p:nvSpPr>
          <p:cNvPr id="31" name="analyst-body-1">
            <a:extLst xmlns:a="http://schemas.openxmlformats.org/drawingml/2006/main">
              <a:ext uri="{FF2B5EF4-FFF2-40B4-BE49-F238E27FC236}">
                <a16:creationId xmlns:a16="http://schemas.microsoft.com/office/drawing/2014/main" id="{04D149B5-0A6B-4725-B9D8-0BB769C4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05600"/>
            <a:ext cx="680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2026 Agentic AI Hype Cycle关注全生命周期运营</a:t>
            </a:r>
          </a:p>
        </p:txBody>
      </p:sp>
      <p:sp>
        <p:nvSpPr>
          <p:cNvPr id="32" name="standard-head-0">
            <a:extLst xmlns:a="http://schemas.openxmlformats.org/drawingml/2006/main">
              <a:ext uri="{FF2B5EF4-FFF2-40B4-BE49-F238E27FC236}">
                <a16:creationId xmlns:a16="http://schemas.microsoft.com/office/drawing/2014/main" id="{F16AEB51-35F7-4079-BF7A-4E71971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15000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OTel GenAI扩至计划、工具、记忆与评价 [6]</a:t>
            </a:r>
          </a:p>
        </p:txBody>
      </p:sp>
      <p:sp>
        <p:nvSpPr>
          <p:cNvPr id="33" name="standard-body-0">
            <a:extLst xmlns:a="http://schemas.openxmlformats.org/drawingml/2006/main">
              <a:ext uri="{FF2B5EF4-FFF2-40B4-BE49-F238E27FC236}">
                <a16:creationId xmlns:a16="http://schemas.microsoft.com/office/drawing/2014/main" id="{5DB57811-E359-43E3-949B-62F31C5D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019800"/>
            <a:ext cx="674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语义规范仍在开发，需兼容版本及厂商扩展</a:t>
            </a:r>
          </a:p>
        </p:txBody>
      </p:sp>
      <p:sp>
        <p:nvSpPr>
          <p:cNvPr id="34" name="standard-head-1">
            <a:extLst xmlns:a="http://schemas.openxmlformats.org/drawingml/2006/main">
              <a:ext uri="{FF2B5EF4-FFF2-40B4-BE49-F238E27FC236}">
                <a16:creationId xmlns:a16="http://schemas.microsoft.com/office/drawing/2014/main" id="{9367CA17-6AED-4139-AB6E-A80AC6B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400800"/>
            <a:ext cx="674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MCP接工具，A2A接Agent，互通不等于统一轨迹 [7]</a:t>
            </a:r>
          </a:p>
        </p:txBody>
      </p:sp>
      <p:sp>
        <p:nvSpPr>
          <p:cNvPr id="35" name="standard-body-1">
            <a:extLst xmlns:a="http://schemas.openxmlformats.org/drawingml/2006/main">
              <a:ext uri="{FF2B5EF4-FFF2-40B4-BE49-F238E27FC236}">
                <a16:creationId xmlns:a16="http://schemas.microsoft.com/office/drawing/2014/main" id="{52F664C3-537C-4849-A1B0-2FA4D082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705600"/>
            <a:ext cx="674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243C4D"/>
                </a:solidFill>
                <a:latin typeface="Microsoft YaHei"/>
                <a:ea typeface="Microsoft YaHei"/>
                <a:cs typeface="Microsoft YaHei"/>
              </a:rPr>
              <a:t>MCP规划：异步任务、Agent身份与委托授权</a:t>
            </a:r>
          </a:p>
        </p:txBody>
      </p:sp>
      <p:sp>
        <p:nvSpPr>
          <p:cNvPr id="36" name="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3A663FEC-A2E4-4E5A-86BF-31EAF0B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91400"/>
            <a:ext cx="1417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</a:ln>
        </p:spPr>
      </p:sp>
      <p:sp>
        <p:nvSpPr>
          <p:cNvPr id="37" name="recommendation-label">
            <a:extLst xmlns:a="http://schemas.openxmlformats.org/drawingml/2006/main">
              <a:ext uri="{FF2B5EF4-FFF2-40B4-BE49-F238E27FC236}">
                <a16:creationId xmlns:a16="http://schemas.microsoft.com/office/drawing/2014/main" id="{FD073D72-7D2B-4C27-9258-A154C2C8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我们的2027差异化建设方向（建议）</a:t>
            </a:r>
          </a:p>
        </p:txBody>
      </p:sp>
      <p:sp>
        <p:nvSpPr>
          <p:cNvPr id="38" name="recommendations">
            <a:extLst xmlns:a="http://schemas.openxmlformats.org/drawingml/2006/main">
              <a:ext uri="{FF2B5EF4-FFF2-40B4-BE49-F238E27FC236}">
                <a16:creationId xmlns:a16="http://schemas.microsoft.com/office/drawing/2014/main" id="{327BBB7C-1210-4BAD-93B6-CE6BF1D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7175"/>
            <a:ext cx="1371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统一多模态与实时数据生命周期　　语义、状态与权限联合服务　　跨框架轨迹与业务结果联评</a:t>
            </a:r>
          </a:p>
        </p:txBody>
      </p:sp>
      <p:sp>
        <p:nvSpPr>
          <p:cNvPr id="39" name="footnote">
            <a:extLst xmlns:a="http://schemas.openxmlformats.org/drawingml/2006/main">
              <a:ext uri="{FF2B5EF4-FFF2-40B4-BE49-F238E27FC236}">
                <a16:creationId xmlns:a16="http://schemas.microsoft.com/office/drawing/2014/main" id="{A258140B-0962-40A4-9CA3-13109D8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334375"/>
            <a:ext cx="1417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C7180"/>
                </a:solidFill>
                <a:latin typeface="Microsoft YaHei"/>
                <a:ea typeface="Microsoft YaHei"/>
                <a:cs typeface="Microsoft YaHei"/>
              </a:rPr>
              <a:t>研判窗口：2026.10至2027.10及以后。竞品依据已发布能力，展望与建议不代表厂商交付承诺。来源[1]至[7]与状态详见备注。</a:t>
            </a:r>
          </a:p>
        </p:txBody>
      </p:sp>
    </p:spTree>
    <p:extLst>
      <p:ext uri="{BB962C8B-B14F-4D97-AF65-F5344CB8AC3E}">
        <p14:creationId xmlns:p14="http://schemas.microsoft.com/office/powerpoint/2010/main" val="139555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2026-10-13T12:28:42.2550000Z</dcterms:created>
  <dcterms:modified xsi:type="dcterms:W3CDTF">2026-10-13T12:28:42.2560000Z</dcterms:modified>
</coreProperties>
</file>