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c58353990d4eee" /><Relationship Type="http://schemas.openxmlformats.org/officeDocument/2006/relationships/extended-properties" Target="/docProps/app.xml" Id="R347b112047ac4c0b" /><Relationship Type="http://schemas.openxmlformats.org/officeDocument/2006/relationships/officeDocument" Target="/ppt/presentation.xml" Id="R4577e4f92ba143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a330924964442d"/>
  </p:sldMasterIdLst>
  <p:notesMasterIdLst>
    <p:notesMasterId xmlns:r="http://schemas.openxmlformats.org/officeDocument/2006/relationships" r:id="R2ced91d2efd24708"/>
  </p:notesMasterIdLst>
  <p:sldIdLst>
    <p:sldId xmlns:r="http://schemas.openxmlformats.org/officeDocument/2006/relationships" id="256" r:id="R604fd3c0d2d04a6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35991b7a3d4951" /><Relationship Type="http://schemas.openxmlformats.org/officeDocument/2006/relationships/slideMaster" Target="/ppt/slideMasters/slideMaster1.xml" Id="R45a330924964442d" /><Relationship Type="http://schemas.openxmlformats.org/officeDocument/2006/relationships/notesMaster" Target="/ppt/notesMasters/notesMaster1.xml" Id="R2ced91d2efd24708" /><Relationship Type="http://schemas.openxmlformats.org/officeDocument/2006/relationships/presProps" Target="/ppt/presProps.xml" Id="R2531fbc30dae4322" /><Relationship Type="http://schemas.openxmlformats.org/officeDocument/2006/relationships/tableStyles" Target="/ppt/tableStyles.xml" Id="R94dc2af0a1e24389" /><Relationship Type="http://schemas.openxmlformats.org/officeDocument/2006/relationships/slide" Target="/ppt/slides/slide1.xml" Id="R604fd3c0d2d04a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81f52d98514c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8e631f67c2414b" /><Relationship Type="http://schemas.openxmlformats.org/officeDocument/2006/relationships/notesMaster" Target="/ppt/notesMasters/notesMaster1.xml" Id="R254bd147e38144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2027 AI 数据消费重心与数据工程挑战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核验截止：2026-10-12（Asia/Shanghai）。本文为单页PPT的证据底稿与演讲者备注。2027结论是基于公开事实的规划判断，不是厂商路线承诺或全球市场预测。下列训练量、实验完成度和API处理速率分别成图，不互相换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管理判断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预训练规模仍然扩大，同时新增工程价值转向可验证的生成样本、具有时空及动作监督的视频、持续更新的企业上下文。数仓加工平台应把样本、轨迹、上下文作为数据产品，在既有表与任务管理能力之上增加生成后验证、版本配方、多模态加工和增量供给。建议把有效样本率、上下文可用率和单位有效产出成本作为经营指标；这属于平台负责人的推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[1] 图一：公开模型的预训练规模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模型案例 | 发布年份 | 万亿预训练token | 口径 |</a:t>
            </a:r>
          </a:p>
          <a:p xmlns:a="http://schemas.openxmlformats.org/drawingml/2006/main">
            <a:r>
              <a:t>|---|---:|---:|---|</a:t>
            </a:r>
          </a:p>
          <a:p xmlns:a="http://schemas.openxmlformats.org/drawingml/2006/main">
            <a:r>
              <a:t>| Llama 2 | 2023 | 2 | 论文§2.1和表1，全部尺寸为2T |</a:t>
            </a:r>
          </a:p>
          <a:p xmlns:a="http://schemas.openxmlformats.org/drawingml/2006/main">
            <a:r>
              <a:t>| Llama 3 405B | 2024 | 15.6 | 论文v1的405B旗舰，text tokens |</a:t>
            </a:r>
          </a:p>
          <a:p xmlns:a="http://schemas.openxmlformats.org/drawingml/2006/main">
            <a:r>
              <a:t>| Llama 4 Scout | 2025 | 约40 | 官方模型卡，多模态数据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这些是选取的公开模型案例，不是厂商年度总消费或全球总量。各代tokenizer、模态、重复训练与配方不同，所以不能称为原始字节量的同口径增长，更不能把40/2称为全球增长20倍。不添加2027预测点。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Meta, *Llama 2: Open Foundation and Fine-Tuned Chat Models*，2023-07，§2.1、表1：https://arxiv.org/html/2307.09288 。原文：“We trained on 2 trillion tokens of data”。</a:t>
            </a:r>
          </a:p>
          <a:p xmlns:a="http://schemas.openxmlformats.org/drawingml/2006/main">
            <a:r>
              <a:t>- Llama Team, *The Llama 3 Herd of Models*，2024-07-31，v1：https://arxiv.org/html/2407.21783v1 。原文：“pre-trained a flagship model with 405B trainable parameters on 15.6T text tokens”。</a:t>
            </a:r>
          </a:p>
          <a:p xmlns:a="http://schemas.openxmlformats.org/drawingml/2006/main">
            <a:r>
              <a:t>- Meta, *Llama 4 Model Card*，2025-04-05固定提交：https://github.com/meta-llama/llama-models/blob/038acb9fe1e1ddc5cf1b3989fb07b311a0ffcae4/models/llama4/MODEL_CARD.md 。原文：“Llama 4 Scout was pretrained on ~40 trillion tokens and Llama 4 Maverick was pretrained on ~22 trillion tokens of multimodal data”。未将发布博文的overall mixture &gt;30T误作某个模型消费量。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[2] 可验证生成样本的类型证据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Microsoft Phi-4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*Phi-4 Technical Report*，2024-12-12，表5、§2.2、§3.1：https://arxiv.org/html/2412.08905v1 。表5中训练token配比：Synthetic 40%、Web rewrites 15%、Code 20%、Web 15%、Acquired sources 10%。脚注明确Web rewrites是合成数据子类，因此明确列示的生成类至少55%（40%+15%，本材料计算）。代码还含未拆分的合成部分，未把全部代码归作合成。该值是单模型训练token配方，不是全球合成份额，也不是独立token份额。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生产方式包含高质量种子筛选、多阶段提示、自我修订、难度平衡及拒绝采样。§3.1同时指出纯合成模型在知识题上较差且幻觉增加，不应推断合成全面替代真实数据。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DeepSeek-R1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*DeepSeek-R1: Incentivizing Reasoning Capability in LLMs via Reinforcement Learning*，2025-01-22，v1，§2.3.3、§2.4：https://arxiv.org/html/2501.12948v1 。约600k推理类+200k非推理类，构成约800k筛选后的SFT样本，用于对DeepSeek-V3-Base训练2轮。原文：“We fine-tune DeepSeek-V3-Base for two epochs using the above curated dataset of about 800k samples.” 这是后训练样本数，非模型全部训练数据，也不是token数。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[3] 图二：EgoScale 人类视频规模实验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NVIDIA等作者，*EgoScale: Scaling Dexterous Manipulation with Diverse Egocentric Human Data*，2026-02-18，arXiv v1预印本：https://arxiv.org/html/2602.16710v1 。该研究为前沿原始研究，未将其描述为已经同行评审的共识。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§3.3同一方法在1k、2k、4k、10k、20k小时人类视频上预训练。本图仅使用正文明确列出的两个端点：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人类视频预训练量 | 平均任务完成度 |</a:t>
            </a:r>
          </a:p>
          <a:p xmlns:a="http://schemas.openxmlformats.org/drawingml/2006/main">
            <a:r>
              <a:t>|---|---:|</a:t>
            </a:r>
          </a:p>
          <a:p xmlns:a="http://schemas.openxmlformats.org/drawingml/2006/main">
            <a:r>
              <a:t>| 1,000小时 | 0.30，即30% |</a:t>
            </a:r>
          </a:p>
          <a:p xmlns:a="http://schemas.openxmlformats.org/drawingml/2006/main">
            <a:r>
              <a:t>| 20,000小时 | 0.71，即71%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原文：“Average task completion rises monotonically from 0.30 at 1k hours to 0.71 at 20k hours, with no signs of saturation in the explored regime.” 图5对应下游机器人任务的平均完成度，允许部分得分，不是二元成功率。此图为数据规模与实验结果的关系，不是时间序列；未估读或编造中间值，没有把实验范围内结果外推到任意规模。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论文摘要模型训练使用over 20,854 hours动作标注的第一视角视频；规模实验最高档为20k小时。§2.2写明以30 FPS第一视角RGB采集，使用现成SLAM和手部姿态估计恢复相机运动及人类手部轨迹。原文：“We apply off-the-shelf SLAM and hand-pose estimation pipelines to recover camera motion and human hand trajectories.” 作者明确标注存在噪声；还结合更精确的EgoDex数据。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与平台相关的判断：视频不只是被动语义描述，还可通过运动重建变成动作监督；收集与加工要支持时序对齐、姿态/轨迹、动作标签与长尾覆盖。遥操作和仿真是互补供给方式，另见NVIDIA GR00T N1原始报告（2025-03-18，https://arxiv.org/html/2503.14734v1）；该报告Table7包含真实机器人、人类视频、仿真及神经生成数据。本页未混合各数据集为时间增长曲线。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[4] 图三：Google 模型 API 处理速率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官方披露日期 | 十亿tokens/分钟 | 绘图位置 |</a:t>
            </a:r>
          </a:p>
          <a:p xmlns:a="http://schemas.openxmlformats.org/drawingml/2006/main">
            <a:r>
              <a:t>|---|---:|---:|</a:t>
            </a:r>
          </a:p>
          <a:p xmlns:a="http://schemas.openxmlformats.org/drawingml/2006/main">
            <a:r>
              <a:t>| 2025-10-29 | 7 | 7 |</a:t>
            </a:r>
          </a:p>
          <a:p xmlns:a="http://schemas.openxmlformats.org/drawingml/2006/main">
            <a:r>
              <a:t>| 2026-02-04 | &gt;10 | 下界10 |</a:t>
            </a:r>
          </a:p>
          <a:p xmlns:a="http://schemas.openxmlformats.org/drawingml/2006/main">
            <a:r>
              <a:t>| 2026-04-29 | &gt;16 | 下界16 |</a:t>
            </a:r>
          </a:p>
          <a:p xmlns:a="http://schemas.openxmlformats.org/drawingml/2006/main">
            <a:r>
              <a:t>| 2026-07-22 | 约22 | 22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原文和来源：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*Alphabet earnings, Q3 2025*，2025-10-29：https://blog.google/company-news/inside-google/message-ceo/alphabet-earnings-q3-2025/ 。原文：“Our first-party models, like Gemini, now process 7 billion tokens per minute, via direct API use by our customers.”</a:t>
            </a:r>
          </a:p>
          <a:p xmlns:a="http://schemas.openxmlformats.org/drawingml/2006/main">
            <a:r>
              <a:t>2. *Alphabet earnings, Q4 2025*，2026-02-04：https://blog.google/company-news/inside-google/message-ceo/alphabet-earnings-q4-2025/ 。原文：“Our first party models, like Gemini, now process over 10 billion tokens per minute via direct API use by our customers, up from 7 billion last quarter.”</a:t>
            </a:r>
          </a:p>
          <a:p xmlns:a="http://schemas.openxmlformats.org/drawingml/2006/main">
            <a:r>
              <a:t>3. *Alphabet earnings, Q1 2026*，2026-04-29：https://blog.google/company-news/inside-google/message-ceo/alphabet-earnings-q1-2026/ 。原文：“Our first-party models now process more than 16 billion tokens per minute via direct API use by our customers, up from 10 billion last quarter.”</a:t>
            </a:r>
          </a:p>
          <a:p xmlns:a="http://schemas.openxmlformats.org/drawingml/2006/main">
            <a:r>
              <a:t>4. *Alphabet earnings, Q2 2026*，2026-07-22：https://blog.google/company-news/inside-google/message-ceo/alphabet-earnings-q2-2026/ 。原文：“Our model APIs are now processing approximately 22 billion tokens per minute. That’s up from 16 billion just a quarter ago.”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标签保留&gt;与约数，线的位置对下界使用披露边界值。不同披露间隔不等，横轴为类别日期。此系列是Google客户直接模型API的处理量，反映推理消费侧规模。不是训练语料、独立新增数据或落仓量，不能与Google跨全部产品月token系列拼接。原文未拆输入/输出、缓存或模态，本图不做相应占比推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Q1 2026同页明确：“Enterprise data has become critical for agents to reason.” 并介绍Agentic Data Cloud的跨云lakehouse、Knowledge Catalog及Deep Research Agents。原文解释目的是给Agent来自企业数据的业务上下文。PPT关于实时/增量解析、语义、权限、鲜度和成本的要求是平台职责推导，不是Google对每项能力的原话。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[5] 学术挑战：递归合成的质量与来源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Shumailov et al., *AI models collapse when trained on recursively generated data*，Nature 631, 755–759，2024-07-24：https://www.nature.com/articles/s41586-024-07566-y 。原文：“indiscriminate use of model-generated content in training causes irreversible defects ... tails of the original content distribution disappear.” 以及需要持续保留原始数据源。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针对递归学习设置，不是所有合成数据都必然退化。应保留真实数据与独立评测、记录生成来源、控制重复与基准污染，监测稀有样本覆盖。平台工程挑战行是以上论文和所述生产流程的综合判断，不是已经量化的全球故障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视觉资产与范围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图表为可编辑的原生图表，图中数据可在PowerPoint内修改。图标采用Lucide开源图标，ISC许可，来源：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https://github.com/lucide-icons/lucide/blob/main/icons/file-check.svg</a:t>
            </a:r>
          </a:p>
          <a:p xmlns:a="http://schemas.openxmlformats.org/drawingml/2006/main">
            <a:r>
              <a:t>- https://github.com/lucide-icons/lucide/blob/main/icons/scan-eye.svg</a:t>
            </a:r>
          </a:p>
          <a:p xmlns:a="http://schemas.openxmlformats.org/drawingml/2006/main">
            <a:r>
              <a:t>- https://github.com/lucide-icons/lucide/blob/main/icons/database-zap.svg</a:t>
            </a:r>
          </a:p>
          <a:p xmlns:a="http://schemas.openxmlformats.org/drawingml/2006/main">
            <a:r>
              <a:t>- https://github.com/lucide-icons/lucide/blob/main/LICENSE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本页覆盖Meta、Microsoft、DeepSeek、NVIDIA、Google等公开样本与前沿原始研究。未用二手估计补齐其他头部公司的不公开训练数据；不声称拥有全行业消费结构或2027份额预测。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9168cce38e49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344d5a7539448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8124fea8ee42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8c02bb14fd4c0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33b14e5e4148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1fcd88f1b74f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38C220-AC5D-419D-8B46-9230214AA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C1E601-4BAF-4471-84A8-14E2394100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BF9216D-50BE-40DD-AE5B-6F8C882E48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AE6742-0F3C-4027-A72D-EFFE81CF91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76CCFC7-F3EF-41EB-9EF5-0E02A12D1F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E28E9F-D306-46A8-9FC9-0169E6A836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28D3A2-0E35-483E-AAEA-72B721C989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2430B94-C6E9-4F45-AF38-6A5C345646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205F3A-291E-4D3B-9182-468375CAAD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628BE4-8F32-482B-BC45-EE223F13A7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9ec7b6469c4181" /><Relationship Type="http://schemas.openxmlformats.org/officeDocument/2006/relationships/slideLayout" Target="/ppt/slideLayouts/slideLayout1.xml" Id="R6ed3ee37791b47eb" /><Relationship Type="http://schemas.openxmlformats.org/officeDocument/2006/relationships/slideLayout" Target="/ppt/slideLayouts/slideLayout2.xml" Id="Rd6e03df984e74a5d" /><Relationship Type="http://schemas.openxmlformats.org/officeDocument/2006/relationships/slideLayout" Target="/ppt/slideLayouts/slideLayout3.xml" Id="R82d04ac106434c73" /><Relationship Type="http://schemas.openxmlformats.org/officeDocument/2006/relationships/slideLayout" Target="/ppt/slideLayouts/slideLayout4.xml" Id="R272a59ee62fc40f3" /><Relationship Type="http://schemas.openxmlformats.org/officeDocument/2006/relationships/slideLayout" Target="/ppt/slideLayouts/slideLayout5.xml" Id="R2fd1950023fc49ea" /><Relationship Type="http://schemas.openxmlformats.org/officeDocument/2006/relationships/slideLayout" Target="/ppt/slideLayouts/slideLayout6.xml" Id="R886bc915c27b48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d3ee37791b47eb"/>
    <p:sldLayoutId xmlns:r="http://schemas.openxmlformats.org/officeDocument/2006/relationships" id="2147483650" r:id="Rd6e03df984e74a5d"/>
    <p:sldLayoutId xmlns:r="http://schemas.openxmlformats.org/officeDocument/2006/relationships" id="2147483651" r:id="R82d04ac106434c73"/>
    <p:sldLayoutId xmlns:r="http://schemas.openxmlformats.org/officeDocument/2006/relationships" id="2147483652" r:id="R272a59ee62fc40f3"/>
    <p:sldLayoutId xmlns:r="http://schemas.openxmlformats.org/officeDocument/2006/relationships" id="2147483653" r:id="R2fd1950023fc49ea"/>
    <p:sldLayoutId xmlns:r="http://schemas.openxmlformats.org/officeDocument/2006/relationships" id="2147483654" r:id="R886bc915c27b48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2c5f9d2da64797" /><Relationship Type="http://schemas.openxmlformats.org/officeDocument/2006/relationships/image" Target="/ppt/media/image.png" Id="Rd482e6c129f4433e" /><Relationship Type="http://schemas.openxmlformats.org/officeDocument/2006/relationships/image" Target="/ppt/media/image.svg" Id="Rd28f44e7e3ab43b7" /><Relationship Type="http://schemas.openxmlformats.org/officeDocument/2006/relationships/image" Target="/ppt/media/image2.png" Id="R16f4e12f40d44845" /><Relationship Type="http://schemas.openxmlformats.org/officeDocument/2006/relationships/image" Target="/ppt/media/image2.svg" Id="R91a593e35070428a" /><Relationship Type="http://schemas.openxmlformats.org/officeDocument/2006/relationships/image" Target="/ppt/media/image3.png" Id="R4bd3809818234e1f" /><Relationship Type="http://schemas.openxmlformats.org/officeDocument/2006/relationships/image" Target="/ppt/media/image3.svg" Id="R4fa8cb95fd554ad0" /><Relationship Type="http://schemas.openxmlformats.org/officeDocument/2006/relationships/chart" Target="/ppt/slides/charts/chart1.xml" Id="R4b18d68ce79340da" /><Relationship Type="http://schemas.openxmlformats.org/officeDocument/2006/relationships/chart" Target="/ppt/slides/charts/chart2.xml" Id="R027ffba1080f4ec6" /><Relationship Type="http://schemas.openxmlformats.org/officeDocument/2006/relationships/chart" Target="/ppt/slides/charts/chart3.xml" Id="R6034ea75fc32401a" /><Relationship Type="http://schemas.openxmlformats.org/officeDocument/2006/relationships/notesSlide" Target="/ppt/notesSlides/notesSlide1.xml" Id="Re88aa06f39fa4ed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预训练 token（万亿）</c:v>
          </c:tx>
          <c:spPr>
            <a:solidFill xmlns:a="http://schemas.openxmlformats.org/drawingml/2006/main">
              <a:srgbClr val="3564C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6BCE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688CD4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3564C0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725" b="1">
                        <a:solidFill>
                          <a:srgbClr val="3564C0"/>
                        </a:solidFill>
                        <a:latin typeface="DengXian"/>
                        <a:ea typeface="DengXian"/>
                        <a:cs typeface="DengXian"/>
                      </a:rPr>
                      <a:t>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25" b="1">
                      <a:solidFill>
                        <a:srgbClr val="3564C0"/>
                      </a:solidFill>
                      <a:latin typeface="DengXian"/>
                      <a:ea typeface="DengXian"/>
                      <a:cs typeface="DengXian"/>
                    </a:defRPr>
                  </a:pPr>
                </a:p>
              </c:txPr>
              <c:showVal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725" b="1">
                        <a:solidFill>
                          <a:srgbClr val="3564C0"/>
                        </a:solidFill>
                        <a:latin typeface="DengXian"/>
                        <a:ea typeface="DengXian"/>
                        <a:cs typeface="DengXian"/>
                      </a:rPr>
                      <a:t>15.6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25" b="1">
                      <a:solidFill>
                        <a:srgbClr val="3564C0"/>
                      </a:solidFill>
                      <a:latin typeface="DengXian"/>
                      <a:ea typeface="DengXian"/>
                      <a:cs typeface="DengXian"/>
                    </a:defRPr>
                  </a:pPr>
                </a:p>
              </c:txPr>
              <c:showVal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725" b="1">
                        <a:solidFill>
                          <a:srgbClr val="3564C0"/>
                        </a:solidFill>
                        <a:latin typeface="DengXian"/>
                        <a:ea typeface="DengXian"/>
                        <a:cs typeface="DengXian"/>
                      </a:rPr>
                      <a:t>≈40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25" b="1">
                      <a:solidFill>
                        <a:srgbClr val="3564C0"/>
                      </a:solidFill>
                      <a:latin typeface="DengXian"/>
                      <a:ea typeface="DengXian"/>
                      <a:cs typeface="DengXian"/>
                    </a:defRPr>
                  </a:pPr>
                </a:p>
              </c:txPr>
              <c:showVal val="0"/>
            </c:dLbl>
          </c:dLbls>
          <c:cat>
            <c:strRef>
              <c:f>'Chart Data'!$A$2:$A$4</c:f>
              <c:strCache>
                <c:ptCount val="3"/>
                <c:pt idx="0">
                  <c:v>Llama 2
2023</c:v>
                </c:pt>
                <c:pt idx="1">
                  <c:v>Llama 3 405B
2024</c:v>
                </c:pt>
                <c:pt idx="2">
                  <c:v>Llama 4 Scout
2025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</c:v>
                </c:pt>
                <c:pt idx="1">
                  <c:v>15.6</c:v>
                </c:pt>
                <c:pt idx="2">
                  <c:v>40</c:v>
                </c:pt>
              </c:numCache>
            </c:numRef>
          </c:val>
        </c:ser>
        <c:dLbls>
          <c:numFmt formatCode="0.##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3564C0"/>
                  </a:solidFill>
                  <a:latin typeface="DengXian"/>
                  <a:ea typeface="DengXian"/>
                  <a:cs typeface="DengXi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5E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88A"/>
                </a:solidFill>
                <a:latin typeface="DengXian"/>
                <a:ea typeface="DengXian"/>
                <a:cs typeface="DengXian"/>
              </a:defRPr>
            </a:pPr>
          </a:p>
        </c:txPr>
        <c:crossAx val="48672768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DE5E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88A"/>
                </a:solidFill>
                <a:latin typeface="DengXian"/>
                <a:ea typeface="DengXian"/>
                <a:cs typeface="DengXian"/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平均任务完成度</c:v>
          </c:tx>
          <c:spPr>
            <a:solidFill xmlns:a="http://schemas.openxmlformats.org/drawingml/2006/main">
              <a:srgbClr val="15827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FD0C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5827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1,000 小时</c:v>
                </c:pt>
                <c:pt idx="1">
                  <c:v>20,000 小时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0.3</c:v>
                </c:pt>
                <c:pt idx="1">
                  <c:v>0.71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58277"/>
                  </a:solidFill>
                  <a:latin typeface="DengXian"/>
                  <a:ea typeface="DengXian"/>
                  <a:cs typeface="DengXi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5E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88A"/>
                </a:solidFill>
                <a:latin typeface="DengXian"/>
                <a:ea typeface="DengXian"/>
                <a:cs typeface="DengXian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DE5EB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88A"/>
                </a:solidFill>
                <a:latin typeface="DengXian"/>
                <a:ea typeface="DengXian"/>
                <a:cs typeface="DengXian"/>
              </a:defRPr>
            </a:pPr>
          </a:p>
        </c:txPr>
        <c:crossAx val="48650112"/>
        <c:crossBetween val="between"/>
        <c:majorUnit val="0.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客户直接 API token 处理速率</c:v>
          </c:tx>
          <c:spPr>
            <a:ln xmlns:a="http://schemas.openxmlformats.org/drawingml/2006/main" w="33338">
              <a:solidFill>
                <a:srgbClr val="7652A6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7652A6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725" b="1">
                        <a:solidFill>
                          <a:srgbClr val="7652A6"/>
                        </a:solidFill>
                        <a:latin typeface="DengXian"/>
                        <a:ea typeface="DengXian"/>
                        <a:cs typeface="DengXian"/>
                      </a:rPr>
                      <a:t>7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25" b="1">
                      <a:solidFill>
                        <a:srgbClr val="7652A6"/>
                      </a:solidFill>
                      <a:latin typeface="DengXian"/>
                      <a:ea typeface="DengXian"/>
                      <a:cs typeface="DengXian"/>
                    </a:defRPr>
                  </a:pPr>
                </a:p>
              </c:txPr>
              <c:showVal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725" b="1">
                        <a:solidFill>
                          <a:srgbClr val="7652A6"/>
                        </a:solidFill>
                        <a:latin typeface="DengXian"/>
                        <a:ea typeface="DengXian"/>
                        <a:cs typeface="DengXian"/>
                      </a:rPr>
                      <a:t>&gt;10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25" b="1">
                      <a:solidFill>
                        <a:srgbClr val="7652A6"/>
                      </a:solidFill>
                      <a:latin typeface="DengXian"/>
                      <a:ea typeface="DengXian"/>
                      <a:cs typeface="DengXian"/>
                    </a:defRPr>
                  </a:pPr>
                </a:p>
              </c:txPr>
              <c:showVal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725" b="1">
                        <a:solidFill>
                          <a:srgbClr val="7652A6"/>
                        </a:solidFill>
                        <a:latin typeface="DengXian"/>
                        <a:ea typeface="DengXian"/>
                        <a:cs typeface="DengXian"/>
                      </a:rPr>
                      <a:t>&gt;16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25" b="1">
                      <a:solidFill>
                        <a:srgbClr val="7652A6"/>
                      </a:solidFill>
                      <a:latin typeface="DengXian"/>
                      <a:ea typeface="DengXian"/>
                      <a:cs typeface="DengXian"/>
                    </a:defRPr>
                  </a:pPr>
                </a:p>
              </c:txPr>
              <c:showVal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725" b="1">
                        <a:solidFill>
                          <a:srgbClr val="7652A6"/>
                        </a:solidFill>
                        <a:latin typeface="DengXian"/>
                        <a:ea typeface="DengXian"/>
                        <a:cs typeface="DengXian"/>
                      </a:rPr>
                      <a:t>≈22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25" b="1">
                      <a:solidFill>
                        <a:srgbClr val="7652A6"/>
                      </a:solidFill>
                      <a:latin typeface="DengXian"/>
                      <a:ea typeface="DengXian"/>
                      <a:cs typeface="DengXian"/>
                    </a:defRPr>
                  </a:pPr>
                </a:p>
              </c:txPr>
              <c:showVal val="0"/>
            </c:dLbl>
            <c:numFmt formatCode="0.##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725" b="1">
                    <a:solidFill>
                      <a:srgbClr val="7652A6"/>
                    </a:solidFill>
                    <a:latin typeface="DengXian"/>
                    <a:ea typeface="DengXian"/>
                    <a:cs typeface="DengXi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'Chart Data'!$A$2:$A$5</c:f>
              <c:numCache>
                <c:formatCode>General</c:formatCode>
                <c:ptCount val="4"/>
                <c:pt idx="0">
                  <c:v>2025.10</c:v>
                </c:pt>
                <c:pt idx="1">
                  <c:v>2026.02</c:v>
                </c:pt>
                <c:pt idx="2">
                  <c:v>2026.04</c:v>
                </c:pt>
                <c:pt idx="3">
                  <c:v>2026.07</c:v>
                </c:pt>
              </c:numCache>
            </c:numRef>
          </c:cat>
          <c:val>
            <c:numRef>
              <c:f>'Chart Data'!$B$2:$B$5</c:f>
              <c:numCache>
                <c:formatCode>0</c:formatCode>
                <c:ptCount val="4"/>
                <c:pt idx="0">
                  <c:v>7</c:v>
                </c:pt>
                <c:pt idx="1">
                  <c:v>10</c:v>
                </c:pt>
                <c:pt idx="2">
                  <c:v>16</c:v>
                </c:pt>
                <c:pt idx="3">
                  <c:v>22</c:v>
                </c:pt>
              </c:numCache>
            </c:numRef>
          </c:val>
          <c:smooth val="0"/>
        </c:ser>
        <c:dLbls>
          <c:numFmt formatCode="0.##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7652A6"/>
                  </a:solidFill>
                  <a:latin typeface="DengXian"/>
                  <a:ea typeface="DengXian"/>
                  <a:cs typeface="DengXi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5E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88A"/>
                </a:solidFill>
                <a:latin typeface="DengXian"/>
                <a:ea typeface="DengXian"/>
                <a:cs typeface="DengXian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DE5E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88A"/>
                </a:solidFill>
                <a:latin typeface="DengXian"/>
                <a:ea typeface="DengXian"/>
                <a:cs typeface="DengXian"/>
              </a:defRPr>
            </a:pPr>
          </a:p>
        </c:txPr>
        <c:crossAx val="48650112"/>
        <c:crossBetween val="between"/>
        <c:majorUnit val="1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2027 AI 数据消费重心与数据工程挑战">
            <a:extLst xmlns:a="http://schemas.openxmlformats.org/drawingml/2006/main">
              <a:ext uri="{FF2B5EF4-FFF2-40B4-BE49-F238E27FC236}">
                <a16:creationId xmlns:a16="http://schemas.microsoft.com/office/drawing/2014/main" id="{2A54FBAD-3CD1-452D-B9B8-275C3DBC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419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525" b="1">
                <a:solidFill>
                  <a:srgbClr val="15283E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15283E"/>
                </a:solidFill>
                <a:latin typeface="DengXian"/>
                <a:ea typeface="DengXian"/>
                <a:cs typeface="DengXian"/>
              </a:defRPr>
            </a:pPr>
            <a:r>
              <a:rPr sz="3525" b="1">
                <a:solidFill>
                  <a:srgbClr val="15283E"/>
                </a:solidFill>
                <a:latin typeface="DengXian"/>
                <a:ea typeface="DengXian"/>
                <a:cs typeface="DengXian"/>
              </a:rPr>
              <a:t>2027 AI 数据消费重心与数据工程挑战</a:t>
            </a:r>
          </a:p>
        </p:txBody>
      </p:sp>
      <p:sp>
        <p:nvSpPr>
          <p:cNvPr id="2" name="研判：预训练持续扩容，新增工程价值集中在可验证样本、动作">
            <a:extLst xmlns:a="http://schemas.openxmlformats.org/drawingml/2006/main">
              <a:ext uri="{FF2B5EF4-FFF2-40B4-BE49-F238E27FC236}">
                <a16:creationId xmlns:a16="http://schemas.microsoft.com/office/drawing/2014/main" id="{63A1F8E8-C4B9-437A-8CE4-1EB0B52B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81075"/>
            <a:ext cx="1419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15283E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83E"/>
                </a:solidFill>
                <a:latin typeface="DengXian"/>
                <a:ea typeface="DengXian"/>
                <a:cs typeface="DengXian"/>
              </a:defRPr>
            </a:pPr>
            <a:r>
              <a:rPr sz="2175" b="0">
                <a:solidFill>
                  <a:srgbClr val="15283E"/>
                </a:solidFill>
                <a:latin typeface="DengXian"/>
                <a:ea typeface="DengXian"/>
                <a:cs typeface="DengXian"/>
              </a:rPr>
              <a:t>研判：预训练持续扩容，新增工程价值集中在可验证样本、动作数据与在线上下文</a:t>
            </a:r>
          </a:p>
        </p:txBody>
      </p:sp>
      <p:sp>
        <p:nvSpPr>
          <p:cNvPr id="3" name="依据截至 2026-10-12 的一手公开证据；2027">
            <a:extLst xmlns:a="http://schemas.openxmlformats.org/drawingml/2006/main">
              <a:ext uri="{FF2B5EF4-FFF2-40B4-BE49-F238E27FC236}">
                <a16:creationId xmlns:a16="http://schemas.microsoft.com/office/drawing/2014/main" id="{8A92F369-13B9-480F-9315-CF08557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419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8788A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8788A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68788A"/>
                </a:solidFill>
                <a:latin typeface="DengXian"/>
                <a:ea typeface="DengXian"/>
                <a:cs typeface="DengXian"/>
              </a:rPr>
              <a:t>依据截至 2026-10-12 的一手公开证据；2027 为规划判断，图表均为历史披露或实验结果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BAD9C-39A6-41B7-8407-BB439381E7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2e6c129f4433e">
            <a:extLst>
              <a:ext uri="{96DAC541-7B7A-43D3-8B79-37D633B846F1}">
                <asvg:svgBlip xmlns:asvg="http://schemas.microsoft.com/office/drawing/2016/SVG/main" r:embed="Rd28f44e7e3ab43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1924050"/>
            <a:ext cx="333375" cy="333375"/>
          </a:xfrm>
          <a:prstGeom xmlns:a="http://schemas.openxmlformats.org/drawingml/2006/main" prst="rect">
            <a:avLst/>
          </a:prstGeom>
        </p:spPr>
      </p:pic>
      <p:sp>
        <p:nvSpPr>
          <p:cNvPr id="5" name="训练扩容与可验证样本">
            <a:extLst xmlns:a="http://schemas.openxmlformats.org/drawingml/2006/main">
              <a:ext uri="{FF2B5EF4-FFF2-40B4-BE49-F238E27FC236}">
                <a16:creationId xmlns:a16="http://schemas.microsoft.com/office/drawing/2014/main" id="{56AD3D52-05F5-4459-A9D7-3D64FA94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857375"/>
            <a:ext cx="3971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3564C0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564C0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3564C0"/>
                </a:solidFill>
                <a:latin typeface="DengXian"/>
                <a:ea typeface="DengXian"/>
                <a:cs typeface="DengXian"/>
              </a:rPr>
              <a:t>训练扩容与可验证样本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6739B-2755-4BC5-A5A7-9E9B6BE42B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4e12f40d44845">
            <a:extLst>
              <a:ext uri="{96DAC541-7B7A-43D3-8B79-37D633B846F1}">
                <asvg:svgBlip xmlns:asvg="http://schemas.microsoft.com/office/drawing/2016/SVG/main" r:embed="R91a593e3507042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10200" y="1924050"/>
            <a:ext cx="333375" cy="333375"/>
          </a:xfrm>
          <a:prstGeom xmlns:a="http://schemas.openxmlformats.org/drawingml/2006/main" prst="rect">
            <a:avLst/>
          </a:prstGeom>
        </p:spPr>
      </p:pic>
      <p:sp>
        <p:nvSpPr>
          <p:cNvPr id="7" name="视频与动作数据">
            <a:extLst xmlns:a="http://schemas.openxmlformats.org/drawingml/2006/main">
              <a:ext uri="{FF2B5EF4-FFF2-40B4-BE49-F238E27FC236}">
                <a16:creationId xmlns:a16="http://schemas.microsoft.com/office/drawing/2014/main" id="{E601180A-5A0D-4213-9D6A-943A9640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857375"/>
            <a:ext cx="3971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58277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58277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158277"/>
                </a:solidFill>
                <a:latin typeface="DengXian"/>
                <a:ea typeface="DengXian"/>
                <a:cs typeface="DengXian"/>
              </a:rPr>
              <a:t>视频与动作数据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E33B6-8A13-4A68-B2F8-FE2A741CE5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d3809818234e1f">
            <a:extLst>
              <a:ext uri="{96DAC541-7B7A-43D3-8B79-37D633B846F1}">
                <asvg:svgBlip xmlns:asvg="http://schemas.microsoft.com/office/drawing/2016/SVG/main" r:embed="R4fa8cb95fd554a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48900" y="1924050"/>
            <a:ext cx="333375" cy="333375"/>
          </a:xfrm>
          <a:prstGeom xmlns:a="http://schemas.openxmlformats.org/drawingml/2006/main" prst="rect">
            <a:avLst/>
          </a:prstGeom>
        </p:spPr>
      </p:pic>
      <p:sp>
        <p:nvSpPr>
          <p:cNvPr id="9" name="持续更新的企业上下文">
            <a:extLst xmlns:a="http://schemas.openxmlformats.org/drawingml/2006/main">
              <a:ext uri="{FF2B5EF4-FFF2-40B4-BE49-F238E27FC236}">
                <a16:creationId xmlns:a16="http://schemas.microsoft.com/office/drawing/2014/main" id="{FD24E089-00AB-4DFA-8A9D-76B638A7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857375"/>
            <a:ext cx="3971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7652A6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652A6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7652A6"/>
                </a:solidFill>
                <a:latin typeface="DengXian"/>
                <a:ea typeface="DengXian"/>
                <a:cs typeface="DengXian"/>
              </a:rPr>
              <a:t>持续更新的企业上下文</a:t>
            </a:r>
          </a:p>
        </p:txBody>
      </p:sp>
      <p:sp>
        <p:nvSpPr>
          <p:cNvPr id="10" name="Meta 公开模型预训练规模 [1]">
            <a:extLst xmlns:a="http://schemas.openxmlformats.org/drawingml/2006/main">
              <a:ext uri="{FF2B5EF4-FFF2-40B4-BE49-F238E27FC236}">
                <a16:creationId xmlns:a16="http://schemas.microsoft.com/office/drawing/2014/main" id="{DF6F403C-37DC-4D1B-A543-B3101185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41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5283E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283E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15283E"/>
                </a:solidFill>
                <a:latin typeface="DengXian"/>
                <a:ea typeface="DengXian"/>
                <a:cs typeface="DengXian"/>
              </a:rPr>
              <a:t>Meta 公开模型预训练规模 [1]</a:t>
            </a:r>
          </a:p>
        </p:txBody>
      </p:sp>
      <p:sp>
        <p:nvSpPr>
          <p:cNvPr id="11" name="万亿 tokens">
            <a:extLst xmlns:a="http://schemas.openxmlformats.org/drawingml/2006/main">
              <a:ext uri="{FF2B5EF4-FFF2-40B4-BE49-F238E27FC236}">
                <a16:creationId xmlns:a16="http://schemas.microsoft.com/office/drawing/2014/main" id="{AE03A3B4-49B7-4938-A3BA-555AA162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8788A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8788A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8788A"/>
                </a:solidFill>
                <a:latin typeface="DengXian"/>
                <a:ea typeface="DengXian"/>
                <a:cs typeface="DengXian"/>
              </a:rPr>
              <a:t>万亿 tokens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8D504134-1C4F-4EFE-864E-1F1DC02BB22C}"/>
              </a:ext>
            </a:extLst>
          </p:cNvPr>
          <p:cNvGraphicFramePr/>
          <p:nvPr/>
        </p:nvGraphicFramePr>
        <p:xfrm>
          <a:off xmlns:a="http://schemas.openxmlformats.org/drawingml/2006/main" x="533400" y="2924175"/>
          <a:ext xmlns:a="http://schemas.openxmlformats.org/drawingml/2006/main" cx="4467225" cy="1943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18d68ce79340da"/>
          </a:graphicData>
        </a:graphic>
      </p:graphicFrame>
      <p:sp>
        <p:nvSpPr>
          <p:cNvPr id="13" name="EgoScale 人类视频规模实验 [3]">
            <a:extLst xmlns:a="http://schemas.openxmlformats.org/drawingml/2006/main">
              <a:ext uri="{FF2B5EF4-FFF2-40B4-BE49-F238E27FC236}">
                <a16:creationId xmlns:a16="http://schemas.microsoft.com/office/drawing/2014/main" id="{93E86DC1-BA13-4099-95B3-FDD6B5BC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81250"/>
            <a:ext cx="441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5283E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283E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15283E"/>
                </a:solidFill>
                <a:latin typeface="DengXian"/>
                <a:ea typeface="DengXian"/>
                <a:cs typeface="DengXian"/>
              </a:rPr>
              <a:t>EgoScale 人类视频规模实验 [3]</a:t>
            </a:r>
          </a:p>
        </p:txBody>
      </p:sp>
      <p:sp>
        <p:nvSpPr>
          <p:cNvPr id="14" name="平均任务完成度（含部分得分）">
            <a:extLst xmlns:a="http://schemas.openxmlformats.org/drawingml/2006/main">
              <a:ext uri="{FF2B5EF4-FFF2-40B4-BE49-F238E27FC236}">
                <a16:creationId xmlns:a16="http://schemas.microsoft.com/office/drawing/2014/main" id="{C6FB39D4-7550-46D3-9B55-3137ACDE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8605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8788A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8788A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8788A"/>
                </a:solidFill>
                <a:latin typeface="DengXian"/>
                <a:ea typeface="DengXian"/>
                <a:cs typeface="DengXian"/>
              </a:rPr>
              <a:t>平均任务完成度（含部分得分）</a:t>
            </a:r>
          </a:p>
        </p:txBody>
      </p:sp>
      <p:graphicFrame>
        <p:nvGraphicFramePr>
          <p:cNvPr id="15" name="Chart">
            <a:extLst xmlns:a="http://schemas.openxmlformats.org/drawingml/2006/main">
              <a:ext uri="{FF2B5EF4-FFF2-40B4-BE49-F238E27FC236}">
                <a16:creationId xmlns:a16="http://schemas.microsoft.com/office/drawing/2014/main" id="{0ADD7321-F22F-4B14-8C44-EA571306F691}"/>
              </a:ext>
            </a:extLst>
          </p:cNvPr>
          <p:cNvGraphicFramePr/>
          <p:nvPr/>
        </p:nvGraphicFramePr>
        <p:xfrm>
          <a:off xmlns:a="http://schemas.openxmlformats.org/drawingml/2006/main" x="5372100" y="2924175"/>
          <a:ext xmlns:a="http://schemas.openxmlformats.org/drawingml/2006/main" cx="4467225" cy="1943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7ffba1080f4ec6"/>
          </a:graphicData>
        </a:graphic>
      </p:graphicFrame>
      <p:sp>
        <p:nvSpPr>
          <p:cNvPr id="16" name="Google 模型 API 消费速率 [4]">
            <a:extLst xmlns:a="http://schemas.openxmlformats.org/drawingml/2006/main">
              <a:ext uri="{FF2B5EF4-FFF2-40B4-BE49-F238E27FC236}">
                <a16:creationId xmlns:a16="http://schemas.microsoft.com/office/drawing/2014/main" id="{F36B0C04-6E9C-4F5C-BA7E-FD5D999C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381250"/>
            <a:ext cx="441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5283E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283E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15283E"/>
                </a:solidFill>
                <a:latin typeface="DengXian"/>
                <a:ea typeface="DengXian"/>
                <a:cs typeface="DengXian"/>
              </a:rPr>
              <a:t>Google 模型 API 消费速率 [4]</a:t>
            </a:r>
          </a:p>
        </p:txBody>
      </p:sp>
      <p:sp>
        <p:nvSpPr>
          <p:cNvPr id="17" name="十亿 tokens / 分钟">
            <a:extLst xmlns:a="http://schemas.openxmlformats.org/drawingml/2006/main">
              <a:ext uri="{FF2B5EF4-FFF2-40B4-BE49-F238E27FC236}">
                <a16:creationId xmlns:a16="http://schemas.microsoft.com/office/drawing/2014/main" id="{8EB95348-93A0-43E2-9499-8A1F3471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8605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8788A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8788A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8788A"/>
                </a:solidFill>
                <a:latin typeface="DengXian"/>
                <a:ea typeface="DengXian"/>
                <a:cs typeface="DengXian"/>
              </a:rPr>
              <a:t>十亿 tokens / 分钟</a:t>
            </a:r>
          </a:p>
        </p:txBody>
      </p:sp>
      <p:graphicFrame>
        <p:nvGraphicFramePr>
          <p:cNvPr id="18" name="Chart">
            <a:extLst xmlns:a="http://schemas.openxmlformats.org/drawingml/2006/main">
              <a:ext uri="{FF2B5EF4-FFF2-40B4-BE49-F238E27FC236}">
                <a16:creationId xmlns:a16="http://schemas.microsoft.com/office/drawing/2014/main" id="{9E8F8F66-5125-4E80-AFBC-0519F42DD169}"/>
              </a:ext>
            </a:extLst>
          </p:cNvPr>
          <p:cNvGraphicFramePr/>
          <p:nvPr/>
        </p:nvGraphicFramePr>
        <p:xfrm>
          <a:off xmlns:a="http://schemas.openxmlformats.org/drawingml/2006/main" x="10210800" y="2924175"/>
          <a:ext xmlns:a="http://schemas.openxmlformats.org/drawingml/2006/main" cx="4467225" cy="1943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34ea75fc32401a"/>
          </a:graphicData>
        </a:graphic>
      </p:graphicFrame>
      <p:sp>
        <p:nvSpPr>
          <p:cNvPr id="19" name="公开模型案例，tokenizer / 模态不同；非全球总">
            <a:extLst xmlns:a="http://schemas.openxmlformats.org/drawingml/2006/main">
              <a:ext uri="{FF2B5EF4-FFF2-40B4-BE49-F238E27FC236}">
                <a16:creationId xmlns:a16="http://schemas.microsoft.com/office/drawing/2014/main" id="{91D1FADF-C663-4CC8-9050-FCD81264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67275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68788A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8788A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68788A"/>
                </a:solidFill>
                <a:latin typeface="DengXian"/>
                <a:ea typeface="DengXian"/>
                <a:cs typeface="DengXian"/>
              </a:rPr>
              <a:t>公开模型案例，tokenizer / 模态不同；非全球总量</a:t>
            </a:r>
          </a:p>
        </p:txBody>
      </p:sp>
      <p:sp>
        <p:nvSpPr>
          <p:cNvPr id="20" name="同一方法的规模实验端点；完成度不等于成功率">
            <a:extLst xmlns:a="http://schemas.openxmlformats.org/drawingml/2006/main">
              <a:ext uri="{FF2B5EF4-FFF2-40B4-BE49-F238E27FC236}">
                <a16:creationId xmlns:a16="http://schemas.microsoft.com/office/drawing/2014/main" id="{84B8FB48-4145-40F5-9739-F595C8B2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867275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68788A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8788A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68788A"/>
                </a:solidFill>
                <a:latin typeface="DengXian"/>
                <a:ea typeface="DengXian"/>
                <a:cs typeface="DengXian"/>
              </a:rPr>
              <a:t>同一方法的规模实验端点；完成度不等于成功率</a:t>
            </a:r>
          </a:p>
        </p:txBody>
      </p:sp>
      <p:sp>
        <p:nvSpPr>
          <p:cNvPr id="21" name="按披露日期；&gt; 为下界、≈ 为近似；非入仓数据量">
            <a:extLst xmlns:a="http://schemas.openxmlformats.org/drawingml/2006/main">
              <a:ext uri="{FF2B5EF4-FFF2-40B4-BE49-F238E27FC236}">
                <a16:creationId xmlns:a16="http://schemas.microsoft.com/office/drawing/2014/main" id="{E0181E01-1E10-4974-AD3C-96308812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867275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68788A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8788A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68788A"/>
                </a:solidFill>
                <a:latin typeface="DengXian"/>
                <a:ea typeface="DengXian"/>
                <a:cs typeface="DengXian"/>
              </a:rPr>
              <a:t>按披露日期；&gt; 为下界、≈ 为近似；非入仓数据量</a:t>
            </a:r>
          </a:p>
        </p:txBody>
      </p:sp>
      <p:sp>
        <p:nvSpPr>
          <p:cNvPr id="22" name="Phi-4 预训练 token 中生成类≥55%&#10;R1 ">
            <a:extLst xmlns:a="http://schemas.openxmlformats.org/drawingml/2006/main">
              <a:ext uri="{FF2B5EF4-FFF2-40B4-BE49-F238E27FC236}">
                <a16:creationId xmlns:a16="http://schemas.microsoft.com/office/drawing/2014/main" id="{129D49AF-0471-432D-BFEC-84507168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441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5283E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5283E"/>
                </a:solidFill>
                <a:latin typeface="DengXian"/>
                <a:ea typeface="DengXian"/>
                <a:cs typeface="DengXian"/>
              </a:defRPr>
            </a:pPr>
            <a:r>
              <a:rPr sz="1650" b="0">
                <a:solidFill>
                  <a:srgbClr val="15283E"/>
                </a:solidFill>
                <a:latin typeface="DengXian"/>
                <a:ea typeface="DengXian"/>
                <a:cs typeface="DengXian"/>
              </a:rPr>
              <a:t>Phi-4 预训练 token 中生成类≥55%</a:t>
            </a:r>
          </a:p>
          <a:p xmlns:a="http://schemas.openxmlformats.org/drawingml/2006/main">
            <a:pPr algn="l">
              <a:defRPr sz="1650" b="0">
                <a:solidFill>
                  <a:srgbClr val="15283E"/>
                </a:solidFill>
                <a:latin typeface="DengXian"/>
                <a:ea typeface="DengXian"/>
                <a:cs typeface="DengXian"/>
              </a:defRPr>
            </a:pPr>
            <a:r>
              <a:rPr sz="1650" b="0">
                <a:solidFill>
                  <a:srgbClr val="15283E"/>
                </a:solidFill>
                <a:latin typeface="DengXian"/>
                <a:ea typeface="DengXian"/>
                <a:cs typeface="DengXian"/>
              </a:rPr>
              <a:t>R1 使用约 80 万条后训练 SFT 样本 [2]</a:t>
            </a:r>
          </a:p>
        </p:txBody>
      </p:sp>
      <p:sp>
        <p:nvSpPr>
          <p:cNvPr id="23" name="NVIDIA 等以 SLAM 和手部姿态估计，&#10;将第一视">
            <a:extLst xmlns:a="http://schemas.openxmlformats.org/drawingml/2006/main">
              <a:ext uri="{FF2B5EF4-FFF2-40B4-BE49-F238E27FC236}">
                <a16:creationId xmlns:a16="http://schemas.microsoft.com/office/drawing/2014/main" id="{F0620EE5-29CD-4133-B4AA-E0F03E9D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238750"/>
            <a:ext cx="441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5283E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5283E"/>
                </a:solidFill>
                <a:latin typeface="DengXian"/>
                <a:ea typeface="DengXian"/>
                <a:cs typeface="DengXian"/>
              </a:defRPr>
            </a:pPr>
            <a:r>
              <a:rPr sz="1650" b="0">
                <a:solidFill>
                  <a:srgbClr val="15283E"/>
                </a:solidFill>
                <a:latin typeface="DengXian"/>
                <a:ea typeface="DengXian"/>
                <a:cs typeface="DengXian"/>
              </a:rPr>
              <a:t>NVIDIA 等以 SLAM 和手部姿态估计，</a:t>
            </a:r>
          </a:p>
          <a:p xmlns:a="http://schemas.openxmlformats.org/drawingml/2006/main">
            <a:pPr algn="l">
              <a:defRPr sz="1650" b="0">
                <a:solidFill>
                  <a:srgbClr val="15283E"/>
                </a:solidFill>
                <a:latin typeface="DengXian"/>
                <a:ea typeface="DengXian"/>
                <a:cs typeface="DengXian"/>
              </a:defRPr>
            </a:pPr>
            <a:r>
              <a:rPr sz="1650" b="0">
                <a:solidFill>
                  <a:srgbClr val="15283E"/>
                </a:solidFill>
                <a:latin typeface="DengXian"/>
                <a:ea typeface="DengXian"/>
                <a:cs typeface="DengXian"/>
              </a:rPr>
              <a:t>将第一视角视频转成动作监督 [3]</a:t>
            </a:r>
          </a:p>
        </p:txBody>
      </p:sp>
      <p:sp>
        <p:nvSpPr>
          <p:cNvPr id="24" name="Google 明确将企业数据用于&#10;Agent 的业务推理">
            <a:extLst xmlns:a="http://schemas.openxmlformats.org/drawingml/2006/main">
              <a:ext uri="{FF2B5EF4-FFF2-40B4-BE49-F238E27FC236}">
                <a16:creationId xmlns:a16="http://schemas.microsoft.com/office/drawing/2014/main" id="{6804DCB5-BA2E-4E45-93EC-87385308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238750"/>
            <a:ext cx="441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5283E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5283E"/>
                </a:solidFill>
                <a:latin typeface="DengXian"/>
                <a:ea typeface="DengXian"/>
                <a:cs typeface="DengXian"/>
              </a:defRPr>
            </a:pPr>
            <a:r>
              <a:rPr sz="1650" b="0">
                <a:solidFill>
                  <a:srgbClr val="15283E"/>
                </a:solidFill>
                <a:latin typeface="DengXian"/>
                <a:ea typeface="DengXian"/>
                <a:cs typeface="DengXian"/>
              </a:rPr>
              <a:t>Google 明确将企业数据用于</a:t>
            </a:r>
          </a:p>
          <a:p xmlns:a="http://schemas.openxmlformats.org/drawingml/2006/main">
            <a:pPr algn="l">
              <a:defRPr sz="1650" b="0">
                <a:solidFill>
                  <a:srgbClr val="15283E"/>
                </a:solidFill>
                <a:latin typeface="DengXian"/>
                <a:ea typeface="DengXian"/>
                <a:cs typeface="DengXian"/>
              </a:defRPr>
            </a:pPr>
            <a:r>
              <a:rPr sz="1650" b="0">
                <a:solidFill>
                  <a:srgbClr val="15283E"/>
                </a:solidFill>
                <a:latin typeface="DengXian"/>
                <a:ea typeface="DengXian"/>
                <a:cs typeface="DengXian"/>
              </a:rPr>
              <a:t>Agent 的业务推理与上下文构建 [4]</a:t>
            </a:r>
          </a:p>
        </p:txBody>
      </p:sp>
      <p:sp>
        <p:nvSpPr>
          <p:cNvPr id="25" name="产生收集">
            <a:extLst xmlns:a="http://schemas.openxmlformats.org/drawingml/2006/main">
              <a:ext uri="{FF2B5EF4-FFF2-40B4-BE49-F238E27FC236}">
                <a16:creationId xmlns:a16="http://schemas.microsoft.com/office/drawing/2014/main" id="{333996E5-B108-44C3-ADBB-B1F556AB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564C0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3564C0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3564C0"/>
                </a:solidFill>
                <a:latin typeface="DengXian"/>
                <a:ea typeface="DengXian"/>
                <a:cs typeface="DengXian"/>
              </a:rPr>
              <a:t>产生收集</a:t>
            </a:r>
          </a:p>
        </p:txBody>
      </p:sp>
      <p:sp>
        <p:nvSpPr>
          <p:cNvPr id="26" name="真实种子与多样化合成">
            <a:extLst xmlns:a="http://schemas.openxmlformats.org/drawingml/2006/main">
              <a:ext uri="{FF2B5EF4-FFF2-40B4-BE49-F238E27FC236}">
                <a16:creationId xmlns:a16="http://schemas.microsoft.com/office/drawing/2014/main" id="{08060B4F-9D76-4FD9-9189-01862E8A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953125"/>
            <a:ext cx="3438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31445A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31445A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31445A"/>
                </a:solidFill>
                <a:latin typeface="DengXian"/>
                <a:ea typeface="DengXian"/>
                <a:cs typeface="DengXian"/>
              </a:rPr>
              <a:t>真实种子与多样化合成</a:t>
            </a:r>
          </a:p>
        </p:txBody>
      </p:sp>
      <p:sp>
        <p:nvSpPr>
          <p:cNvPr id="27" name="加工重点">
            <a:extLst xmlns:a="http://schemas.openxmlformats.org/drawingml/2006/main">
              <a:ext uri="{FF2B5EF4-FFF2-40B4-BE49-F238E27FC236}">
                <a16:creationId xmlns:a16="http://schemas.microsoft.com/office/drawing/2014/main" id="{FDDE447E-6CF7-4699-A157-AB0F8853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564C0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3564C0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3564C0"/>
                </a:solidFill>
                <a:latin typeface="DengXian"/>
                <a:ea typeface="DengXian"/>
                <a:cs typeface="DengXian"/>
              </a:rPr>
              <a:t>加工重点</a:t>
            </a:r>
          </a:p>
        </p:txBody>
      </p:sp>
      <p:sp>
        <p:nvSpPr>
          <p:cNvPr id="28" name="生成后校验、难例筛选、版本配方">
            <a:extLst xmlns:a="http://schemas.openxmlformats.org/drawingml/2006/main">
              <a:ext uri="{FF2B5EF4-FFF2-40B4-BE49-F238E27FC236}">
                <a16:creationId xmlns:a16="http://schemas.microsoft.com/office/drawing/2014/main" id="{934F39E2-66C8-47B9-B2CF-083655BE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6343650"/>
            <a:ext cx="3438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31445A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31445A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31445A"/>
                </a:solidFill>
                <a:latin typeface="DengXian"/>
                <a:ea typeface="DengXian"/>
                <a:cs typeface="DengXian"/>
              </a:rPr>
              <a:t>生成后校验、难例筛选、版本配方</a:t>
            </a:r>
          </a:p>
        </p:txBody>
      </p:sp>
      <p:sp>
        <p:nvSpPr>
          <p:cNvPr id="29" name="核心挑战">
            <a:extLst xmlns:a="http://schemas.openxmlformats.org/drawingml/2006/main">
              <a:ext uri="{FF2B5EF4-FFF2-40B4-BE49-F238E27FC236}">
                <a16:creationId xmlns:a16="http://schemas.microsoft.com/office/drawing/2014/main" id="{AE638446-8A68-44AD-8CC0-D0165309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34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564C0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3564C0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3564C0"/>
                </a:solidFill>
                <a:latin typeface="DengXian"/>
                <a:ea typeface="DengXian"/>
                <a:cs typeface="DengXian"/>
              </a:rPr>
              <a:t>核心挑战</a:t>
            </a:r>
          </a:p>
        </p:txBody>
      </p:sp>
      <p:sp>
        <p:nvSpPr>
          <p:cNvPr id="30" name="递归合成退化、奖励偏差、评测污染">
            <a:extLst xmlns:a="http://schemas.openxmlformats.org/drawingml/2006/main">
              <a:ext uri="{FF2B5EF4-FFF2-40B4-BE49-F238E27FC236}">
                <a16:creationId xmlns:a16="http://schemas.microsoft.com/office/drawing/2014/main" id="{078FBB92-CEBB-409E-8AD2-F83B6633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6734175"/>
            <a:ext cx="3438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31445A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31445A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31445A"/>
                </a:solidFill>
                <a:latin typeface="DengXian"/>
                <a:ea typeface="DengXian"/>
                <a:cs typeface="DengXian"/>
              </a:rPr>
              <a:t>递归合成退化、奖励偏差、评测污染</a:t>
            </a:r>
          </a:p>
        </p:txBody>
      </p:sp>
      <p:sp>
        <p:nvSpPr>
          <p:cNvPr id="31" name="产生收集">
            <a:extLst xmlns:a="http://schemas.openxmlformats.org/drawingml/2006/main">
              <a:ext uri="{FF2B5EF4-FFF2-40B4-BE49-F238E27FC236}">
                <a16:creationId xmlns:a16="http://schemas.microsoft.com/office/drawing/2014/main" id="{5B6B4310-B9CE-47A7-BEC0-167486AD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9531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58277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58277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158277"/>
                </a:solidFill>
                <a:latin typeface="DengXian"/>
                <a:ea typeface="DengXian"/>
                <a:cs typeface="DengXian"/>
              </a:rPr>
              <a:t>产生收集</a:t>
            </a:r>
          </a:p>
        </p:txBody>
      </p:sp>
      <p:sp>
        <p:nvSpPr>
          <p:cNvPr id="32" name="第一视角视频、遥操作与仿真">
            <a:extLst xmlns:a="http://schemas.openxmlformats.org/drawingml/2006/main">
              <a:ext uri="{FF2B5EF4-FFF2-40B4-BE49-F238E27FC236}">
                <a16:creationId xmlns:a16="http://schemas.microsoft.com/office/drawing/2014/main" id="{F7138AC3-D75B-4BE2-92E1-B74C5ADC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953125"/>
            <a:ext cx="3438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31445A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31445A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31445A"/>
                </a:solidFill>
                <a:latin typeface="DengXian"/>
                <a:ea typeface="DengXian"/>
                <a:cs typeface="DengXian"/>
              </a:rPr>
              <a:t>第一视角视频、遥操作与仿真</a:t>
            </a:r>
          </a:p>
        </p:txBody>
      </p:sp>
      <p:sp>
        <p:nvSpPr>
          <p:cNvPr id="33" name="加工重点">
            <a:extLst xmlns:a="http://schemas.openxmlformats.org/drawingml/2006/main">
              <a:ext uri="{FF2B5EF4-FFF2-40B4-BE49-F238E27FC236}">
                <a16:creationId xmlns:a16="http://schemas.microsoft.com/office/drawing/2014/main" id="{0FFD59A0-17CA-4EE0-BAF5-97E432C0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3436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58277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58277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158277"/>
                </a:solidFill>
                <a:latin typeface="DengXian"/>
                <a:ea typeface="DengXian"/>
                <a:cs typeface="DengXian"/>
              </a:rPr>
              <a:t>加工重点</a:t>
            </a:r>
          </a:p>
        </p:txBody>
      </p:sp>
      <p:sp>
        <p:nvSpPr>
          <p:cNvPr id="34" name="时序对齐、姿态与动作标注、切片">
            <a:extLst xmlns:a="http://schemas.openxmlformats.org/drawingml/2006/main">
              <a:ext uri="{FF2B5EF4-FFF2-40B4-BE49-F238E27FC236}">
                <a16:creationId xmlns:a16="http://schemas.microsoft.com/office/drawing/2014/main" id="{BC8A4847-FFBA-462E-BA48-577C316E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6343650"/>
            <a:ext cx="3438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31445A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31445A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31445A"/>
                </a:solidFill>
                <a:latin typeface="DengXian"/>
                <a:ea typeface="DengXian"/>
                <a:cs typeface="DengXian"/>
              </a:rPr>
              <a:t>时序对齐、姿态与动作标注、切片</a:t>
            </a:r>
          </a:p>
        </p:txBody>
      </p:sp>
      <p:sp>
        <p:nvSpPr>
          <p:cNvPr id="35" name="核心挑战">
            <a:extLst xmlns:a="http://schemas.openxmlformats.org/drawingml/2006/main">
              <a:ext uri="{FF2B5EF4-FFF2-40B4-BE49-F238E27FC236}">
                <a16:creationId xmlns:a16="http://schemas.microsoft.com/office/drawing/2014/main" id="{CDDF477C-76B1-43FB-85D1-E8DE108C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734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58277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58277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158277"/>
                </a:solidFill>
                <a:latin typeface="DengXian"/>
                <a:ea typeface="DengXian"/>
                <a:cs typeface="DengXian"/>
              </a:rPr>
              <a:t>核心挑战</a:t>
            </a:r>
          </a:p>
        </p:txBody>
      </p:sp>
      <p:sp>
        <p:nvSpPr>
          <p:cNvPr id="36" name="动作标签误差、长尾覆盖、处理吞吐">
            <a:extLst xmlns:a="http://schemas.openxmlformats.org/drawingml/2006/main">
              <a:ext uri="{FF2B5EF4-FFF2-40B4-BE49-F238E27FC236}">
                <a16:creationId xmlns:a16="http://schemas.microsoft.com/office/drawing/2014/main" id="{B9453435-B326-4ABA-B6C3-53619FC5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6734175"/>
            <a:ext cx="3438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31445A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31445A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31445A"/>
                </a:solidFill>
                <a:latin typeface="DengXian"/>
                <a:ea typeface="DengXian"/>
                <a:cs typeface="DengXian"/>
              </a:rPr>
              <a:t>动作标签误差、长尾覆盖、处理吞吐</a:t>
            </a:r>
          </a:p>
        </p:txBody>
      </p:sp>
      <p:sp>
        <p:nvSpPr>
          <p:cNvPr id="37" name="产生收集">
            <a:extLst xmlns:a="http://schemas.openxmlformats.org/drawingml/2006/main">
              <a:ext uri="{FF2B5EF4-FFF2-40B4-BE49-F238E27FC236}">
                <a16:creationId xmlns:a16="http://schemas.microsoft.com/office/drawing/2014/main" id="{D9F8DE21-32F3-4F72-950F-E69E0784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9531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7652A6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7652A6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7652A6"/>
                </a:solidFill>
                <a:latin typeface="DengXian"/>
                <a:ea typeface="DengXian"/>
                <a:cs typeface="DengXian"/>
              </a:rPr>
              <a:t>产生收集</a:t>
            </a:r>
          </a:p>
        </p:txBody>
      </p:sp>
      <p:sp>
        <p:nvSpPr>
          <p:cNvPr id="38" name="业务表、文档、事件和交互反馈">
            <a:extLst xmlns:a="http://schemas.openxmlformats.org/drawingml/2006/main">
              <a:ext uri="{FF2B5EF4-FFF2-40B4-BE49-F238E27FC236}">
                <a16:creationId xmlns:a16="http://schemas.microsoft.com/office/drawing/2014/main" id="{396A25E4-6ABA-4971-9DC7-942A0212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5953125"/>
            <a:ext cx="3438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31445A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31445A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31445A"/>
                </a:solidFill>
                <a:latin typeface="DengXian"/>
                <a:ea typeface="DengXian"/>
                <a:cs typeface="DengXian"/>
              </a:rPr>
              <a:t>业务表、文档、事件和交互反馈</a:t>
            </a:r>
          </a:p>
        </p:txBody>
      </p:sp>
      <p:sp>
        <p:nvSpPr>
          <p:cNvPr id="39" name="加工重点">
            <a:extLst xmlns:a="http://schemas.openxmlformats.org/drawingml/2006/main">
              <a:ext uri="{FF2B5EF4-FFF2-40B4-BE49-F238E27FC236}">
                <a16:creationId xmlns:a16="http://schemas.microsoft.com/office/drawing/2014/main" id="{3262FD3C-4AC5-4340-BE6E-13DAC759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3436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7652A6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7652A6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7652A6"/>
                </a:solidFill>
                <a:latin typeface="DengXian"/>
                <a:ea typeface="DengXian"/>
                <a:cs typeface="DengXian"/>
              </a:rPr>
              <a:t>加工重点</a:t>
            </a:r>
          </a:p>
        </p:txBody>
      </p:sp>
      <p:sp>
        <p:nvSpPr>
          <p:cNvPr id="40" name="增量解析与索引、语义和权限继承">
            <a:extLst xmlns:a="http://schemas.openxmlformats.org/drawingml/2006/main">
              <a:ext uri="{FF2B5EF4-FFF2-40B4-BE49-F238E27FC236}">
                <a16:creationId xmlns:a16="http://schemas.microsoft.com/office/drawing/2014/main" id="{C82B8BF0-CD00-4ADE-B35C-B3B6B12A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6343650"/>
            <a:ext cx="3438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31445A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31445A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31445A"/>
                </a:solidFill>
                <a:latin typeface="DengXian"/>
                <a:ea typeface="DengXian"/>
                <a:cs typeface="DengXian"/>
              </a:rPr>
              <a:t>增量解析与索引、语义和权限继承</a:t>
            </a:r>
          </a:p>
        </p:txBody>
      </p:sp>
      <p:sp>
        <p:nvSpPr>
          <p:cNvPr id="41" name="核心挑战">
            <a:extLst xmlns:a="http://schemas.openxmlformats.org/drawingml/2006/main">
              <a:ext uri="{FF2B5EF4-FFF2-40B4-BE49-F238E27FC236}">
                <a16:creationId xmlns:a16="http://schemas.microsoft.com/office/drawing/2014/main" id="{4A5F4D18-267B-494E-B889-2A0763B8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734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7652A6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7652A6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7652A6"/>
                </a:solidFill>
                <a:latin typeface="DengXian"/>
                <a:ea typeface="DengXian"/>
                <a:cs typeface="DengXian"/>
              </a:rPr>
              <a:t>核心挑战</a:t>
            </a:r>
          </a:p>
        </p:txBody>
      </p:sp>
      <p:sp>
        <p:nvSpPr>
          <p:cNvPr id="42" name="鲜度与一致性、越权、单位任务成本">
            <a:extLst xmlns:a="http://schemas.openxmlformats.org/drawingml/2006/main">
              <a:ext uri="{FF2B5EF4-FFF2-40B4-BE49-F238E27FC236}">
                <a16:creationId xmlns:a16="http://schemas.microsoft.com/office/drawing/2014/main" id="{3185AE19-6C88-459A-8F82-33CB7C11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6734175"/>
            <a:ext cx="3438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31445A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31445A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31445A"/>
                </a:solidFill>
                <a:latin typeface="DengXian"/>
                <a:ea typeface="DengXian"/>
                <a:cs typeface="DengXian"/>
              </a:rPr>
              <a:t>鲜度与一致性、越权、单位任务成本</a:t>
            </a:r>
          </a:p>
        </p:txBody>
      </p:sp>
      <p:sp>
        <p:nvSpPr>
          <p:cNvPr id="43" name="2027 平台重点：将样本、轨迹和上下文纳入统一资产，贯">
            <a:extLst xmlns:a="http://schemas.openxmlformats.org/drawingml/2006/main">
              <a:ext uri="{FF2B5EF4-FFF2-40B4-BE49-F238E27FC236}">
                <a16:creationId xmlns:a16="http://schemas.microsoft.com/office/drawing/2014/main" id="{B1AC5CB6-39E9-4A69-B694-B26E41DC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86625"/>
            <a:ext cx="1409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5283E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83E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15283E"/>
                </a:solidFill>
                <a:latin typeface="DengXian"/>
                <a:ea typeface="DengXian"/>
                <a:cs typeface="DengXian"/>
              </a:rPr>
              <a:t>2027 平台重点：将样本、轨迹和上下文纳入统一资产，贯通采集、生成、验证与增量供给</a:t>
            </a:r>
          </a:p>
        </p:txBody>
      </p:sp>
      <p:sp>
        <p:nvSpPr>
          <p:cNvPr id="44" name="建设优先级：来源与授权血缘、可回放验证、跨模态加工、鲜度">
            <a:extLst xmlns:a="http://schemas.openxmlformats.org/drawingml/2006/main">
              <a:ext uri="{FF2B5EF4-FFF2-40B4-BE49-F238E27FC236}">
                <a16:creationId xmlns:a16="http://schemas.microsoft.com/office/drawing/2014/main" id="{B11ABE48-E084-4AF3-9E58-1AE5E208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96200"/>
            <a:ext cx="1409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31445A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31445A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31445A"/>
                </a:solidFill>
                <a:latin typeface="DengXian"/>
                <a:ea typeface="DengXian"/>
                <a:cs typeface="DengXian"/>
              </a:rPr>
              <a:t>建设优先级：来源与授权血缘、可回放验证、跨模态加工、鲜度与成本 SLO。衡量有效样本率、上下文可用率与单位有效产出成本。</a:t>
            </a:r>
          </a:p>
        </p:txBody>
      </p:sp>
      <p:sp>
        <p:nvSpPr>
          <p:cNvPr id="45" name="来源：[1] Meta Llama 2 / 3 论文与 ">
            <a:extLst xmlns:a="http://schemas.openxmlformats.org/drawingml/2006/main">
              <a:ext uri="{FF2B5EF4-FFF2-40B4-BE49-F238E27FC236}">
                <a16:creationId xmlns:a16="http://schemas.microsoft.com/office/drawing/2014/main" id="{3B58E569-0FD5-41A9-B0F0-20ACE1E4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0"/>
            <a:ext cx="14097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68788A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8788A"/>
                </a:solidFill>
                <a:latin typeface="DengXian"/>
                <a:ea typeface="DengXian"/>
                <a:cs typeface="DengXian"/>
              </a:defRPr>
            </a:pPr>
            <a:r>
              <a:rPr sz="975" b="0">
                <a:solidFill>
                  <a:srgbClr val="68788A"/>
                </a:solidFill>
                <a:latin typeface="DengXian"/>
                <a:ea typeface="DengXian"/>
                <a:cs typeface="DengXian"/>
              </a:rPr>
              <a:t>来源：[1] Meta Llama 2 / 3 论文与 Llama 4 模型卡（2023–2025）  [2] Microsoft Phi-4（2024）与 DeepSeek-R1（2025）技术报告</a:t>
            </a:r>
          </a:p>
        </p:txBody>
      </p:sp>
      <p:sp>
        <p:nvSpPr>
          <p:cNvPr id="46" name="[3] NVIDIA 等 EgoScale（2026 预">
            <a:extLst xmlns:a="http://schemas.openxmlformats.org/drawingml/2006/main">
              <a:ext uri="{FF2B5EF4-FFF2-40B4-BE49-F238E27FC236}">
                <a16:creationId xmlns:a16="http://schemas.microsoft.com/office/drawing/2014/main" id="{45E1A5E7-3BAC-45FC-8B02-55DACB54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15325"/>
            <a:ext cx="14097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68788A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8788A"/>
                </a:solidFill>
                <a:latin typeface="DengXian"/>
                <a:ea typeface="DengXian"/>
                <a:cs typeface="DengXian"/>
              </a:defRPr>
            </a:pPr>
            <a:r>
              <a:rPr sz="975" b="0">
                <a:solidFill>
                  <a:srgbClr val="68788A"/>
                </a:solidFill>
                <a:latin typeface="DengXian"/>
                <a:ea typeface="DengXian"/>
                <a:cs typeface="DengXian"/>
              </a:rPr>
              <a:t>[3] NVIDIA 等 EgoScale（2026 预印本）  [4] Google 2025Q3–2026Q2 财报原文  [5] Nature 2024 递归合成研究支持来源与质量治理。完整链接与口径见备注。</a:t>
            </a:r>
          </a:p>
        </p:txBody>
      </p:sp>
    </p:spTree>
    <p:extLst>
      <p:ext uri="{BB962C8B-B14F-4D97-AF65-F5344CB8AC3E}">
        <p14:creationId xmlns:p14="http://schemas.microsoft.com/office/powerpoint/2010/main" val="1204334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2026-10-12T15:07:03.1950000Z</dcterms:created>
  <dcterms:modified xsi:type="dcterms:W3CDTF">2026-10-12T15:07:03.1950000Z</dcterms:modified>
</coreProperties>
</file>