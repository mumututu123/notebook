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1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7c9a06731264fc0" /><Relationship Type="http://schemas.openxmlformats.org/officeDocument/2006/relationships/extended-properties" Target="/docProps/app.xml" Id="Rbd874a33054645bc" /><Relationship Type="http://schemas.openxmlformats.org/officeDocument/2006/relationships/officeDocument" Target="/ppt/presentation.xml" Id="Rc0e3c415fb92400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7dc9a0cd4dd4903"/>
  </p:sldMasterIdLst>
  <p:notesMasterIdLst>
    <p:notesMasterId xmlns:r="http://schemas.openxmlformats.org/officeDocument/2006/relationships" r:id="Re5f957d900b44913"/>
  </p:notesMasterIdLst>
  <p:sldIdLst>
    <p:sldId xmlns:r="http://schemas.openxmlformats.org/officeDocument/2006/relationships" id="256" r:id="R9669fa3870c647ad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3543a1e6142457d" /><Relationship Type="http://schemas.openxmlformats.org/officeDocument/2006/relationships/slideMaster" Target="/ppt/slideMasters/slideMaster1.xml" Id="R67dc9a0cd4dd4903" /><Relationship Type="http://schemas.openxmlformats.org/officeDocument/2006/relationships/notesMaster" Target="/ppt/notesMasters/notesMaster1.xml" Id="Re5f957d900b44913" /><Relationship Type="http://schemas.openxmlformats.org/officeDocument/2006/relationships/presProps" Target="/ppt/presProps.xml" Id="Rd383cf18c9f04794" /><Relationship Type="http://schemas.openxmlformats.org/officeDocument/2006/relationships/tableStyles" Target="/ppt/tableStyles.xml" Id="Rd3cd2208caec4696" /><Relationship Type="http://schemas.openxmlformats.org/officeDocument/2006/relationships/slide" Target="/ppt/slides/slide1.xml" Id="R9669fa3870c647a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8dc7a00dda7460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e367d33aa964dd1" /><Relationship Type="http://schemas.openxmlformats.org/officeDocument/2006/relationships/notesMaster" Target="/ppt/notesMasters/notesMaster1.xml" Id="R554e5143b36b411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2027 AI 数据工程趋势与平台判断</a:t>
            </a:r>
          </a:p>
          <a:p xmlns:a="http://schemas.openxmlformats.org/drawingml/2006/main">
            <a:r>
              <a:t>资料访问日：2026-10-12。2027内容是基于已发布产品和调查结果的规划推断，不是厂商承诺的2027路线图，也不是预测市场份额。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[1] Google BigQuery release notes</a:t>
            </a:r>
          </a:p>
          <a:p xmlns:a="http://schemas.openxmlformats.org/drawingml/2006/main">
            <a:r>
              <a:t>https://docs.cloud.google.com/bigquery/docs/release-notes</a:t>
            </a:r>
          </a:p>
          <a:p xmlns:a="http://schemas.openxmlformats.org/drawingml/2006/main">
            <a:r>
              <a:t>2025-10-27 Data Engineering Agent Preview；2026-04-22 GA；2026-10-01 自动元数据增强及质量评分卡集成 GA。</a:t>
            </a:r>
          </a:p>
          <a:p xmlns:a="http://schemas.openxmlformats.org/drawingml/2006/main">
            <a:r>
              <a:t>https://docs.cloud.google.com/bigquery/docs/data-engineering-agent-pipelines</a:t>
            </a:r>
          </a:p>
          <a:p xmlns:a="http://schemas.openxmlformats.org/drawingml/2006/main">
            <a:r>
              <a:t>用于证明Agent覆盖构建、修改、诊断数据管道，不能推断所有生产变更已经完全自动执行。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[2] Databricks, Lakeflow: A new era of agentic data engineering，发布2026-06-16、更新2026-07-01</a:t>
            </a:r>
          </a:p>
          <a:p xmlns:a="http://schemas.openxmlformats.org/drawingml/2006/main">
            <a:r>
              <a:t>https://www.databricks.com/blog/lakeflow-new-era-agentic-data-engineering</a:t>
            </a:r>
          </a:p>
          <a:p xmlns:a="http://schemas.openxmlformats.org/drawingml/2006/main">
            <a:r>
              <a:t>Genie Code生成连接器/SQL/Python/Jobs。文中宣布ZeroOps根据质量、日志与Unity Catalog血缘诊断，在隔离沙箱验证修复，人工决定最终应用。ZeroOps是宣布，并非整个产品GA声明。</a:t>
            </a:r>
          </a:p>
          <a:p xmlns:a="http://schemas.openxmlformats.org/drawingml/2006/main">
            <a:r>
              <a:t>原文：it generates proposed fixes and validates them in a safe and isolated sandbox environment governed by Unity Catalog. Applying a fix is done with human-in-the-loop.</a:t>
            </a:r>
          </a:p>
          <a:p xmlns:a="http://schemas.openxmlformats.org/drawingml/2006/main">
            <a:r>
              <a:t>Databricks, What's new with Unity Catalog at Data + AI Summit 2026，2026-06-16</a:t>
            </a:r>
          </a:p>
          <a:p xmlns:a="http://schemas.openxmlformats.org/drawingml/2006/main">
            <a:r>
              <a:t>https://www.databricks.com/blog/whats-new-unity-catalog-data-ai-summit-2026</a:t>
            </a:r>
          </a:p>
          <a:p xmlns:a="http://schemas.openxmlformats.org/drawingml/2006/main">
            <a:r>
              <a:t>Unity Catalog扩展到运行时动作治理、硬预算与业务语义。Contextual Service Policies在该发布时为Beta，Domains为Public Preview，不能把全部能力视为GA。</a:t>
            </a:r>
          </a:p>
          <a:p xmlns:a="http://schemas.openxmlformats.org/drawingml/2006/main">
            <a:r>
              <a:t>原文：The catalog has moved from a system of record to a runtime decision-maker for AI. / Hard spend caps stop requests when a budget is reached, rather than just alerting after the fact.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[3] Snowflake Cortex AI Functions GA，2025-11-04</a:t>
            </a:r>
          </a:p>
          <a:p xmlns:a="http://schemas.openxmlformats.org/drawingml/2006/main">
            <a:r>
              <a:t>https://docs.snowflake.com/en/release-notes/2025/other/2025-11-04-cortex-aisql-operators-ga</a:t>
            </a:r>
          </a:p>
          <a:p xmlns:a="http://schemas.openxmlformats.org/drawingml/2006/main">
            <a:r>
              <a:t>原文：unify structured and unstructured analytics within a single platform；build scalable, multimodal AI pipelines that run entirely inside Snowflake。</a:t>
            </a:r>
          </a:p>
          <a:p xmlns:a="http://schemas.openxmlformats.org/drawingml/2006/main">
            <a:r>
              <a:t>Snowflake Dynamic Tables支持AI函数，2025-09-11</a:t>
            </a:r>
          </a:p>
          <a:p xmlns:a="http://schemas.openxmlformats.org/drawingml/2006/main">
            <a:r>
              <a:t>https://docs.snowflake.com/en/release-notes/2025/other/2025-09-11-dynamic-tables-cortex-aisql-support</a:t>
            </a:r>
          </a:p>
          <a:p xmlns:a="http://schemas.openxmlformats.org/drawingml/2006/main">
            <a:r>
              <a:t>增量刷新在数据更新时自动执行分类、摘要等AI函数。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[4] Microsoft Learn, What is Fabric IQ? 最后更新2026-09-29</a:t>
            </a:r>
          </a:p>
          <a:p xmlns:a="http://schemas.openxmlformats.org/drawingml/2006/main">
            <a:r>
              <a:t>https://learn.microsoft.com/en-us/fabric/iq/overview</a:t>
            </a:r>
          </a:p>
          <a:p xmlns:a="http://schemas.openxmlformats.org/drawingml/2006/main">
            <a:r>
              <a:t>OneLake统一分析、实时与操作数据；Semantic model与Ontology提供业务语义。Ontology处于Preview，不能写成全量成熟能力。</a:t>
            </a:r>
          </a:p>
          <a:p xmlns:a="http://schemas.openxmlformats.org/drawingml/2006/main">
            <a:r>
              <a:t>原文：Semantic models and ontologies work together ... so terminology and KPIs stay consistent across reports, agents, and applications.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[5] AWS, Amazon SageMaker Unified Studio is generally available，2025-03-13</a:t>
            </a:r>
          </a:p>
          <a:p xmlns:a="http://schemas.openxmlformats.org/drawingml/2006/main">
            <a:r>
              <a:t>https://aws.amazon.com/about-aws/whats-new/2025/03/amazon-sagemaker-unified-studio-generally-available/</a:t>
            </a:r>
          </a:p>
          <a:p xmlns:a="http://schemas.openxmlformats.org/drawingml/2006/main">
            <a:r>
              <a:t>统一EMR/Glue/Athena/Redshift/Bedrock/SageMaker；Lakehouse统一访问，Catalog提供内建治理。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[6] dbt Labs, 2026 State of Analytics Engineering Report</a:t>
            </a:r>
          </a:p>
          <a:p xmlns:a="http://schemas.openxmlformats.org/drawingml/2006/main">
            <a:r>
              <a:t>https://www.getdbt.com/resources/state-of-analytics-engineering-2026</a:t>
            </a:r>
          </a:p>
          <a:p xmlns:a="http://schemas.openxmlformats.org/drawingml/2006/main">
            <a:r>
              <a:t>图表1完整数据：2025年数据信任66%、速度50%；2026年数据信任83%、速度71%。数值为0.66、0.50、0.83、0.71，按百分比显示。</a:t>
            </a:r>
          </a:p>
          <a:p xmlns:a="http://schemas.openxmlformats.org/drawingml/2006/main">
            <a:r>
              <a:t>原文：The share of respondents who say increasing trust in data and data teams is important rose from 66% in 2025 to 83% in 2026. The importance placed on speed also climbed sharply, from 50% to 71%.</a:t>
            </a:r>
          </a:p>
          <a:p xmlns:a="http://schemas.openxmlformats.org/drawingml/2006/main">
            <a:r>
              <a:t>口径：回答该目标重要的受访者占比，报告描述为Important与Very Important合计。2026年363位数据从业者/管理者，收集时间2025-12-05至2026-02-01，73%从业者、27%管理者。北美/欧洲样本较集中。2025与2026不是同一追踪队列，图表按报告自身跨年对比重绘，不能外推全行业。</a:t>
            </a:r>
          </a:p>
          <a:p xmlns:a="http://schemas.openxmlformats.org/drawingml/2006/main">
            <a:r>
              <a:t>另有支持Agent验证挑战的数据：72%优先AI辅助编码，但24%优先AI辅助管道管理（包括测试、可观测性、质量控制）。这两个比例是2026横截面对比，不能与2025的编码使用率拼接成趋势。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[7] FinOps Foundation, State of FinOps 2026</a:t>
            </a:r>
          </a:p>
          <a:p xmlns:a="http://schemas.openxmlformats.org/drawingml/2006/main">
            <a:r>
              <a:t>https://data.finops.org/</a:t>
            </a:r>
          </a:p>
          <a:p xmlns:a="http://schemas.openxmlformats.org/drawingml/2006/main">
            <a:r>
              <a:t>AI章节图原始资产：https://data.finops.org/wp-content/uploads/2026/02/AI-spend.svg</a:t>
            </a:r>
          </a:p>
          <a:p xmlns:a="http://schemas.openxmlformats.org/drawingml/2006/main">
            <a:r>
              <a:t>图表2完整数据：2024年31%、2025年63%、2026年98%。</a:t>
            </a:r>
          </a:p>
          <a:p xmlns:a="http://schemas.openxmlformats.org/drawingml/2006/main">
            <a:r>
              <a:t>原文：98% of respondents now manage AI spend (up from 63% in 2025 and 31% in 2024).</a:t>
            </a:r>
          </a:p>
          <a:p xmlns:a="http://schemas.openxmlformats.org/drawingml/2006/main">
            <a:r>
              <a:t>该AI章节图标注N=693，整份2026调查为1192位受访者，不能把1192作为此题分母。相邻Technology Categories模块采用“today and in the next 12 months”当前或未来12个月管理范围口径（该模块N=632，勿与AI图N=693混淆）。页面给出的两个98%属于同一管理范围叙述，本页保守标“含计划”，避免声称98%已经全面完成治理部署。年度数据按报告原文跨年对比，不是同一受访队列或全市场采用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[8] Snowflake AI Functions cost management，标题日期2026-03-02</a:t>
            </a:r>
          </a:p>
          <a:p xmlns:a="http://schemas.openxmlformats.org/drawingml/2006/main">
            <a:r>
              <a:t>https://docs.snowflake.com/en/release-notes/2026/other/2026-02-25-ai-functions-cost-management</a:t>
            </a:r>
          </a:p>
          <a:p xmlns:a="http://schemas.openxmlformats.org/drawingml/2006/main">
            <a:r>
              <a:t>URL日期与标题日期不同，引用使用标题日期。支持按function/model/user/role/warehouse/query细分归因，并可通过查询取消、权限撤销与恢复等机制建立自动限额。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2027平台建议为本研究综合判断：数据资产需可发现、可解释、可授权与可计费；Agent执行范围应建立在测试评测、沙箱、审批、回滚能力之上。来源中产品预览/GA状态仅按各自发布说明判断，不能外推其它功能状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图标：Lucide，ISC License，下载2026-10-12，对颜色作统一调整。</a:t>
            </a:r>
          </a:p>
          <a:p xmlns:a="http://schemas.openxmlformats.org/drawingml/2006/main">
            <a:r>
              <a:t>https://raw.githubusercontent.com/lucide-icons/lucide/main/icons/bot.svg</a:t>
            </a:r>
          </a:p>
          <a:p xmlns:a="http://schemas.openxmlformats.org/drawingml/2006/main">
            <a:r>
              <a:t>https://raw.githubusercontent.com/lucide-icons/lucide/main/icons/database-zap.svg</a:t>
            </a:r>
          </a:p>
          <a:p xmlns:a="http://schemas.openxmlformats.org/drawingml/2006/main">
            <a:r>
              <a:t>https://raw.githubusercontent.com/lucide-icons/lucide/main/icons/shield-check.svg</a:t>
            </a:r>
          </a:p>
          <a:p xmlns:a="http://schemas.openxmlformats.org/drawingml/2006/main">
            <a:r>
              <a:t>https://github.com/lucide-icons/lucide/blob/main/LICENSE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8ef864f7f4429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a4facad45e4a8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65f17c2c11418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6a99d8814d429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3f2afeb2f64e0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d588679019480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149E111-277C-4C15-8BE3-F6B39258DF5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8800" y="3886200"/>
            <a:ext cx="146304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78796B7-F1E0-4F1F-B744-490BA662B91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743200" y="5657850"/>
            <a:ext cx="12801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14FBBE4-AEDF-4A1E-B649-444613D8563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8800" y="4286250"/>
            <a:ext cx="146304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A2DD21B-7F60-4063-A09E-F15D525D486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C8E7105-CB47-4F5B-AEEA-7140C18DE89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162306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6CE7842-68B7-4284-A533-03CE7632E6C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875DC84-1C4D-4948-9C48-BEEABABC109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A57F5CC-E5EF-4DEA-9691-0BD34900626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97155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6EF7986-C6F8-40A7-8D33-3176DCBA4F3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89D68F9-2424-47AA-BFFD-C32279DDEAC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4d9ea40b39741e5" /><Relationship Type="http://schemas.openxmlformats.org/officeDocument/2006/relationships/slideLayout" Target="/ppt/slideLayouts/slideLayout1.xml" Id="R540258e3a9344432" /><Relationship Type="http://schemas.openxmlformats.org/officeDocument/2006/relationships/slideLayout" Target="/ppt/slideLayouts/slideLayout2.xml" Id="R77374925d6244d9c" /><Relationship Type="http://schemas.openxmlformats.org/officeDocument/2006/relationships/slideLayout" Target="/ppt/slideLayouts/slideLayout3.xml" Id="R8acdf9a574a842e5" /><Relationship Type="http://schemas.openxmlformats.org/officeDocument/2006/relationships/slideLayout" Target="/ppt/slideLayouts/slideLayout4.xml" Id="Ra37fed3debf64210" /><Relationship Type="http://schemas.openxmlformats.org/officeDocument/2006/relationships/slideLayout" Target="/ppt/slideLayouts/slideLayout5.xml" Id="R1ee97b46385d4455" /><Relationship Type="http://schemas.openxmlformats.org/officeDocument/2006/relationships/slideLayout" Target="/ppt/slideLayouts/slideLayout6.xml" Id="R19923e0abed747b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40258e3a9344432"/>
    <p:sldLayoutId xmlns:r="http://schemas.openxmlformats.org/officeDocument/2006/relationships" id="2147483650" r:id="R77374925d6244d9c"/>
    <p:sldLayoutId xmlns:r="http://schemas.openxmlformats.org/officeDocument/2006/relationships" id="2147483651" r:id="R8acdf9a574a842e5"/>
    <p:sldLayoutId xmlns:r="http://schemas.openxmlformats.org/officeDocument/2006/relationships" id="2147483652" r:id="Ra37fed3debf64210"/>
    <p:sldLayoutId xmlns:r="http://schemas.openxmlformats.org/officeDocument/2006/relationships" id="2147483653" r:id="R1ee97b46385d4455"/>
    <p:sldLayoutId xmlns:r="http://schemas.openxmlformats.org/officeDocument/2006/relationships" id="2147483654" r:id="R19923e0abed747b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c119e3899304957" /><Relationship Type="http://schemas.openxmlformats.org/officeDocument/2006/relationships/image" Target="/ppt/media/image.png" Id="Rd4dc12e45b744b80" /><Relationship Type="http://schemas.openxmlformats.org/officeDocument/2006/relationships/image" Target="/ppt/media/image.svg" Id="Rff79f604fd3845ee" /><Relationship Type="http://schemas.openxmlformats.org/officeDocument/2006/relationships/image" Target="/ppt/media/image2.png" Id="Rdd7c6d8aa8ab4916" /><Relationship Type="http://schemas.openxmlformats.org/officeDocument/2006/relationships/image" Target="/ppt/media/image2.svg" Id="Rca634a8011744e47" /><Relationship Type="http://schemas.openxmlformats.org/officeDocument/2006/relationships/image" Target="/ppt/media/image3.png" Id="Rddbfd7b9bfe243ee" /><Relationship Type="http://schemas.openxmlformats.org/officeDocument/2006/relationships/image" Target="/ppt/media/image3.svg" Id="R3bc04128a8314c96" /><Relationship Type="http://schemas.openxmlformats.org/officeDocument/2006/relationships/chart" Target="/ppt/slides/charts/chart1.xml" Id="Re1aed6fbc3324d9e" /><Relationship Type="http://schemas.openxmlformats.org/officeDocument/2006/relationships/chart" Target="/ppt/slides/charts/chart2.xml" Id="R4f0dd39c29db41af" /><Relationship Type="http://schemas.openxmlformats.org/officeDocument/2006/relationships/notesSlide" Target="/ppt/notesSlides/notesSlide1.xml" Id="R23cd3a7f42d94134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数据信任</c:v>
          </c:tx>
          <c:spPr>
            <a:solidFill xmlns:a="http://schemas.openxmlformats.org/drawingml/2006/main">
              <a:srgbClr val="007F86"/>
            </a:solidFill>
            <a:ln xmlns:a="http://schemas.openxmlformats.org/drawingml/2006/main" w="0">
              <a:noFill/>
            </a:ln>
          </c:spPr>
          <c:cat>
            <c:numRef>
              <c:f>'Chart Data'!$A$2:$A$3</c:f>
              <c:numCache>
                <c:formatCode>General</c:formatCode>
                <c:ptCount val="2"/>
                <c:pt idx="0">
                  <c:v>2025</c:v>
                </c:pt>
                <c:pt idx="1">
                  <c:v>2026</c:v>
                </c:pt>
              </c:numCache>
            </c:numRef>
          </c:cat>
          <c:val>
            <c:numRef>
              <c:f>'Chart Data'!$B$2:$B$3</c:f>
              <c:numCache>
                <c:formatCode>0%</c:formatCode>
                <c:ptCount val="2"/>
                <c:pt idx="0">
                  <c:v>0.66</c:v>
                </c:pt>
                <c:pt idx="1">
                  <c:v>0.83</c:v>
                </c:pt>
              </c:numCache>
            </c:numRef>
          </c:val>
        </c:ser>
        <c:ser>
          <c:idx val="1"/>
          <c:order val="1"/>
          <c:tx>
            <c:v>交付速度</c:v>
          </c:tx>
          <c:spPr>
            <a:solidFill xmlns:a="http://schemas.openxmlformats.org/drawingml/2006/main">
              <a:srgbClr val="2867B2"/>
            </a:solidFill>
            <a:ln xmlns:a="http://schemas.openxmlformats.org/drawingml/2006/main" w="0">
              <a:noFill/>
            </a:ln>
          </c:spPr>
          <c:cat>
            <c:numRef>
              <c:f>'Chart Data'!$C$2:$C$3</c:f>
              <c:numCache>
                <c:formatCode>General</c:formatCode>
                <c:ptCount val="2"/>
                <c:pt idx="0">
                  <c:v>2025</c:v>
                </c:pt>
                <c:pt idx="1">
                  <c:v>2026</c:v>
                </c:pt>
              </c:numCache>
            </c:numRef>
          </c:cat>
          <c:val>
            <c:numRef>
              <c:f>'Chart Data'!$D$2:$D$3</c:f>
              <c:numCache>
                <c:formatCode>0%</c:formatCode>
                <c:ptCount val="2"/>
                <c:pt idx="0">
                  <c:v>0.5</c:v>
                </c:pt>
                <c:pt idx="1">
                  <c:v>0.71</c:v>
                </c:pt>
              </c:numCache>
            </c:numRef>
          </c:val>
        </c:ser>
        <c:dLbls>
          <c:numFmt formatCode="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 b="1">
                  <a:solidFill>
                    <a:srgbClr val="142E45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25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DE5EA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4B6070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E5EA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B6070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0.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4B6070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AI支出管理</c:v>
          </c:tx>
          <c:spPr>
            <a:ln xmlns:a="http://schemas.openxmlformats.org/drawingml/2006/main" w="34290">
              <a:solidFill>
                <a:srgbClr val="007F86"/>
              </a:solidFill>
              <a:prstDash val="solid"/>
            </a:ln>
          </c:spPr>
          <c:marker>
            <c:symbol val="circle"/>
            <c:size val="9"/>
            <c:spPr>
              <a:solidFill xmlns:a="http://schemas.openxmlformats.org/drawingml/2006/main">
                <a:srgbClr val="007F86"/>
              </a:solidFill>
            </c:spPr>
          </c:marker>
          <c:cat>
            <c:numRef>
              <c:f>'Chart Data'!$A$2:$A$4</c:f>
              <c:numCache>
                <c:formatCode>General</c:formatCode>
                <c:ptCount val="3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</c:numCache>
            </c:numRef>
          </c:cat>
          <c:val>
            <c:numRef>
              <c:f>'Chart Data'!$B$2:$B$4</c:f>
              <c:numCache>
                <c:formatCode>0%</c:formatCode>
                <c:ptCount val="3"/>
                <c:pt idx="0">
                  <c:v>0.31</c:v>
                </c:pt>
                <c:pt idx="1">
                  <c:v>0.63</c:v>
                </c:pt>
                <c:pt idx="2">
                  <c:v>0.98</c:v>
                </c:pt>
              </c:numCache>
            </c:numRef>
          </c:val>
        </c:ser>
        <c:dLbls>
          <c:numFmt formatCode="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 b="1">
                  <a:solidFill>
                    <a:srgbClr val="142E45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DE5EA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4B6070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E5EA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B6070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0.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title">
            <a:extLst xmlns:a="http://schemas.openxmlformats.org/drawingml/2006/main">
              <a:ext uri="{FF2B5EF4-FFF2-40B4-BE49-F238E27FC236}">
                <a16:creationId xmlns:a16="http://schemas.microsoft.com/office/drawing/2014/main" id="{547977B6-7BB5-4B22-AA40-496128F3E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"/>
            <a:ext cx="16916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825" b="1">
                <a:solidFill>
                  <a:srgbClr val="142E4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825" b="1">
                <a:solidFill>
                  <a:srgbClr val="142E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825" b="1">
                <a:solidFill>
                  <a:srgbClr val="142E45"/>
                </a:solidFill>
                <a:latin typeface="Microsoft YaHei"/>
                <a:ea typeface="Microsoft YaHei"/>
                <a:cs typeface="Microsoft YaHei"/>
              </a:rPr>
              <a:t>2027 数据工程洞察：AI 加工走向受治理的生产</a:t>
            </a:r>
          </a:p>
        </p:txBody>
      </p:sp>
      <p:sp>
        <p:nvSpPr>
          <p:cNvPr id="2" name="thesis">
            <a:extLst xmlns:a="http://schemas.openxmlformats.org/drawingml/2006/main">
              <a:ext uri="{FF2B5EF4-FFF2-40B4-BE49-F238E27FC236}">
                <a16:creationId xmlns:a16="http://schemas.microsoft.com/office/drawing/2014/main" id="{691D56B6-DAAA-414A-840F-BB0CC157C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69164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00" b="1">
                <a:solidFill>
                  <a:srgbClr val="007F8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007F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7F86"/>
                </a:solidFill>
                <a:latin typeface="Microsoft YaHei"/>
                <a:ea typeface="Microsoft YaHei"/>
                <a:cs typeface="Microsoft YaHei"/>
              </a:rPr>
              <a:t>2027 判断：平台同时承担“用 AI 做加工”和“为 AI 供数”，质量与成本控制贯穿生产过程</a:t>
            </a:r>
          </a:p>
        </p:txBody>
      </p:sp>
      <p:sp>
        <p:nvSpPr>
          <p:cNvPr id="3" name="header-rule">
            <a:extLst xmlns:a="http://schemas.openxmlformats.org/drawingml/2006/main">
              <a:ext uri="{FF2B5EF4-FFF2-40B4-BE49-F238E27FC236}">
                <a16:creationId xmlns:a16="http://schemas.microsoft.com/office/drawing/2014/main" id="{451E1488-4ED1-47FA-B79D-12910DB18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38325"/>
            <a:ext cx="16916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DE5EA"/>
            </a:solidFill>
            <a:prstDash val="solid"/>
          </a:ln>
        </p:spPr>
      </p:sp>
      <p:sp>
        <p:nvSpPr>
          <p:cNvPr id="4" name="direction-label">
            <a:extLst xmlns:a="http://schemas.openxmlformats.org/drawingml/2006/main">
              <a:ext uri="{FF2B5EF4-FFF2-40B4-BE49-F238E27FC236}">
                <a16:creationId xmlns:a16="http://schemas.microsoft.com/office/drawing/2014/main" id="{42C20175-EF90-4123-B9A4-62D5D620F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10744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4B607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4B60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4B6070"/>
                </a:solidFill>
                <a:latin typeface="Microsoft YaHei"/>
                <a:ea typeface="Microsoft YaHei"/>
                <a:cs typeface="Microsoft YaHei"/>
              </a:rPr>
              <a:t>大厂重心与平台应对</a:t>
            </a:r>
          </a:p>
        </p:txBody>
      </p:sp>
      <p:sp>
        <p:nvSpPr>
          <p:cNvPr id="5" name="evidence-label">
            <a:extLst xmlns:a="http://schemas.openxmlformats.org/drawingml/2006/main">
              <a:ext uri="{FF2B5EF4-FFF2-40B4-BE49-F238E27FC236}">
                <a16:creationId xmlns:a16="http://schemas.microsoft.com/office/drawing/2014/main" id="{E7B2EA21-1D5F-43F4-AD56-9497F2ED8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92050" y="1962150"/>
            <a:ext cx="501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4B607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4B60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4B6070"/>
                </a:solidFill>
                <a:latin typeface="Microsoft YaHei"/>
                <a:ea typeface="Microsoft YaHei"/>
                <a:cs typeface="Microsoft YaHei"/>
              </a:rPr>
              <a:t>跨年调查验证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C8D236-4EA4-4C4C-BD34-6A1163C3381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dc12e45b744b80">
            <a:extLst>
              <a:ext uri="{96DAC541-7B7A-43D3-8B79-37D633B846F1}">
                <asvg:svgBlip xmlns:asvg="http://schemas.microsoft.com/office/drawing/2016/SVG/main" r:embed="Rff79f604fd3845e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33425" y="2619375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7" name="trend-0">
            <a:extLst xmlns:a="http://schemas.openxmlformats.org/drawingml/2006/main">
              <a:ext uri="{FF2B5EF4-FFF2-40B4-BE49-F238E27FC236}">
                <a16:creationId xmlns:a16="http://schemas.microsoft.com/office/drawing/2014/main" id="{1F51B8CB-4224-4E2B-B2E6-0455F5B7F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543175"/>
            <a:ext cx="10477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142E4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42E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42E45"/>
                </a:solidFill>
                <a:latin typeface="Microsoft YaHei"/>
                <a:ea typeface="Microsoft YaHei"/>
                <a:cs typeface="Microsoft YaHei"/>
              </a:rPr>
              <a:t>加工 Agent 进入开发与运维闭环</a:t>
            </a:r>
          </a:p>
        </p:txBody>
      </p:sp>
      <p:sp>
        <p:nvSpPr>
          <p:cNvPr id="8" name="facts-0">
            <a:extLst xmlns:a="http://schemas.openxmlformats.org/drawingml/2006/main">
              <a:ext uri="{FF2B5EF4-FFF2-40B4-BE49-F238E27FC236}">
                <a16:creationId xmlns:a16="http://schemas.microsoft.com/office/drawing/2014/main" id="{D2B3AA88-A5F2-4A8E-A292-FE4F0C6CB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3124200"/>
            <a:ext cx="104775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0">
                <a:solidFill>
                  <a:srgbClr val="4B607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4B60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4B6070"/>
                </a:solidFill>
                <a:latin typeface="Microsoft YaHei"/>
                <a:ea typeface="Microsoft YaHei"/>
                <a:cs typeface="Microsoft YaHei"/>
              </a:rPr>
              <a:t>Google BigQuery Agent 已正式发布。Databricks Lakeflow</a:t>
            </a:r>
          </a:p>
          <a:p xmlns:a="http://schemas.openxmlformats.org/drawingml/2006/main">
            <a:pPr algn="l">
              <a:defRPr sz="1875" b="0">
                <a:solidFill>
                  <a:srgbClr val="4B60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4B6070"/>
                </a:solidFill>
                <a:latin typeface="Microsoft YaHei"/>
                <a:ea typeface="Microsoft YaHei"/>
                <a:cs typeface="Microsoft YaHei"/>
              </a:rPr>
              <a:t>宣布将开发、诊断与沙箱修复串联。[1][2]</a:t>
            </a:r>
          </a:p>
        </p:txBody>
      </p:sp>
      <p:sp>
        <p:nvSpPr>
          <p:cNvPr id="9" name="action-0">
            <a:extLst xmlns:a="http://schemas.openxmlformats.org/drawingml/2006/main">
              <a:ext uri="{FF2B5EF4-FFF2-40B4-BE49-F238E27FC236}">
                <a16:creationId xmlns:a16="http://schemas.microsoft.com/office/drawing/2014/main" id="{5BA1A188-7678-43AD-8CB9-45A39713F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3933825"/>
            <a:ext cx="10477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007F8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007F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7F86"/>
                </a:solidFill>
                <a:latin typeface="Microsoft YaHei"/>
                <a:ea typeface="Microsoft YaHei"/>
                <a:cs typeface="Microsoft YaHei"/>
              </a:rPr>
              <a:t>难点：生成快于验证。平台需内建测试、审批与回滚。</a:t>
            </a:r>
          </a:p>
        </p:txBody>
      </p:sp>
      <p:sp>
        <p:nvSpPr>
          <p:cNvPr id="10" name="row-rule-0">
            <a:extLst xmlns:a="http://schemas.openxmlformats.org/drawingml/2006/main">
              <a:ext uri="{FF2B5EF4-FFF2-40B4-BE49-F238E27FC236}">
                <a16:creationId xmlns:a16="http://schemas.microsoft.com/office/drawing/2014/main" id="{F8DE9FB5-0C6E-4B32-8BAC-6C9627D12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4438650"/>
            <a:ext cx="10125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DE5EA"/>
            </a:solidFill>
            <a:prstDash val="solid"/>
          </a:ln>
        </p:spPr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B4E566-8385-4F86-AC1E-D8F43782F94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7c6d8aa8ab4916">
            <a:extLst>
              <a:ext uri="{96DAC541-7B7A-43D3-8B79-37D633B846F1}">
                <asvg:svgBlip xmlns:asvg="http://schemas.microsoft.com/office/drawing/2016/SVG/main" r:embed="Rca634a8011744e4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33425" y="459105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12" name="trend-1">
            <a:extLst xmlns:a="http://schemas.openxmlformats.org/drawingml/2006/main">
              <a:ext uri="{FF2B5EF4-FFF2-40B4-BE49-F238E27FC236}">
                <a16:creationId xmlns:a16="http://schemas.microsoft.com/office/drawing/2014/main" id="{71F02F8A-7326-468F-A7CF-BB5A8DEF7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4514850"/>
            <a:ext cx="10477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142E4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42E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42E45"/>
                </a:solidFill>
                <a:latin typeface="Microsoft YaHei"/>
                <a:ea typeface="Microsoft YaHei"/>
                <a:cs typeface="Microsoft YaHei"/>
              </a:rPr>
              <a:t>AI 供数扩展到持续更新的多模态上下文</a:t>
            </a:r>
          </a:p>
        </p:txBody>
      </p:sp>
      <p:sp>
        <p:nvSpPr>
          <p:cNvPr id="13" name="facts-1">
            <a:extLst xmlns:a="http://schemas.openxmlformats.org/drawingml/2006/main">
              <a:ext uri="{FF2B5EF4-FFF2-40B4-BE49-F238E27FC236}">
                <a16:creationId xmlns:a16="http://schemas.microsoft.com/office/drawing/2014/main" id="{BCA6CD66-2550-4C78-9530-DDF054E22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5095875"/>
            <a:ext cx="104775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0">
                <a:solidFill>
                  <a:srgbClr val="4B607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4B60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4B6070"/>
                </a:solidFill>
                <a:latin typeface="Microsoft YaHei"/>
                <a:ea typeface="Microsoft YaHei"/>
                <a:cs typeface="Microsoft YaHei"/>
              </a:rPr>
              <a:t>Snowflake 支持多模态 AI 函数与增量刷新。Microsoft</a:t>
            </a:r>
          </a:p>
          <a:p xmlns:a="http://schemas.openxmlformats.org/drawingml/2006/main">
            <a:pPr algn="l">
              <a:defRPr sz="1875" b="0">
                <a:solidFill>
                  <a:srgbClr val="4B60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4B6070"/>
                </a:solidFill>
                <a:latin typeface="Microsoft YaHei"/>
                <a:ea typeface="Microsoft YaHei"/>
                <a:cs typeface="Microsoft YaHei"/>
              </a:rPr>
              <a:t>Fabric IQ 以统一数据、语义与本体为 Agent 提供上下文。[3][4]</a:t>
            </a:r>
          </a:p>
        </p:txBody>
      </p:sp>
      <p:sp>
        <p:nvSpPr>
          <p:cNvPr id="14" name="action-1">
            <a:extLst xmlns:a="http://schemas.openxmlformats.org/drawingml/2006/main">
              <a:ext uri="{FF2B5EF4-FFF2-40B4-BE49-F238E27FC236}">
                <a16:creationId xmlns:a16="http://schemas.microsoft.com/office/drawing/2014/main" id="{16E0B641-3FA0-4B88-9A0B-64ED28CAA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5905500"/>
            <a:ext cx="10477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007F8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007F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7F86"/>
                </a:solidFill>
                <a:latin typeface="Microsoft YaHei"/>
                <a:ea typeface="Microsoft YaHei"/>
                <a:cs typeface="Microsoft YaHei"/>
              </a:rPr>
              <a:t>难点：数据过期与语义错配。补齐增量加工、语义与质量门禁。</a:t>
            </a:r>
          </a:p>
        </p:txBody>
      </p:sp>
      <p:sp>
        <p:nvSpPr>
          <p:cNvPr id="15" name="row-rule-1">
            <a:extLst xmlns:a="http://schemas.openxmlformats.org/drawingml/2006/main">
              <a:ext uri="{FF2B5EF4-FFF2-40B4-BE49-F238E27FC236}">
                <a16:creationId xmlns:a16="http://schemas.microsoft.com/office/drawing/2014/main" id="{69B235AB-8E33-4348-AF70-1D45C4F2E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6410325"/>
            <a:ext cx="10125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DE5EA"/>
            </a:solidFill>
            <a:prstDash val="solid"/>
          </a:ln>
        </p:spPr>
      </p:sp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AC6726-7A49-4C31-A09B-2FE9FAB60BF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bfd7b9bfe243ee">
            <a:extLst>
              <a:ext uri="{96DAC541-7B7A-43D3-8B79-37D633B846F1}">
                <asvg:svgBlip xmlns:asvg="http://schemas.microsoft.com/office/drawing/2016/SVG/main" r:embed="R3bc04128a8314c9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33425" y="6562725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17" name="trend-2">
            <a:extLst xmlns:a="http://schemas.openxmlformats.org/drawingml/2006/main">
              <a:ext uri="{FF2B5EF4-FFF2-40B4-BE49-F238E27FC236}">
                <a16:creationId xmlns:a16="http://schemas.microsoft.com/office/drawing/2014/main" id="{7699FA10-9D8B-42DF-A510-94513861B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6486525"/>
            <a:ext cx="10477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142E4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42E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42E45"/>
                </a:solidFill>
                <a:latin typeface="Microsoft YaHei"/>
                <a:ea typeface="Microsoft YaHei"/>
                <a:cs typeface="Microsoft YaHei"/>
              </a:rPr>
              <a:t>开放数据底座强化统一治理与成本控制</a:t>
            </a:r>
          </a:p>
        </p:txBody>
      </p:sp>
      <p:sp>
        <p:nvSpPr>
          <p:cNvPr id="18" name="facts-2">
            <a:extLst xmlns:a="http://schemas.openxmlformats.org/drawingml/2006/main">
              <a:ext uri="{FF2B5EF4-FFF2-40B4-BE49-F238E27FC236}">
                <a16:creationId xmlns:a16="http://schemas.microsoft.com/office/drawing/2014/main" id="{4CA47520-9AF7-4261-BF41-5314AADC1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7067550"/>
            <a:ext cx="104775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0">
                <a:solidFill>
                  <a:srgbClr val="4B607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4B60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4B6070"/>
                </a:solidFill>
                <a:latin typeface="Microsoft YaHei"/>
                <a:ea typeface="Microsoft YaHei"/>
                <a:cs typeface="Microsoft YaHei"/>
              </a:rPr>
              <a:t>AWS 以 Lakehouse 与 Catalog 统一访问和治理。Databricks</a:t>
            </a:r>
          </a:p>
          <a:p xmlns:a="http://schemas.openxmlformats.org/drawingml/2006/main">
            <a:pPr algn="l">
              <a:defRPr sz="1875" b="0">
                <a:solidFill>
                  <a:srgbClr val="4B60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4B6070"/>
                </a:solidFill>
                <a:latin typeface="Microsoft YaHei"/>
                <a:ea typeface="Microsoft YaHei"/>
                <a:cs typeface="Microsoft YaHei"/>
              </a:rPr>
              <a:t>强化运行时权限，Snowflake 将 AI 成本细化到调用与模型。[2][5][8]</a:t>
            </a:r>
          </a:p>
        </p:txBody>
      </p:sp>
      <p:sp>
        <p:nvSpPr>
          <p:cNvPr id="19" name="action-2">
            <a:extLst xmlns:a="http://schemas.openxmlformats.org/drawingml/2006/main">
              <a:ext uri="{FF2B5EF4-FFF2-40B4-BE49-F238E27FC236}">
                <a16:creationId xmlns:a16="http://schemas.microsoft.com/office/drawing/2014/main" id="{7330E9CF-F59B-4E9B-A24D-B9E5EA1E9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7877175"/>
            <a:ext cx="10477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007F8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007F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7F86"/>
                </a:solidFill>
                <a:latin typeface="Microsoft YaHei"/>
                <a:ea typeface="Microsoft YaHei"/>
                <a:cs typeface="Microsoft YaHei"/>
              </a:rPr>
              <a:t>难点：权限与费用分散。统一血缘、授权、成本归因与预算。</a:t>
            </a:r>
          </a:p>
        </p:txBody>
      </p:sp>
      <p:sp>
        <p:nvSpPr>
          <p:cNvPr id="20" name="chart1-title">
            <a:extLst xmlns:a="http://schemas.openxmlformats.org/drawingml/2006/main">
              <a:ext uri="{FF2B5EF4-FFF2-40B4-BE49-F238E27FC236}">
                <a16:creationId xmlns:a16="http://schemas.microsoft.com/office/drawing/2014/main" id="{F8DECB6C-4CCA-4635-A911-0A121649B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92050" y="2505075"/>
            <a:ext cx="50101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00" b="1">
                <a:solidFill>
                  <a:srgbClr val="142E4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42E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42E45"/>
                </a:solidFill>
                <a:latin typeface="Microsoft YaHei"/>
                <a:ea typeface="Microsoft YaHei"/>
                <a:cs typeface="Microsoft YaHei"/>
              </a:rPr>
              <a:t>可信与速度的要求同步提升</a:t>
            </a:r>
          </a:p>
        </p:txBody>
      </p:sp>
      <p:sp>
        <p:nvSpPr>
          <p:cNvPr id="21" name="chart1-metric">
            <a:extLst xmlns:a="http://schemas.openxmlformats.org/drawingml/2006/main">
              <a:ext uri="{FF2B5EF4-FFF2-40B4-BE49-F238E27FC236}">
                <a16:creationId xmlns:a16="http://schemas.microsoft.com/office/drawing/2014/main" id="{D3470764-7712-4F1B-83CB-3D496FB62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92050" y="2933700"/>
            <a:ext cx="50101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4B607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4B60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B6070"/>
                </a:solidFill>
                <a:latin typeface="Microsoft YaHei"/>
                <a:ea typeface="Microsoft YaHei"/>
                <a:cs typeface="Microsoft YaHei"/>
              </a:rPr>
              <a:t>认为该目标重要的受访者占比 [6]</a:t>
            </a:r>
          </a:p>
        </p:txBody>
      </p:sp>
      <p:graphicFrame>
        <p:nvGraphicFramePr>
          <p:cNvPr id="22" name="Chart">
            <a:extLst xmlns:a="http://schemas.openxmlformats.org/drawingml/2006/main">
              <a:ext uri="{FF2B5EF4-FFF2-40B4-BE49-F238E27FC236}">
                <a16:creationId xmlns:a16="http://schemas.microsoft.com/office/drawing/2014/main" id="{11D6A452-8B1F-4591-B035-0D6BA0BC4774}"/>
              </a:ext>
            </a:extLst>
          </p:cNvPr>
          <p:cNvGraphicFramePr/>
          <p:nvPr/>
        </p:nvGraphicFramePr>
        <p:xfrm>
          <a:off xmlns:a="http://schemas.openxmlformats.org/drawingml/2006/main" x="12534900" y="3305175"/>
          <a:ext xmlns:a="http://schemas.openxmlformats.org/drawingml/2006/main" cx="5086350" cy="21050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1aed6fbc3324d9e"/>
          </a:graphicData>
        </a:graphic>
      </p:graphicFrame>
      <p:sp>
        <p:nvSpPr>
          <p:cNvPr id="23" name="chart1-source">
            <a:extLst xmlns:a="http://schemas.openxmlformats.org/drawingml/2006/main">
              <a:ext uri="{FF2B5EF4-FFF2-40B4-BE49-F238E27FC236}">
                <a16:creationId xmlns:a16="http://schemas.microsoft.com/office/drawing/2014/main" id="{B9D5354B-21FF-4E31-9C40-D3D518485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92050" y="5505450"/>
            <a:ext cx="5010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4B607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4B60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B6070"/>
                </a:solidFill>
                <a:latin typeface="Microsoft YaHei"/>
                <a:ea typeface="Microsoft YaHei"/>
                <a:cs typeface="Microsoft YaHei"/>
              </a:rPr>
              <a:t>dbt Labs 2026 报告，2026 年 n=363</a:t>
            </a:r>
          </a:p>
        </p:txBody>
      </p:sp>
      <p:sp>
        <p:nvSpPr>
          <p:cNvPr id="24" name="chart2-title">
            <a:extLst xmlns:a="http://schemas.openxmlformats.org/drawingml/2006/main">
              <a:ext uri="{FF2B5EF4-FFF2-40B4-BE49-F238E27FC236}">
                <a16:creationId xmlns:a16="http://schemas.microsoft.com/office/drawing/2014/main" id="{3BE18E9B-52F2-44B7-91E0-E2EC78521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92050" y="5972175"/>
            <a:ext cx="514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00" b="1">
                <a:solidFill>
                  <a:srgbClr val="142E4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42E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42E45"/>
                </a:solidFill>
                <a:latin typeface="Microsoft YaHei"/>
                <a:ea typeface="Microsoft YaHei"/>
                <a:cs typeface="Microsoft YaHei"/>
              </a:rPr>
              <a:t>AI 成本进入 FinOps 常规管理范围</a:t>
            </a:r>
          </a:p>
        </p:txBody>
      </p:sp>
      <p:sp>
        <p:nvSpPr>
          <p:cNvPr id="25" name="chart2-metric">
            <a:extLst xmlns:a="http://schemas.openxmlformats.org/drawingml/2006/main">
              <a:ext uri="{FF2B5EF4-FFF2-40B4-BE49-F238E27FC236}">
                <a16:creationId xmlns:a16="http://schemas.microsoft.com/office/drawing/2014/main" id="{C14E5142-429F-4C1C-A594-BED3DB454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92050" y="6400800"/>
            <a:ext cx="5048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4B607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4B60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B6070"/>
                </a:solidFill>
                <a:latin typeface="Microsoft YaHei"/>
                <a:ea typeface="Microsoft YaHei"/>
                <a:cs typeface="Microsoft YaHei"/>
              </a:rPr>
              <a:t>AI 支出纳入管理的比例，含计划 [7]</a:t>
            </a:r>
          </a:p>
        </p:txBody>
      </p:sp>
      <p:graphicFrame>
        <p:nvGraphicFramePr>
          <p:cNvPr id="26" name="Chart">
            <a:extLst xmlns:a="http://schemas.openxmlformats.org/drawingml/2006/main">
              <a:ext uri="{FF2B5EF4-FFF2-40B4-BE49-F238E27FC236}">
                <a16:creationId xmlns:a16="http://schemas.microsoft.com/office/drawing/2014/main" id="{8FC78B27-F5E9-4238-9CD2-49426D4B2B0B}"/>
              </a:ext>
            </a:extLst>
          </p:cNvPr>
          <p:cNvGraphicFramePr/>
          <p:nvPr/>
        </p:nvGraphicFramePr>
        <p:xfrm>
          <a:off xmlns:a="http://schemas.openxmlformats.org/drawingml/2006/main" x="12534900" y="6829425"/>
          <a:ext xmlns:a="http://schemas.openxmlformats.org/drawingml/2006/main" cx="5086350" cy="1381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f0dd39c29db41af"/>
          </a:graphicData>
        </a:graphic>
      </p:graphicFrame>
      <p:sp>
        <p:nvSpPr>
          <p:cNvPr id="27" name="chart2-source">
            <a:extLst xmlns:a="http://schemas.openxmlformats.org/drawingml/2006/main">
              <a:ext uri="{FF2B5EF4-FFF2-40B4-BE49-F238E27FC236}">
                <a16:creationId xmlns:a16="http://schemas.microsoft.com/office/drawing/2014/main" id="{CB5DBC20-7A9A-4E84-BA82-626D90BE4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92050" y="8248650"/>
            <a:ext cx="51244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4B607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4B60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B6070"/>
                </a:solidFill>
                <a:latin typeface="Microsoft YaHei"/>
                <a:ea typeface="Microsoft YaHei"/>
                <a:cs typeface="Microsoft YaHei"/>
              </a:rPr>
              <a:t>FinOps Foundation 2026，AI 章节 n=693</a:t>
            </a:r>
          </a:p>
        </p:txBody>
      </p:sp>
      <p:sp>
        <p:nvSpPr>
          <p:cNvPr id="28" name="recommendation-rule">
            <a:extLst xmlns:a="http://schemas.openxmlformats.org/drawingml/2006/main">
              <a:ext uri="{FF2B5EF4-FFF2-40B4-BE49-F238E27FC236}">
                <a16:creationId xmlns:a16="http://schemas.microsoft.com/office/drawing/2014/main" id="{A89D6373-FC41-4AE4-8ABC-71B5D2D8B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96325"/>
            <a:ext cx="16916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42E45"/>
            </a:solidFill>
            <a:prstDash val="solid"/>
          </a:ln>
        </p:spPr>
      </p:sp>
      <p:sp>
        <p:nvSpPr>
          <p:cNvPr id="29" name="recommendation-label">
            <a:extLst xmlns:a="http://schemas.openxmlformats.org/drawingml/2006/main">
              <a:ext uri="{FF2B5EF4-FFF2-40B4-BE49-F238E27FC236}">
                <a16:creationId xmlns:a16="http://schemas.microsoft.com/office/drawing/2014/main" id="{FBF631AE-1B49-4021-A036-1758C2835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839200"/>
            <a:ext cx="2238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142E4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42E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42E45"/>
                </a:solidFill>
                <a:latin typeface="Microsoft YaHei"/>
                <a:ea typeface="Microsoft YaHei"/>
                <a:cs typeface="Microsoft YaHei"/>
              </a:rPr>
              <a:t>2027 建设顺序</a:t>
            </a:r>
          </a:p>
        </p:txBody>
      </p:sp>
      <p:sp>
        <p:nvSpPr>
          <p:cNvPr id="30" name="recommendation">
            <a:extLst xmlns:a="http://schemas.openxmlformats.org/drawingml/2006/main">
              <a:ext uri="{FF2B5EF4-FFF2-40B4-BE49-F238E27FC236}">
                <a16:creationId xmlns:a16="http://schemas.microsoft.com/office/drawing/2014/main" id="{C16FD120-FAB5-4651-806B-89E25B8F3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8839200"/>
            <a:ext cx="145351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1">
                <a:solidFill>
                  <a:srgbClr val="142E4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42E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42E45"/>
                </a:solidFill>
                <a:latin typeface="Microsoft YaHei"/>
                <a:ea typeface="Microsoft YaHei"/>
                <a:cs typeface="Microsoft YaHei"/>
              </a:rPr>
              <a:t>优先建设统一元数据、质量门禁与成本归因，再以沙箱评测扩大 Agent 自动执行范围</a:t>
            </a:r>
          </a:p>
        </p:txBody>
      </p:sp>
      <p:sp>
        <p:nvSpPr>
          <p:cNvPr id="31" name="source-line1">
            <a:extLst xmlns:a="http://schemas.openxmlformats.org/drawingml/2006/main">
              <a:ext uri="{FF2B5EF4-FFF2-40B4-BE49-F238E27FC236}">
                <a16:creationId xmlns:a16="http://schemas.microsoft.com/office/drawing/2014/main" id="{5D1D0CE1-6403-452E-9305-6D9A97D3E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82125"/>
            <a:ext cx="16916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4B607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4B60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B6070"/>
                </a:solidFill>
                <a:latin typeface="Microsoft YaHei"/>
                <a:ea typeface="Microsoft YaHei"/>
                <a:cs typeface="Microsoft YaHei"/>
              </a:rPr>
              <a:t>来源：[1] Google Cloud [2] Databricks [3] Snowflake [4] Microsoft Learn [5] AWS [8] Snowflake 成本遥测，2025–2026 官方文档与发布</a:t>
            </a:r>
          </a:p>
        </p:txBody>
      </p:sp>
      <p:sp>
        <p:nvSpPr>
          <p:cNvPr id="32" name="source-line2">
            <a:extLst xmlns:a="http://schemas.openxmlformats.org/drawingml/2006/main">
              <a:ext uri="{FF2B5EF4-FFF2-40B4-BE49-F238E27FC236}">
                <a16:creationId xmlns:a16="http://schemas.microsoft.com/office/drawing/2014/main" id="{19C8AC6C-2071-4680-B09F-191D9331E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648825"/>
            <a:ext cx="16916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4B607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4B60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B6070"/>
                </a:solidFill>
                <a:latin typeface="Microsoft YaHei"/>
                <a:ea typeface="Microsoft YaHei"/>
                <a:cs typeface="Microsoft YaHei"/>
              </a:rPr>
              <a:t>图表：[6] dbt《2026 State of Analytics Engineering》 [7] FinOps Foundation《State of FinOps 2026》，完整链接、题项与口径见备注</a:t>
            </a:r>
          </a:p>
        </p:txBody>
      </p:sp>
      <p:sp>
        <p:nvSpPr>
          <p:cNvPr id="33" name="scope-note">
            <a:extLst xmlns:a="http://schemas.openxmlformats.org/drawingml/2006/main">
              <a:ext uri="{FF2B5EF4-FFF2-40B4-BE49-F238E27FC236}">
                <a16:creationId xmlns:a16="http://schemas.microsoft.com/office/drawing/2014/main" id="{2AE83241-3926-4716-ABA6-C19582A99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0"/>
            <a:ext cx="16916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4B607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4B60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B6070"/>
                </a:solidFill>
                <a:latin typeface="Microsoft YaHei"/>
                <a:ea typeface="Microsoft YaHei"/>
                <a:cs typeface="Microsoft YaHei"/>
              </a:rPr>
              <a:t>截至 2026-10-12。2027 为综合判断。跨年调查非同一受访队列，比例仅代表各自样本。Fabric IQ 本体为预览，ZeroOps 为宣布。</a:t>
            </a:r>
          </a:p>
        </p:txBody>
      </p:sp>
    </p:spTree>
    <p:extLst>
      <p:ext uri="{BB962C8B-B14F-4D97-AF65-F5344CB8AC3E}">
        <p14:creationId xmlns:p14="http://schemas.microsoft.com/office/powerpoint/2010/main" val="172747651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2026-10-12T14:51:47.4760000Z</dcterms:created>
  <dcterms:modified xsi:type="dcterms:W3CDTF">2026-10-12T14:51:47.4760000Z</dcterms:modified>
</coreProperties>
</file>